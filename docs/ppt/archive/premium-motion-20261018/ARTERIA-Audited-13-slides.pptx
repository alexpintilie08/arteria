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46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326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a:t>
            </a:r>
          </a:p>
          <a:p>
            <a:r>
              <a:t/>
            </a:r>
          </a:p>
          <a:p>
            <a:r>
              <a:t>Ajutăm specialiștii în mobilitate să compare intervenții într-un prototip inspectabil. Astăzi există două fluxuri distincte: semaforizare sintetică și studiu pietonal pe graf. Captura este o previzualizare istorică, nu dovada unui geamăn digital complet. Nu revendicăm utilizatori, economii de timp sau efecte urbane măsurate.</a:t>
            </a:r>
          </a:p>
          <a:p>
            <a:r>
              <a:t/>
            </a:r>
          </a:p>
          <a:p>
            <a:r>
              <a:t>Dovezi: README.md; frontend/web/src/features/workspace/Workspace.tsx:App; ConnectedWorkspace.tsx; SpatialPanel.tsx.</a:t>
            </a:r>
          </a:p>
          <a:p>
            <a:r>
              <a:t/>
            </a:r>
          </a:p>
          <a:p>
            <a:r>
              <a:t>Coperta rămâne pe ecran înaintea cronometrului; începeți cu problema.</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2</a:t>
            </a:r>
          </a:p>
          <a:p>
            <a:r>
              <a:t/>
            </a:r>
          </a:p>
          <a:p>
            <a:r>
              <a:t>Cazul de utilizare propus: înainte de a discuta o legătură pietonală nouă, specialistul verifică ce rute devin mai scurte sau accesibile și pe ce date se bazează comparația. Diagrama arată perspective de planificare, nu patru module validate. Nu avem interviuri sau un cost al problemei măsurat. Nu inventăm o mărturie de utilizator.</a:t>
            </a:r>
          </a:p>
          <a:p>
            <a:r>
              <a:t/>
            </a:r>
          </a:p>
          <a:p>
            <a:r>
              <a:t>Dovezi: sim/scenario.py:evaluate_scenario; sim/impact.py:evaluate_candidates. Nevoia utilizatorului este ipoteză, fără interviuri în repository.</a:t>
            </a:r>
          </a:p>
          <a:p>
            <a:r>
              <a:t/>
            </a:r>
          </a:p>
          <a:p>
            <a:r>
              <a:t>Buget orientativ: 25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3</a:t>
            </a:r>
          </a:p>
          <a:p>
            <a:r>
              <a:t/>
            </a:r>
          </a:p>
          <a:p>
            <a:r>
              <a:t>QGIS oferă analiză geografică, iar SUMO simulare microscopică. Nu afirmăm că aceste instrumente nu pot compara scenarii sau că ARTERIA le depășește. Diferențierea propusă este un parcurs comun cu dovezi și limite vizibile. Rândul despre procesul de lucru descrie un caz propus, nu o observație din interviuri. PMUD este context instituțional, nu produs concurent sau dovadă de adopție.</a:t>
            </a:r>
          </a:p>
          <a:p>
            <a:r>
              <a:t/>
            </a:r>
          </a:p>
          <a:p>
            <a:r>
              <a:t>Dovezi: https://qgis.org/project/overview/ ; https://sumo.dlr.de/docs/ ; backend/spatial_worker.py:calculate. Surse consultate 18.10.2026.</a:t>
            </a:r>
          </a:p>
          <a:p>
            <a:r>
              <a:t/>
            </a:r>
          </a:p>
          <a:p>
            <a:r>
              <a:t>Buget orientativ: 20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4</a:t>
            </a:r>
          </a:p>
          <a:p>
            <a:r>
              <a:t/>
            </a:r>
          </a:p>
          <a:p>
            <a:r>
              <a:t>În modul conectat, utilizatorul poate analiza semaforizarea sintetică, cere o alternativă și compara valorile returnate de API. Separat, Acces pietonal creează un studiu dintr-un exemplu sintetic sau dintr-un poligon eligibil din catalogul OSM. SIM compară legături ipotetice pe același graf inițial și eșantion. Evaluarea aleasă returnează comparația deja calculată la crearea studiului. Catalogul conține 24 de poligoane și 7 puncte; punctele nu devin poligoane, iar extinderile OSM nu sunt limite municipale oficiale. Achiziția OSM online rămâne dependentă de serviciul extern.</a:t>
            </a:r>
          </a:p>
          <a:p>
            <a:r>
              <a:t/>
            </a:r>
          </a:p>
          <a:p>
            <a:r>
              <a:t>Dovezi: frontend/shared/core/api.ts:createApiClient; frontend/web/src/features/workspace/SpatialPanel.tsx; backend/spatial_worker.py:calculate; sim/impact.py:evaluate_candidates; frontend/web/tests/sim-geography.test.ts.</a:t>
            </a:r>
          </a:p>
          <a:p>
            <a:r>
              <a:t/>
            </a: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5</a:t>
            </a:r>
          </a:p>
          <a:p>
            <a:r>
              <a:t/>
            </a:r>
          </a:p>
          <a:p>
            <a:r>
              <a:t>Demo principal: analiză → propunere → reglaj verde nord–sud → comparație. Captura refăcută în browser la 18.10.2026 arată 13,89 secunde/vehicul inițial pe ambele direcții, apoi 2,22 nord–sud, 125,56 est–vest și media 53,61, la verde nord–sud 70 s. Aceste valori sunt compatibile cu modelul actual la ciclu 90 s, pierderi 10 s și cerere sintetică 700/500 vehicule/oră. Media inițială este 13,89; media crește, deci exemplul demonstrează un compromis nefavorabil în ansamblu, nu o optimizare reușită. Formula folosește întârziere uniformă și penalizare sintetică de capacitate, nu SUMO. Reperul Podu Roș nu furnizează trafic local. Portul se ia din pornirea curentă, implicit 3000; captura de rezervă nu este o aplicație publicată. Pentru întrebări, demonstrați separat exemplul pietonal: creați studiul, selectați o opțiune validată și afișați perechile de rute îmbunătățite/devenite accesibile. Nu numiți aceste perechi locuitori.</a:t>
            </a:r>
          </a:p>
          <a:p>
            <a:r>
              <a:t/>
            </a:r>
          </a:p>
          <a:p>
            <a:r>
              <a:t>Dovezi: backend/models.py:Inputs; backend/simulation_adapter.py:SimulationAdapter.indicators; ConnectedWorkspace.tsx; assets/connected-comparison.png. Numerele descriu exclusiv modelul sintetic.</a:t>
            </a:r>
          </a:p>
          <a:p>
            <a:r>
              <a:t/>
            </a:r>
          </a:p>
          <a:p>
            <a:r>
              <a:t>Buget orientativ: 50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6</a:t>
            </a:r>
          </a:p>
          <a:p>
            <a:r>
              <a:t/>
            </a:r>
          </a:p>
          <a:p>
            <a:r>
              <a:t>Interfața Next.js folosește clientul HTTP comun. FastAPI validează cu Pydantic și persistă analize, propuneri, evaluări și studii în SQLite. Fluxul de semaforizare se calculează în backend/simulation_adapter.py. Studiul pietonal rulează SIM într-un subproces limitat la 90 s, cu verificarea structurii rezultatului; sursa, revizia motorului și comparațiile sunt păstrate. În calea OSM integrată se cere numai graful pietonal, fără achiziția straturilor de clădiri/POI. SIM are separat conversie de graf auto și executare SUMO locală cu cerere sintetică, fără integrare în UI sau calibrare. Nu există apel LLM conectat. Există deja catalog, pachet de dovezi cu hash al geometriei și validare a candidaților calculați. Procentul de cod sau fișierele generate cu asistență AI nu sunt confirmate; echipa trebuie să declare instrumentele folosite fără a inventa atribuții.</a:t>
            </a:r>
          </a:p>
          <a:p>
            <a:r>
              <a:t/>
            </a:r>
          </a:p>
          <a:p>
            <a:r>
              <a:t>Dovezi: frontend/web/package.json; backend/main.py; storage.py:Store; spatial_adapter.py:SpatialAdapter.run; spatial_worker.py:calculate; sim/sumo_engine.py; sim/proposal_context.py; sim/proposal_validation.py.</a:t>
            </a:r>
          </a:p>
          <a:p>
            <a:r>
              <a:t/>
            </a:r>
          </a:p>
          <a:p>
            <a:r>
              <a:t>Buget orientativ: 30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7</a:t>
            </a:r>
          </a:p>
          <a:p>
            <a:r>
              <a:t/>
            </a:r>
          </a:p>
          <a:p>
            <a:r>
              <a:t>Model propus: abonament pentru administrații locale sau consultanțe de mobilitate. 1.500 €/lună este exclusiv ipoteza din pitch-ul anterior, nu preț testat, ofertă acceptată sau disponibilitate de plată. Ar echivala aritmetic cu 18.000 €/an, fără a demonstra cerere. Nu avem dovezi în materialele auditate de clienți plătitori. Validăm timpul necesar unei comparații, utilitatea și costurile de date, calcul și suport înainte de a susține marjă sau economii.</a:t>
            </a:r>
          </a:p>
          <a:p>
            <a:r>
              <a:t/>
            </a:r>
          </a:p>
          <a:p>
            <a:r>
              <a:t>Dovezi: Ipoteză preexistentă în archive/v2-before-content-audit-20261018/Template-Pitch-Hackathon.v2.pptx; nicio validare comercială găsită.</a:t>
            </a:r>
          </a:p>
          <a:p>
            <a:r>
              <a:t/>
            </a: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8</a:t>
            </a:r>
          </a:p>
          <a:p>
            <a:r>
              <a:t/>
            </a:r>
          </a:p>
          <a:p>
            <a:r>
              <a:t>Plan propus de acces la piață: un caz de lucru în Iași, interviuri cu specialiști și identificarea organizațiilor relevante prin mentori/comunități. Nu există o listă verificată de zece organizații. Calculul istoric 10 × 12 × 1.500 € = 180.000 €/an este aritmetic corect, dar presupune zece cumpărători, preț acceptat și un an întreg; nu este dimensiune de piață sau venit realizat. De aceea nu mai domină slide-ul. Continuarea comercială presupune utilitate, disponibilitate de plată și cost de livrare validate. Instituțiile locale sunt potențiali interlocutori, nu parteneri confirmați.</a:t>
            </a:r>
          </a:p>
          <a:p>
            <a:r>
              <a:t/>
            </a:r>
          </a:p>
          <a:p>
            <a:r>
              <a:t>Dovezi: Absența listei și a contractelor în dovezile disponibile; plan propus. Aritmetică istorică, nu cercetare de piață.</a:t>
            </a:r>
          </a:p>
          <a:p>
            <a:r>
              <a:t/>
            </a: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9</a:t>
            </a:r>
          </a:p>
          <a:p>
            <a:r>
              <a:t/>
            </a:r>
          </a:p>
          <a:p>
            <a:r>
              <a:t>Echipa a furnizat numele și responsabilitățile: Iustin Fagateanu — interfață/frontend; Alex Pintilie — inițializarea proiectului și baza de simulare; Fagateanu Eusebiu — backend. Traducerea păstrează aceste roluri, fără atribuirea unor endpoint-uri, algoritmi sau rezultate individuale pe care dovezile nu le stabilesc. Continuitatea după eveniment, rolurile de scenă și experiența profesională nu sunt confirmate.</a:t>
            </a:r>
          </a:p>
          <a:p>
            <a:r>
              <a:t/>
            </a:r>
          </a:p>
          <a:p>
            <a:r>
              <a:t>Dovezi: Nume și responsabilități furnizate explicit în cererea de audit a echipei, 18.10.2026; nu se deduce autorie individuală din Git.</a:t>
            </a:r>
          </a:p>
          <a:p>
            <a:r>
              <a:t/>
            </a: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10</a:t>
            </a:r>
          </a:p>
          <a:p>
            <a:r>
              <a:t/>
            </a:r>
          </a:p>
          <a:p>
            <a:r>
              <a:t>Priorități propuse: un caz pe date locale verificabile; conectarea unui LLM constrâns de dovezi și evaluarea corectitudinii propunerilor; test cu un specialist. Măsurăm timpul de lucru și trasabilitatea, nu promitem o reducere de trafic. Calibrarea cererii, integrarea SUMO în fluxul potrivit și verificarea fezabilității în teren rămân necesare înainte de rezultate urbane. Cerem o introducere către un specialist și acces la date. Nu există un acord de pilot în dovezi.</a:t>
            </a:r>
          </a:p>
          <a:p>
            <a:r>
              <a:t/>
            </a:r>
          </a:p>
          <a:p>
            <a:r>
              <a:t>Dovezi: docs/ROADMAP.md comparat cu backend/main.py și sim/proposals.py/proposal_validation.py; goluri curente din PROJECT_REALITY_AUDIT.md.</a:t>
            </a:r>
          </a:p>
          <a:p>
            <a:r>
              <a:t/>
            </a:r>
          </a:p>
          <a:p>
            <a:r>
              <a:t>Buget orientativ: 15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11</a:t>
            </a:r>
          </a:p>
          <a:p>
            <a:r>
              <a:t/>
            </a:r>
          </a:p>
          <a:p>
            <a:r>
              <a:t>Verificare reluată la 18.10.2026: npm run check a trecut verificarea TypeScript pentru web, mobil și cod comun, 9/9 teste Node și compilarea Next.js pentru / și /app. Testele Node folosesc transport simulat și verifică geografia catalogului; nu sunt nouă teste complete de produs. Python: 138 teste trecute, un avertisment de depreciere, în runtime QA izolat, fără sincronizare uv.lock. Rularea curentă și limitele ei sunt în reports/audit-python-final.log și PPT_FINAL_CONTENT_AUDIT.md. Rezultatele istorice nu se confundă cu o rulare nouă. Testele offline verifică API-ul, stocarea, motorul de graf, validarea și conversia SUMO; nu demonstrează trafic real, calibrare, fezabilitate fizică sau execuție SUMO în UI.</a:t>
            </a:r>
          </a:p>
          <a:p>
            <a:r>
              <a:t/>
            </a:r>
          </a:p>
          <a:p>
            <a:r>
              <a:t>Dovezi: reports/audit-frontend-check.log; reports/audit-python-final.log; tests/; sim/test_engine.py. Se consultă raportul final pentru acoperire și limite.</a:t>
            </a:r>
          </a:p>
          <a:p>
            <a:r>
              <a:t/>
            </a:r>
          </a:p>
          <a:p>
            <a:r>
              <a:t>Anexă pentru întrebări; nu intră în pitch.</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12</a:t>
            </a:r>
          </a:p>
          <a:p>
            <a:r>
              <a:t/>
            </a:r>
          </a:p>
          <a:p>
            <a:r>
              <a:t>Astăzi nu există integrare LLM sau model învățat conectat. Generarea semaforizării și a opțiunilor pietonale este deterministă. Există un pachet limitat de dovezi cu referință SHA-256 la geometrie, catalog de intervenții, candidați evaluați și verificări de identitate/acțiune, coordonate, unități și afirmații nesusținute. Validarea nu certifică fezabilitatea fizică și nu garantează eliminarea oricărei halucinații. Opțiunile pietonale nu primesc etichete inginerești minimal/moderat/transformator. Fluxul cu LLM din diagramă este viitor. AI este central în intenția produsului, dar componenta generativă lipsește din implementarea actuală; regulile deterministe nu se prezintă drept LLM.</a:t>
            </a:r>
          </a:p>
          <a:p>
            <a:r>
              <a:t/>
            </a:r>
          </a:p>
          <a:p>
            <a:r>
              <a:t>Dovezi: sim/proposal_context.py:build_proposal_context; proposals.py:prepare_candidate_options; proposal_validation.py:validate_proposal_set; backend/models.py:RecommendationModel; backend/spatial_worker.py:calculate.</a:t>
            </a:r>
          </a:p>
          <a:p>
            <a:r>
              <a:t/>
            </a:r>
          </a:p>
          <a:p>
            <a:r>
              <a:t>Anexă pentru întrebări; nu intră în pitch.</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13</a:t>
            </a:r>
          </a:p>
          <a:p>
            <a:r>
              <a:t/>
            </a:r>
          </a:p>
          <a:p>
            <a:r>
              <a:t>Comparația pietonală folosește același graf inițial și un eșantion comun, cu sămânță fixată. Perechile folosite la descoperirea candidaților sunt excluse din eșantionul de clasare; diagnosticele locale sunt separate. Modificările se aplică pe copii ale grafului inițial. Studiul și comparațiile sunt persistate; selectarea unui candidat nu lansează o nouă simulare. Repetabilitatea presupune aceleași date, versiuni și parametri; marcajele temporale/ID-urile nu sunt identice la fiecare cerere. OSM are acoperire incompletă. Lipsa unui strat rămâne necunoscută. SUMO local are cerere sintetică și setări păstrate, dar nu rezultate de trafic calibrate pentru Iași. Nu confundăm simularea cu validarea în teren.</a:t>
            </a:r>
          </a:p>
          <a:p>
            <a:r>
              <a:t/>
            </a:r>
          </a:p>
          <a:p>
            <a:r>
              <a:t>Dovezi: sim/impact.py:evaluate_candidates; sim/scenario.py:_prepare_scenario_graph; backend/spatial_routes.py:evaluate; backend/spatial_models.py:SpatialEvaluation; sim/sumo_engine.py:run_real_area_simulation.</a:t>
            </a:r>
          </a:p>
          <a:p>
            <a:r>
              <a:t/>
            </a:r>
          </a:p>
          <a:p>
            <a:r>
              <a:t>Anexă pentru întrebări; nu intră în pitch.</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TITLU"/>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TITLU</a:t>
            </a:r>
          </a:p>
        </p:txBody>
      </p:sp>
      <p:sp>
        <p:nvSpPr>
          <p:cNvPr id="3" name="Text: 01"/>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01</a:t>
            </a:r>
          </a:p>
        </p:txBody>
      </p:sp>
      <p:sp>
        <p:nvSpPr>
          <p:cNvPr id="7" name="Text: ARION · Hackathon AI Iași 2026"/>
          <p:cNvSpPr txBox="1"/>
          <p:nvPr/>
        </p:nvSpPr>
        <p:spPr>
          <a:xfrm>
            <a:off x="621792" y="5532120"/>
            <a:ext cx="5669280" cy="411480"/>
          </a:xfrm>
          <a:prstGeom prst="rect">
            <a:avLst/>
          </a:prstGeom>
          <a:noFill/>
          <a:effectLst/>
        </p:spPr>
        <p:txBody>
          <a:bodyPr wrap="square" lIns="0" tIns="0" rIns="0" bIns="0" anchor="t">
            <a:spAutoFit/>
          </a:bodyPr>
          <a:lstStyle/>
          <a:p>
            <a:pPr>
              <a:lnSpc>
                <a:spcPct val="106000"/>
              </a:lnSpc>
              <a:spcAft>
                <a:spcPts val="700"/>
              </a:spcAft>
            </a:pPr>
            <a:r>
              <a:rPr sz="1700" b="0">
                <a:solidFill>
                  <a:srgbClr val="EDF2F6"/>
                </a:solidFill>
                <a:latin typeface="Calibri"/>
              </a:rPr>
              <a:t>ARION · Hackathon AI Iași 2026</a:t>
            </a:r>
          </a:p>
        </p:txBody>
      </p:sp>
      <p:sp>
        <p:nvSpPr>
          <p:cNvPr id="8" name="Text: Prototip demonstrativ"/>
          <p:cNvSpPr txBox="1"/>
          <p:nvPr/>
        </p:nvSpPr>
        <p:spPr>
          <a:xfrm>
            <a:off x="621792" y="6007608"/>
            <a:ext cx="5486400" cy="320040"/>
          </a:xfrm>
          <a:prstGeom prst="rect">
            <a:avLst/>
          </a:prstGeom>
          <a:noFill/>
          <a:effectLst/>
        </p:spPr>
        <p:txBody>
          <a:bodyPr wrap="square" lIns="0" tIns="0" rIns="0" bIns="0" anchor="t">
            <a:spAutoFit/>
          </a:bodyPr>
          <a:lstStyle/>
          <a:p>
            <a:pPr>
              <a:lnSpc>
                <a:spcPct val="106000"/>
              </a:lnSpc>
              <a:spcAft>
                <a:spcPts val="700"/>
              </a:spcAft>
            </a:pPr>
            <a:r>
              <a:rPr sz="1500" b="0">
                <a:solidFill>
                  <a:srgbClr val="EFC47C"/>
                </a:solidFill>
                <a:latin typeface="Calibri"/>
              </a:rPr>
              <a:t>Prototip demonstrativ</a:t>
            </a:r>
          </a:p>
        </p:txBody>
      </p:sp>
      <p:sp>
        <p:nvSpPr>
          <p:cNvPr id="10" name="Text: Captură din aplicație · © contributori Ope"/>
          <p:cNvSpPr txBox="1"/>
          <p:nvPr/>
        </p:nvSpPr>
        <p:spPr>
          <a:xfrm>
            <a:off x="6629400" y="5943600"/>
            <a:ext cx="4956048" cy="365760"/>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Previzualizare istorică · © contributori OpenStreetMap</a:t>
            </a:r>
          </a:p>
        </p:txBody>
      </p:sp>
      <p:grpSp>
        <p:nvGrpSpPr>
          <p:cNvPr id="11" name="reveal:s01_title"/>
          <p:cNvGrpSpPr/>
          <p:nvPr/>
        </p:nvGrpSpPr>
        <p:grpSpPr>
          <a:xfrm>
            <a:off x="594360" y="1389888"/>
            <a:ext cx="6035040" cy="1005840"/>
            <a:chOff x="594360" y="1389888"/>
            <a:chExt cx="6035040" cy="1005840"/>
          </a:xfrm>
        </p:grpSpPr>
        <p:sp>
          <p:nvSpPr>
            <p:cNvPr id="4" name="Text: ARTERIA"/>
            <p:cNvSpPr txBox="1"/>
            <p:nvPr/>
          </p:nvSpPr>
          <p:spPr>
            <a:xfrm>
              <a:off x="594360" y="1389888"/>
              <a:ext cx="6035040" cy="1005840"/>
            </a:xfrm>
            <a:prstGeom prst="rect">
              <a:avLst/>
            </a:prstGeom>
            <a:noFill/>
            <a:effectLst/>
          </p:spPr>
          <p:txBody>
            <a:bodyPr wrap="square" lIns="0" tIns="0" rIns="0" bIns="0" anchor="t">
              <a:spAutoFit/>
            </a:bodyPr>
            <a:lstStyle/>
            <a:p>
              <a:pPr>
                <a:lnSpc>
                  <a:spcPct val="106000"/>
                </a:lnSpc>
                <a:spcAft>
                  <a:spcPts val="700"/>
                </a:spcAft>
              </a:pPr>
              <a:r>
                <a:rPr sz="6400" b="1">
                  <a:solidFill>
                    <a:srgbClr val="EDF2F6"/>
                  </a:solidFill>
                  <a:latin typeface="Calibri"/>
                </a:rPr>
                <a:t>ARTERIA</a:t>
              </a:r>
            </a:p>
          </p:txBody>
        </p:sp>
      </p:grpSp>
      <p:grpSp>
        <p:nvGrpSpPr>
          <p:cNvPr id="12" name="reveal:s01_subtitle"/>
          <p:cNvGrpSpPr/>
          <p:nvPr/>
        </p:nvGrpSpPr>
        <p:grpSpPr>
          <a:xfrm>
            <a:off x="621792" y="2615184"/>
            <a:ext cx="5623560" cy="2395728"/>
            <a:chOff x="621792" y="2615184"/>
            <a:chExt cx="5623560" cy="2395728"/>
          </a:xfrm>
        </p:grpSpPr>
        <p:sp>
          <p:nvSpPr>
            <p:cNvPr id="5" name="Text: Planificare urbană pentru&#10;echipele de mobi"/>
            <p:cNvSpPr txBox="1"/>
            <p:nvPr/>
          </p:nvSpPr>
          <p:spPr>
            <a:xfrm>
              <a:off x="621792" y="2615184"/>
              <a:ext cx="5623560" cy="1143000"/>
            </a:xfrm>
            <a:prstGeom prst="rect">
              <a:avLst/>
            </a:prstGeom>
            <a:noFill/>
            <a:effectLst/>
          </p:spPr>
          <p:txBody>
            <a:bodyPr wrap="square" lIns="0" tIns="0" rIns="0" bIns="0" anchor="t">
              <a:spAutoFit/>
            </a:bodyPr>
            <a:lstStyle/>
            <a:p>
              <a:pPr>
                <a:lnSpc>
                  <a:spcPct val="106000"/>
                </a:lnSpc>
                <a:spcAft>
                  <a:spcPts val="700"/>
                </a:spcAft>
              </a:pPr>
              <a:r>
                <a:rPr sz="2800" b="0">
                  <a:solidFill>
                    <a:srgbClr val="EDF2F6"/>
                  </a:solidFill>
                  <a:latin typeface="Calibri"/>
                </a:rPr>
                <a:t>Comparații de mobilitate</a:t>
              </a:r>
            </a:p>
            <a:p>
              <a:pPr>
                <a:lnSpc>
                  <a:spcPct val="106000"/>
                </a:lnSpc>
                <a:spcAft>
                  <a:spcPts val="700"/>
                </a:spcAft>
              </a:pPr>
              <a:r>
                <a:rPr sz="2800" b="0">
                  <a:solidFill>
                    <a:srgbClr val="EDF2F6"/>
                  </a:solidFill>
                  <a:latin typeface="Calibri"/>
                </a:rPr>
                <a:t>pentru specialiști</a:t>
              </a:r>
            </a:p>
          </p:txBody>
        </p:sp>
        <p:sp>
          <p:nvSpPr>
            <p:cNvPr id="6" name="Text: Compararea intervențiilor,&#10;înainte de impl"/>
            <p:cNvSpPr txBox="1"/>
            <p:nvPr/>
          </p:nvSpPr>
          <p:spPr>
            <a:xfrm>
              <a:off x="621792" y="4096512"/>
              <a:ext cx="5486400" cy="914400"/>
            </a:xfrm>
            <a:prstGeom prst="rect">
              <a:avLst/>
            </a:prstGeom>
            <a:noFill/>
            <a:effectLst/>
          </p:spPr>
          <p:txBody>
            <a:bodyPr wrap="square" lIns="0" tIns="0" rIns="0" bIns="0" anchor="t">
              <a:spAutoFit/>
            </a:bodyPr>
            <a:lstStyle/>
            <a:p>
              <a:pPr>
                <a:lnSpc>
                  <a:spcPct val="106000"/>
                </a:lnSpc>
                <a:spcAft>
                  <a:spcPts val="700"/>
                </a:spcAft>
              </a:pPr>
              <a:r>
                <a:rPr sz="2300" b="0">
                  <a:solidFill>
                    <a:srgbClr val="8BC9ED"/>
                  </a:solidFill>
                  <a:latin typeface="Calibri"/>
                </a:rPr>
                <a:t>Semaforizare demonstrativă</a:t>
              </a:r>
            </a:p>
            <a:p>
              <a:pPr>
                <a:lnSpc>
                  <a:spcPct val="106000"/>
                </a:lnSpc>
                <a:spcAft>
                  <a:spcPts val="700"/>
                </a:spcAft>
              </a:pPr>
              <a:r>
                <a:rPr sz="2300" b="0">
                  <a:solidFill>
                    <a:srgbClr val="8BC9ED"/>
                  </a:solidFill>
                  <a:latin typeface="Calibri"/>
                </a:rPr>
                <a:t>și acces pietonal pe graf</a:t>
              </a:r>
            </a:p>
          </p:txBody>
        </p:sp>
      </p:grpSp>
      <p:grpSp>
        <p:nvGrpSpPr>
          <p:cNvPr id="13" name="reveal:s01_product"/>
          <p:cNvGrpSpPr/>
          <p:nvPr/>
        </p:nvGrpSpPr>
        <p:grpSpPr>
          <a:xfrm>
            <a:off x="6629400" y="1391649"/>
            <a:ext cx="4956048" cy="4303300"/>
            <a:chOff x="6629400" y="1391649"/>
            <a:chExt cx="4956048" cy="4303300"/>
          </a:xfrm>
        </p:grpSpPr>
        <p:pic>
          <p:nvPicPr>
            <p:cNvPr id="9" name="Picture 8" descr="image.jpg"/>
            <p:cNvPicPr>
              <a:picLocks noChangeAspect="1"/>
            </p:cNvPicPr>
            <p:nvPr/>
          </p:nvPicPr>
          <p:blipFill>
            <a:blip r:embed="rId3"/>
            <a:stretch>
              <a:fillRect/>
            </a:stretch>
          </p:blipFill>
          <p:spPr>
            <a:xfrm>
              <a:off x="6629400" y="1391649"/>
              <a:ext cx="4956048" cy="4303300"/>
            </a:xfrm>
            <a:prstGeom prst="rect">
              <a:avLst/>
            </a:prstGeom>
            <a:effectLst/>
          </p:spPr>
        </p:pic>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P / PROBLEM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P / PROBLEMA</a:t>
            </a:r>
          </a:p>
        </p:txBody>
      </p:sp>
      <p:sp>
        <p:nvSpPr>
          <p:cNvPr id="3" name="Text: 02"/>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02</a:t>
            </a:r>
          </a:p>
        </p:txBody>
      </p:sp>
      <p:sp>
        <p:nvSpPr>
          <p:cNvPr id="4" name="Text: O intervenție. Mai multe efec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Ce schimbă o legătură nouă?</a:t>
            </a:r>
          </a:p>
        </p:txBody>
      </p:sp>
      <p:sp>
        <p:nvSpPr>
          <p:cNvPr id="5" name="Text: Situație propusă · README.md și docs/ARCH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Caz de utilizare propus · fără interviuri validate · 18.10.2026</a:t>
            </a:r>
          </a:p>
        </p:txBody>
      </p:sp>
      <p:sp>
        <p:nvSpPr>
          <p:cNvPr id="6" name="Text: Utilizator vizat: specialistul în mobilita"/>
          <p:cNvSpPr txBox="1"/>
          <p:nvPr/>
        </p:nvSpPr>
        <p:spPr>
          <a:xfrm>
            <a:off x="594360" y="1938528"/>
            <a:ext cx="10972800" cy="5029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Utilizator vizat: specialistul în mobilitate</a:t>
            </a:r>
          </a:p>
        </p:txBody>
      </p:sp>
      <p:sp>
        <p:nvSpPr>
          <p:cNvPr id="7" name="Text: Reconfigurarea unei străzi cere o comparaț"/>
          <p:cNvSpPr txBox="1"/>
          <p:nvPr/>
        </p:nvSpPr>
        <p:spPr>
          <a:xfrm>
            <a:off x="594360" y="2578608"/>
            <a:ext cx="10972800" cy="50292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Specialistul trebuie să compare rutele înainte și după.</a:t>
            </a:r>
          </a:p>
        </p:txBody>
      </p:sp>
      <p:grpSp>
        <p:nvGrpSpPr>
          <p:cNvPr id="10" name="reveal:s02_intervention"/>
          <p:cNvGrpSpPr/>
          <p:nvPr/>
        </p:nvGrpSpPr>
        <p:grpSpPr>
          <a:xfrm>
            <a:off x="4462272" y="3337560"/>
            <a:ext cx="3264408" cy="804672"/>
            <a:chOff x="4462272" y="3337560"/>
            <a:chExt cx="3264408" cy="804672"/>
          </a:xfrm>
        </p:grpSpPr>
        <p:sp>
          <p:nvSpPr>
            <p:cNvPr id="8" name="Rectangle 7"/>
            <p:cNvSpPr/>
            <p:nvPr/>
          </p:nvSpPr>
          <p:spPr>
            <a:xfrm>
              <a:off x="4462272" y="3337560"/>
              <a:ext cx="3264408" cy="804672"/>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Intervenție"/>
            <p:cNvSpPr txBox="1"/>
            <p:nvPr/>
          </p:nvSpPr>
          <p:spPr>
            <a:xfrm>
              <a:off x="4645152" y="3502152"/>
              <a:ext cx="2898648"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Legătură nouă</a:t>
              </a:r>
            </a:p>
          </p:txBody>
        </p:sp>
      </p:grpSp>
      <p:grpSp>
        <p:nvGrpSpPr>
          <p:cNvPr id="15" name="reveal:s02_category_1"/>
          <p:cNvGrpSpPr/>
          <p:nvPr/>
        </p:nvGrpSpPr>
        <p:grpSpPr>
          <a:xfrm>
            <a:off x="594360" y="4142232"/>
            <a:ext cx="5500116" cy="1280160"/>
            <a:chOff x="594360" y="4142232"/>
            <a:chExt cx="5500116" cy="1280160"/>
          </a:xfrm>
        </p:grpSpPr>
        <p:cxnSp>
          <p:nvCxnSpPr>
            <p:cNvPr id="11" name="Connector 1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801368"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01368"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4" name="Text: Transport public"/>
            <p:cNvSpPr txBox="1"/>
            <p:nvPr/>
          </p:nvSpPr>
          <p:spPr>
            <a:xfrm>
              <a:off x="594360"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Transport public</a:t>
              </a:r>
            </a:p>
          </p:txBody>
        </p:sp>
      </p:grpSp>
      <p:grpSp>
        <p:nvGrpSpPr>
          <p:cNvPr id="20" name="reveal:s02_category_2"/>
          <p:cNvGrpSpPr/>
          <p:nvPr/>
        </p:nvGrpSpPr>
        <p:grpSpPr>
          <a:xfrm>
            <a:off x="3456432" y="4142232"/>
            <a:ext cx="2638044" cy="1280160"/>
            <a:chOff x="3456432" y="4142232"/>
            <a:chExt cx="2638044" cy="1280160"/>
          </a:xfrm>
        </p:grpSpPr>
        <p:cxnSp>
          <p:nvCxnSpPr>
            <p:cNvPr id="16" name="Connector 1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663440"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63440"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9" name="Text: Pietoni"/>
            <p:cNvSpPr txBox="1"/>
            <p:nvPr/>
          </p:nvSpPr>
          <p:spPr>
            <a:xfrm>
              <a:off x="3456432"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Pietoni</a:t>
              </a:r>
            </a:p>
          </p:txBody>
        </p:sp>
      </p:grpSp>
      <p:grpSp>
        <p:nvGrpSpPr>
          <p:cNvPr id="25" name="reveal:s02_category_3"/>
          <p:cNvGrpSpPr/>
          <p:nvPr/>
        </p:nvGrpSpPr>
        <p:grpSpPr>
          <a:xfrm>
            <a:off x="6094476" y="4142232"/>
            <a:ext cx="2638044" cy="1280160"/>
            <a:chOff x="6094476" y="4142232"/>
            <a:chExt cx="2638044" cy="1280160"/>
          </a:xfrm>
        </p:grpSpPr>
        <p:cxnSp>
          <p:nvCxnSpPr>
            <p:cNvPr id="21" name="Connector 2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4476"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25512"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4" name="Text: Biciclete"/>
            <p:cNvSpPr txBox="1"/>
            <p:nvPr/>
          </p:nvSpPr>
          <p:spPr>
            <a:xfrm>
              <a:off x="6318504"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Biciclete</a:t>
              </a:r>
            </a:p>
          </p:txBody>
        </p:sp>
      </p:grpSp>
      <p:grpSp>
        <p:nvGrpSpPr>
          <p:cNvPr id="30" name="reveal:s02_category_4"/>
          <p:cNvGrpSpPr/>
          <p:nvPr/>
        </p:nvGrpSpPr>
        <p:grpSpPr>
          <a:xfrm>
            <a:off x="6094476" y="4142232"/>
            <a:ext cx="5500116" cy="1280160"/>
            <a:chOff x="6094476" y="4142232"/>
            <a:chExt cx="5500116" cy="1280160"/>
          </a:xfrm>
        </p:grpSpPr>
        <p:cxnSp>
          <p:nvCxnSpPr>
            <p:cNvPr id="26" name="Connector 2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94476"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387584"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9" name="Text: Trafic auto"/>
            <p:cNvSpPr txBox="1"/>
            <p:nvPr/>
          </p:nvSpPr>
          <p:spPr>
            <a:xfrm>
              <a:off x="9180576"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Trafic auto</a:t>
              </a:r>
            </a:p>
          </p:txBody>
        </p:sp>
      </p:grpSp>
      <p:sp>
        <p:nvSpPr>
          <p:cNvPr id="31" name="Text: Ce se schimbă? Pe ce date ne bazăm?"/>
          <p:cNvSpPr txBox="1"/>
          <p:nvPr/>
        </p:nvSpPr>
        <p:spPr>
          <a:xfrm>
            <a:off x="594360" y="5641848"/>
            <a:ext cx="10972800" cy="502920"/>
          </a:xfrm>
          <a:prstGeom prst="rect">
            <a:avLst/>
          </a:prstGeom>
          <a:noFill/>
          <a:effectLst/>
        </p:spPr>
        <p:txBody>
          <a:bodyPr wrap="square" lIns="0" tIns="0" rIns="0" bIns="0" anchor="t">
            <a:spAutoFit/>
          </a:bodyPr>
          <a:lstStyle/>
          <a:p>
            <a:pPr>
              <a:lnSpc>
                <a:spcPct val="106000"/>
              </a:lnSpc>
              <a:spcAft>
                <a:spcPts val="700"/>
              </a:spcAft>
            </a:pPr>
            <a:r>
              <a:rPr sz="2500" b="0">
                <a:solidFill>
                  <a:srgbClr val="101820"/>
                </a:solidFill>
                <a:latin typeface="Calibri"/>
              </a:rPr>
              <a:t>Ce rute se schimbă? Ce rămâne necunoscut?</a:t>
            </a:r>
          </a:p>
        </p:txBody>
      </p:sp>
      <p:sp>
        <p:nvSpPr>
          <p:cNvPr id="32" name="Text: Nevoie propusă; interviurile cu utilizator"/>
          <p:cNvSpPr txBox="1"/>
          <p:nvPr/>
        </p:nvSpPr>
        <p:spPr>
          <a:xfrm>
            <a:off x="594360" y="6144768"/>
            <a:ext cx="10972800" cy="274320"/>
          </a:xfrm>
          <a:prstGeom prst="rect">
            <a:avLst/>
          </a:prstGeom>
          <a:noFill/>
          <a:effectLst/>
        </p:spPr>
        <p:txBody>
          <a:bodyPr wrap="square" lIns="0" tIns="0" rIns="0" bIns="0" anchor="t">
            <a:spAutoFit/>
          </a:bodyPr>
          <a:lstStyle/>
          <a:p>
            <a:pPr>
              <a:lnSpc>
                <a:spcPct val="106000"/>
              </a:lnSpc>
              <a:spcAft>
                <a:spcPts val="700"/>
              </a:spcAft>
            </a:pPr>
            <a:r>
              <a:rPr sz="1400" b="0">
                <a:solidFill>
                  <a:srgbClr val="486476"/>
                </a:solidFill>
                <a:latin typeface="Calibri"/>
              </a:rPr>
              <a:t>Nevoie propusă; interviurile cu utilizatori urmează.</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par>
                          <p:cTn id="13" fill="hold">
                            <p:stCondLst>
                              <p:cond delay="400"/>
                            </p:stCondLst>
                            <p:childTnLst>
                              <p:par>
                                <p:cTn id="14" presetID="10" presetClass="entr" presetSubtype="0"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400"/>
                                        <p:tgtEl>
                                          <p:spTgt spid="25"/>
                                        </p:tgtEl>
                                      </p:cBhvr>
                                    </p:animEffect>
                                  </p:childTnLst>
                                </p:cTn>
                              </p:par>
                            </p:childTnLst>
                          </p:cTn>
                        </p:par>
                        <p:par>
                          <p:cTn id="22" fill="hold">
                            <p:stCondLst>
                              <p:cond delay="400"/>
                            </p:stCondLst>
                            <p:childTnLst>
                              <p:par>
                                <p:cTn id="23" presetID="10" presetClass="entr" presetSubtype="0"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ALTERNATIV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ALTERNATIVE</a:t>
            </a:r>
          </a:p>
        </p:txBody>
      </p:sp>
      <p:sp>
        <p:nvSpPr>
          <p:cNvPr id="3" name="Text: 03"/>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03</a:t>
            </a:r>
          </a:p>
        </p:txBody>
      </p:sp>
      <p:sp>
        <p:nvSpPr>
          <p:cNvPr id="4" name="Text: Instrumentele există"/>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Instrumentele există</a:t>
            </a:r>
          </a:p>
        </p:txBody>
      </p:sp>
      <p:sp>
        <p:nvSpPr>
          <p:cNvPr id="5" name="Text: Surse: qgis.org · sumo.dlr.de · Primăria 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Surse: qgis.org · sumo.dlr.de · cod ARTERIA · consultate 18.10.2026</a:t>
            </a:r>
          </a:p>
        </p:txBody>
      </p:sp>
      <p:grpSp>
        <p:nvGrpSpPr>
          <p:cNvPr id="7" name="reveal:s03_row_1"/>
          <p:cNvGrpSpPr/>
          <p:nvPr/>
        </p:nvGrpSpPr>
        <p:grpSpPr>
          <a:xfrm>
            <a:off x="594360" y="1993392"/>
            <a:ext cx="11000231" cy="777240"/>
            <a:chOff x="594360" y="1993392"/>
            <a:chExt cx="11000231" cy="777240"/>
          </a:xfrm>
        </p:grpSpPr>
        <p:graphicFrame>
          <p:nvGraphicFramePr>
            <p:cNvPr id="6" name="Table 5"/>
            <p:cNvGraphicFramePr>
              <a:graphicFrameLocks noGrp="1"/>
            </p:cNvGraphicFramePr>
            <p:nvPr/>
          </p:nvGraphicFramePr>
          <p:xfrm>
            <a:off x="594360" y="1993392"/>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QGIS</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Date și analiză geografică</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9" name="reveal:s03_row_2"/>
          <p:cNvGrpSpPr/>
          <p:nvPr/>
        </p:nvGrpSpPr>
        <p:grpSpPr>
          <a:xfrm>
            <a:off x="594360" y="2852928"/>
            <a:ext cx="11000231" cy="777240"/>
            <a:chOff x="594360" y="2852928"/>
            <a:chExt cx="11000231" cy="777240"/>
          </a:xfrm>
        </p:grpSpPr>
        <p:graphicFrame>
          <p:nvGraphicFramePr>
            <p:cNvPr id="8" name="Table 7"/>
            <p:cNvGraphicFramePr>
              <a:graphicFrameLocks noGrp="1"/>
            </p:cNvGraphicFramePr>
            <p:nvPr/>
          </p:nvGraphicFramePr>
          <p:xfrm>
            <a:off x="594360" y="2852928"/>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SUMO</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Simulare microscopică de trafic</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1" name="reveal:s03_row_3"/>
          <p:cNvGrpSpPr/>
          <p:nvPr/>
        </p:nvGrpSpPr>
        <p:grpSpPr>
          <a:xfrm>
            <a:off x="594360" y="3712464"/>
            <a:ext cx="11000231" cy="777240"/>
            <a:chOff x="594360" y="3712464"/>
            <a:chExt cx="11000231" cy="777240"/>
          </a:xfrm>
        </p:grpSpPr>
        <p:graphicFrame>
          <p:nvGraphicFramePr>
            <p:cNvPr id="10" name="Table 9"/>
            <p:cNvGraphicFramePr>
              <a:graphicFrameLocks noGrp="1"/>
            </p:cNvGraphicFramePr>
            <p:nvPr/>
          </p:nvGraphicFramePr>
          <p:xfrm>
            <a:off x="594360" y="3712464"/>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Procesul de lucru</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Pregătirea datelor și compararea variantelor</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4" name="reveal:s03_value"/>
          <p:cNvGrpSpPr/>
          <p:nvPr/>
        </p:nvGrpSpPr>
        <p:grpSpPr>
          <a:xfrm>
            <a:off x="594360" y="4892040"/>
            <a:ext cx="10972800" cy="1042416"/>
            <a:chOff x="594360" y="4892040"/>
            <a:chExt cx="10972800" cy="1042416"/>
          </a:xfrm>
        </p:grpSpPr>
        <p:sp>
          <p:nvSpPr>
            <p:cNvPr id="12" name="Text: ARTERIA propune un parcurs comun:"/>
            <p:cNvSpPr txBox="1"/>
            <p:nvPr/>
          </p:nvSpPr>
          <p:spPr>
            <a:xfrm>
              <a:off x="594360" y="4892040"/>
              <a:ext cx="10972800" cy="45720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ARTERIA leagă pașii într-un prototip:</a:t>
              </a:r>
            </a:p>
          </p:txBody>
        </p:sp>
        <p:sp>
          <p:nvSpPr>
            <p:cNvPr id="13" name="Text: zonă → alternative → comparație"/>
            <p:cNvSpPr txBox="1"/>
            <p:nvPr/>
          </p:nvSpPr>
          <p:spPr>
            <a:xfrm>
              <a:off x="594360" y="5477256"/>
              <a:ext cx="10972800" cy="45720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zonă → alternative → comparație</a:t>
              </a:r>
            </a:p>
          </p:txBody>
        </p:sp>
      </p:grpSp>
      <p:sp>
        <p:nvSpPr>
          <p:cNvPr id="15" name="Text: Avantajul de utilizare trebuie validat cu "/>
          <p:cNvSpPr txBox="1"/>
          <p:nvPr/>
        </p:nvSpPr>
        <p:spPr>
          <a:xfrm>
            <a:off x="594360" y="6053328"/>
            <a:ext cx="10972800" cy="320040"/>
          </a:xfrm>
          <a:prstGeom prst="rect">
            <a:avLst/>
          </a:prstGeom>
          <a:noFill/>
          <a:effectLst/>
        </p:spPr>
        <p:txBody>
          <a:bodyPr wrap="square" lIns="0" tIns="0" rIns="0" bIns="0" anchor="t">
            <a:spAutoFit/>
          </a:bodyPr>
          <a:lstStyle/>
          <a:p>
            <a:pPr>
              <a:lnSpc>
                <a:spcPct val="106000"/>
              </a:lnSpc>
              <a:spcAft>
                <a:spcPts val="700"/>
              </a:spcAft>
            </a:pPr>
            <a:r>
              <a:rPr sz="1600" b="0">
                <a:solidFill>
                  <a:srgbClr val="486476"/>
                </a:solidFill>
                <a:latin typeface="Calibri"/>
              </a:rPr>
              <a:t>Avantajul de utilizare trebuie validat cu specialiști.</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B / SOLUȚI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B / SOLUȚIA</a:t>
            </a:r>
          </a:p>
        </p:txBody>
      </p:sp>
      <p:sp>
        <p:nvSpPr>
          <p:cNvPr id="3" name="Text: 04"/>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04</a:t>
            </a:r>
          </a:p>
        </p:txBody>
      </p:sp>
      <p:sp>
        <p:nvSpPr>
          <p:cNvPr id="4" name="Text: Parcursul unei comparații"/>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Parcursul unei comparații</a:t>
            </a:r>
          </a:p>
        </p:txBody>
      </p:sp>
      <p:grpSp>
        <p:nvGrpSpPr>
          <p:cNvPr id="7" name="reveal:s04_stage_1"/>
          <p:cNvGrpSpPr/>
          <p:nvPr/>
        </p:nvGrpSpPr>
        <p:grpSpPr>
          <a:xfrm>
            <a:off x="594360" y="2423160"/>
            <a:ext cx="3291840" cy="2121408"/>
            <a:chOff x="594360" y="2423160"/>
            <a:chExt cx="3291840" cy="2121408"/>
          </a:xfrm>
        </p:grpSpPr>
        <p:sp>
          <p:nvSpPr>
            <p:cNvPr id="5" name="Text: 01"/>
            <p:cNvSpPr txBox="1"/>
            <p:nvPr/>
          </p:nvSpPr>
          <p:spPr>
            <a:xfrm>
              <a:off x="594360"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01</a:t>
              </a:r>
            </a:p>
          </p:txBody>
        </p:sp>
        <p:sp>
          <p:nvSpPr>
            <p:cNvPr id="6" name="Text: Alege zona"/>
            <p:cNvSpPr txBox="1"/>
            <p:nvPr/>
          </p:nvSpPr>
          <p:spPr>
            <a:xfrm>
              <a:off x="594360"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Alege zona</a:t>
              </a:r>
            </a:p>
          </p:txBody>
        </p:sp>
      </p:grpSp>
      <p:grpSp>
        <p:nvGrpSpPr>
          <p:cNvPr id="9" name="reveal:s04_link_1"/>
          <p:cNvGrpSpPr/>
          <p:nvPr/>
        </p:nvGrpSpPr>
        <p:grpSpPr>
          <a:xfrm>
            <a:off x="3474720" y="2862072"/>
            <a:ext cx="594360" cy="0"/>
            <a:chOff x="3474720" y="2862072"/>
            <a:chExt cx="594360" cy="0"/>
          </a:xfrm>
        </p:grpSpPr>
        <p:cxnSp>
          <p:nvCxnSpPr>
            <p:cNvPr id="8" name="Connector 7"/>
            <p:cNvCxnSpPr/>
            <p:nvPr/>
          </p:nvCxnSpPr>
          <p:spPr>
            <a:xfrm>
              <a:off x="3474720" y="2862072"/>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2" name="reveal:s04_stage_2"/>
          <p:cNvGrpSpPr/>
          <p:nvPr/>
        </p:nvGrpSpPr>
        <p:grpSpPr>
          <a:xfrm>
            <a:off x="4416552" y="2423160"/>
            <a:ext cx="3291840" cy="2121408"/>
            <a:chOff x="4416552" y="2423160"/>
            <a:chExt cx="3291840" cy="2121408"/>
          </a:xfrm>
        </p:grpSpPr>
        <p:sp>
          <p:nvSpPr>
            <p:cNvPr id="10" name="Text: 02"/>
            <p:cNvSpPr txBox="1"/>
            <p:nvPr/>
          </p:nvSpPr>
          <p:spPr>
            <a:xfrm>
              <a:off x="4416552"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02</a:t>
              </a:r>
            </a:p>
          </p:txBody>
        </p:sp>
        <p:sp>
          <p:nvSpPr>
            <p:cNvPr id="11" name="Text: Examinează&#10;alternativele"/>
            <p:cNvSpPr txBox="1"/>
            <p:nvPr/>
          </p:nvSpPr>
          <p:spPr>
            <a:xfrm>
              <a:off x="4416552"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Examinează</a:t>
              </a:r>
            </a:p>
            <a:p>
              <a:pPr>
                <a:lnSpc>
                  <a:spcPct val="106000"/>
                </a:lnSpc>
                <a:spcAft>
                  <a:spcPts val="700"/>
                </a:spcAft>
              </a:pPr>
              <a:r>
                <a:rPr sz="2700" b="1">
                  <a:solidFill>
                    <a:srgbClr val="EDF2F6"/>
                  </a:solidFill>
                  <a:latin typeface="Calibri"/>
                </a:rPr>
                <a:t>alternativele</a:t>
              </a:r>
            </a:p>
          </p:txBody>
        </p:sp>
      </p:grpSp>
      <p:grpSp>
        <p:nvGrpSpPr>
          <p:cNvPr id="14" name="reveal:s04_link_2"/>
          <p:cNvGrpSpPr/>
          <p:nvPr/>
        </p:nvGrpSpPr>
        <p:grpSpPr>
          <a:xfrm>
            <a:off x="7296912" y="2862072"/>
            <a:ext cx="594359" cy="0"/>
            <a:chOff x="7296912" y="2862072"/>
            <a:chExt cx="594359" cy="0"/>
          </a:xfrm>
        </p:grpSpPr>
        <p:cxnSp>
          <p:nvCxnSpPr>
            <p:cNvPr id="13" name="Connector 12"/>
            <p:cNvCxnSpPr/>
            <p:nvPr/>
          </p:nvCxnSpPr>
          <p:spPr>
            <a:xfrm>
              <a:off x="7296912" y="2862072"/>
              <a:ext cx="594359"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7" name="reveal:s04_stage_3"/>
          <p:cNvGrpSpPr/>
          <p:nvPr/>
        </p:nvGrpSpPr>
        <p:grpSpPr>
          <a:xfrm>
            <a:off x="8238744" y="2423160"/>
            <a:ext cx="3291840" cy="2121408"/>
            <a:chOff x="8238744" y="2423160"/>
            <a:chExt cx="3291840" cy="2121408"/>
          </a:xfrm>
        </p:grpSpPr>
        <p:sp>
          <p:nvSpPr>
            <p:cNvPr id="15" name="Text: 03"/>
            <p:cNvSpPr txBox="1"/>
            <p:nvPr/>
          </p:nvSpPr>
          <p:spPr>
            <a:xfrm>
              <a:off x="8238744"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03</a:t>
              </a:r>
            </a:p>
          </p:txBody>
        </p:sp>
        <p:sp>
          <p:nvSpPr>
            <p:cNvPr id="16" name="Text: Compară&#10;scenariul"/>
            <p:cNvSpPr txBox="1"/>
            <p:nvPr/>
          </p:nvSpPr>
          <p:spPr>
            <a:xfrm>
              <a:off x="8238744"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Compară</a:t>
              </a:r>
            </a:p>
            <a:p>
              <a:pPr>
                <a:lnSpc>
                  <a:spcPct val="106000"/>
                </a:lnSpc>
                <a:spcAft>
                  <a:spcPts val="700"/>
                </a:spcAft>
              </a:pPr>
              <a:r>
                <a:rPr sz="2700" b="1">
                  <a:solidFill>
                    <a:srgbClr val="EDF2F6"/>
                  </a:solidFill>
                  <a:latin typeface="Calibri"/>
                </a:rPr>
                <a:t>scenariul</a:t>
              </a:r>
            </a:p>
          </p:txBody>
        </p:sp>
      </p:grpSp>
      <p:sp>
        <p:nvSpPr>
          <p:cNvPr id="18" name="Text: Astăzi: API conectat și studii pe graf pie"/>
          <p:cNvSpPr txBox="1"/>
          <p:nvPr/>
        </p:nvSpPr>
        <p:spPr>
          <a:xfrm>
            <a:off x="594360" y="506577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FC47C"/>
                </a:solidFill>
                <a:latin typeface="Calibri"/>
              </a:rPr>
              <a:t>Graf pietonal: alternative pe același eșantion de rute</a:t>
            </a:r>
          </a:p>
        </p:txBody>
      </p:sp>
      <p:sp>
        <p:nvSpPr>
          <p:cNvPr id="19" name="Text: Urmează: calibrare și validare cu un speci"/>
          <p:cNvSpPr txBox="1"/>
          <p:nvPr/>
        </p:nvSpPr>
        <p:spPr>
          <a:xfrm>
            <a:off x="594360" y="570585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Separat: semaforizare sintetică; impact real nevalidat</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3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par>
                          <p:cTn id="17" fill="hold">
                            <p:stCondLst>
                              <p:cond delay="400"/>
                            </p:stCondLst>
                            <p:childTnLst>
                              <p:par>
                                <p:cTn id="18" presetID="22" presetClass="entr" presetSubtype="8"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3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DEMO"/>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DEMO</a:t>
            </a:r>
          </a:p>
        </p:txBody>
      </p:sp>
      <p:sp>
        <p:nvSpPr>
          <p:cNvPr id="3" name="Text: 05"/>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05</a:t>
            </a:r>
          </a:p>
        </p:txBody>
      </p:sp>
      <p:sp>
        <p:nvSpPr>
          <p:cNvPr id="4" name="Text: Podu Roș, în prototip"/>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Semaforizare: un compromis</a:t>
            </a:r>
          </a:p>
        </p:txBody>
      </p:sp>
      <p:sp>
        <p:nvSpPr>
          <p:cNvPr id="6" name="Text: DEMO: API conectat&#10;date sintetice"/>
          <p:cNvSpPr txBox="1"/>
          <p:nvPr/>
        </p:nvSpPr>
        <p:spPr>
          <a:xfrm>
            <a:off x="594360" y="4754880"/>
            <a:ext cx="3749039" cy="868680"/>
          </a:xfrm>
          <a:prstGeom prst="rect">
            <a:avLst/>
          </a:prstGeom>
          <a:noFill/>
          <a:effectLst/>
        </p:spPr>
        <p:txBody>
          <a:bodyPr wrap="square" lIns="0" tIns="0" rIns="0" bIns="0" anchor="t">
            <a:spAutoFit/>
          </a:bodyPr>
          <a:lstStyle/>
          <a:p>
            <a:pPr>
              <a:lnSpc>
                <a:spcPct val="106000"/>
              </a:lnSpc>
              <a:spcAft>
                <a:spcPts val="700"/>
              </a:spcAft>
            </a:pPr>
            <a:r>
              <a:rPr sz="2200" b="1">
                <a:solidFill>
                  <a:srgbClr val="EFC47C"/>
                </a:solidFill>
                <a:latin typeface="Calibri"/>
              </a:rPr>
              <a:t>DEMO: API conectat</a:t>
            </a:r>
          </a:p>
          <a:p>
            <a:pPr>
              <a:lnSpc>
                <a:spcPct val="106000"/>
              </a:lnSpc>
              <a:spcAft>
                <a:spcPts val="700"/>
              </a:spcAft>
            </a:pPr>
            <a:r>
              <a:rPr sz="2200" b="1">
                <a:solidFill>
                  <a:srgbClr val="EFC47C"/>
                </a:solidFill>
                <a:latin typeface="Calibri"/>
              </a:rPr>
              <a:t>date sintetice</a:t>
            </a:r>
          </a:p>
        </p:txBody>
      </p:sp>
      <p:sp>
        <p:nvSpPr>
          <p:cNvPr id="7" name="Text: Semaforizare estimată&#10;Fără SUMO din interf"/>
          <p:cNvSpPr txBox="1"/>
          <p:nvPr/>
        </p:nvSpPr>
        <p:spPr>
          <a:xfrm>
            <a:off x="594360" y="5705856"/>
            <a:ext cx="3749039" cy="594360"/>
          </a:xfrm>
          <a:prstGeom prst="rect">
            <a:avLst/>
          </a:prstGeom>
          <a:noFill/>
          <a:effectLst/>
        </p:spPr>
        <p:txBody>
          <a:bodyPr wrap="square" lIns="0" tIns="0" rIns="0" bIns="0" anchor="t">
            <a:spAutoFit/>
          </a:bodyPr>
          <a:lstStyle/>
          <a:p>
            <a:pPr>
              <a:lnSpc>
                <a:spcPct val="106000"/>
              </a:lnSpc>
              <a:spcAft>
                <a:spcPts val="700"/>
              </a:spcAft>
            </a:pPr>
            <a:r>
              <a:rPr sz="1600" b="0">
                <a:solidFill>
                  <a:srgbClr val="EDF2F6"/>
                </a:solidFill>
                <a:latin typeface="Calibri"/>
              </a:rPr>
              <a:t>Semaforizare estimată</a:t>
            </a:r>
          </a:p>
          <a:p>
            <a:pPr>
              <a:lnSpc>
                <a:spcPct val="106000"/>
              </a:lnSpc>
              <a:spcAft>
                <a:spcPts val="700"/>
              </a:spcAft>
            </a:pPr>
            <a:r>
              <a:rPr sz="1600" b="0">
                <a:solidFill>
                  <a:srgbClr val="EDF2F6"/>
                </a:solidFill>
                <a:latin typeface="Calibri"/>
              </a:rPr>
              <a:t>Fără SUMO din interfață</a:t>
            </a:r>
          </a:p>
        </p:txBody>
      </p:sp>
      <p:sp>
        <p:nvSpPr>
          <p:cNvPr id="9" name="Text: Demo local: localhost:3001/app · Captură d"/>
          <p:cNvSpPr txBox="1"/>
          <p:nvPr/>
        </p:nvSpPr>
        <p:spPr>
          <a:xfrm>
            <a:off x="4617720" y="6227064"/>
            <a:ext cx="6967728" cy="320040"/>
          </a:xfrm>
          <a:prstGeom prst="rect">
            <a:avLst/>
          </a:prstGeom>
          <a:noFill/>
          <a:effectLst/>
        </p:spPr>
        <p:txBody>
          <a:bodyPr wrap="square" lIns="0" tIns="0" rIns="0" bIns="0" anchor="t">
            <a:spAutoFit/>
          </a:bodyPr>
          <a:lstStyle/>
          <a:p>
            <a:pPr>
              <a:lnSpc>
                <a:spcPct val="106000"/>
              </a:lnSpc>
              <a:spcAft>
                <a:spcPts val="700"/>
              </a:spcAft>
            </a:pPr>
            <a:r>
              <a:rPr sz="1200" b="0">
                <a:solidFill>
                  <a:srgbClr val="A8BAC9"/>
                </a:solidFill>
                <a:latin typeface="Calibri"/>
              </a:rPr>
              <a:t>Captură verificată la 18.10.2026 · valori sintetice, nu trafic din Iași</a:t>
            </a:r>
          </a:p>
        </p:txBody>
      </p:sp>
      <p:grpSp>
        <p:nvGrpSpPr>
          <p:cNvPr id="5" name="reveal:s05_product"/>
          <p:cNvGrpSpPr/>
          <p:nvPr/>
        </p:nvGrpSpPr>
        <p:grpSpPr>
          <a:xfrm>
            <a:off x="5653754" y="1874519"/>
            <a:ext cx="4895659" cy="4251960"/>
            <a:chOff x="5653754" y="1874519"/>
            <a:chExt cx="4895659" cy="4251960"/>
          </a:xfrm>
        </p:grpSpPr>
        <p:pic>
          <p:nvPicPr>
            <p:cNvPr id="8" name="Picture 7" descr="connected-comparison.png"/>
            <p:cNvPicPr>
              <a:picLocks noChangeAspect="1"/>
            </p:cNvPicPr>
            <p:nvPr/>
          </p:nvPicPr>
          <p:blipFill>
            <a:blip r:embed="rId3"/>
            <a:stretch>
              <a:fillRect/>
            </a:stretch>
          </p:blipFill>
          <p:spPr>
            <a:xfrm>
              <a:off x="5653754" y="1874519"/>
              <a:ext cx="4895659" cy="4251960"/>
            </a:xfrm>
            <a:prstGeom prst="rect">
              <a:avLst/>
            </a:prstGeom>
            <a:effectLst/>
          </p:spPr>
        </p:pic>
      </p:grpSp>
      <p:grpSp>
        <p:nvGrpSpPr>
          <p:cNvPr id="12" name="reveal:s05_step_1"/>
          <p:cNvGrpSpPr/>
          <p:nvPr/>
        </p:nvGrpSpPr>
        <p:grpSpPr>
          <a:xfrm>
            <a:off x="594360" y="2048256"/>
            <a:ext cx="3703320" cy="594360"/>
            <a:chOff x="594360" y="2048256"/>
            <a:chExt cx="3703320" cy="594360"/>
          </a:xfrm>
        </p:grpSpPr>
        <p:sp>
          <p:nvSpPr>
            <p:cNvPr id="10" name="Text: 01"/>
            <p:cNvSpPr txBox="1"/>
            <p:nvPr/>
          </p:nvSpPr>
          <p:spPr>
            <a:xfrm>
              <a:off x="594360" y="2075688"/>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01</a:t>
              </a:r>
            </a:p>
          </p:txBody>
        </p:sp>
        <p:sp>
          <p:nvSpPr>
            <p:cNvPr id="11" name="Text: Selectează reperul"/>
            <p:cNvSpPr txBox="1"/>
            <p:nvPr/>
          </p:nvSpPr>
          <p:spPr>
            <a:xfrm>
              <a:off x="1143000" y="2048256"/>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Selectează reperul</a:t>
              </a:r>
            </a:p>
          </p:txBody>
        </p:sp>
      </p:grpSp>
      <p:grpSp>
        <p:nvGrpSpPr>
          <p:cNvPr id="15" name="reveal:s05_step_2"/>
          <p:cNvGrpSpPr/>
          <p:nvPr/>
        </p:nvGrpSpPr>
        <p:grpSpPr>
          <a:xfrm>
            <a:off x="594360" y="2852928"/>
            <a:ext cx="3703320" cy="594360"/>
            <a:chOff x="594360" y="2852928"/>
            <a:chExt cx="3703320" cy="594360"/>
          </a:xfrm>
        </p:grpSpPr>
        <p:sp>
          <p:nvSpPr>
            <p:cNvPr id="13" name="Text: 02"/>
            <p:cNvSpPr txBox="1"/>
            <p:nvPr/>
          </p:nvSpPr>
          <p:spPr>
            <a:xfrm>
              <a:off x="594360" y="2880360"/>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02</a:t>
              </a:r>
            </a:p>
          </p:txBody>
        </p:sp>
        <p:sp>
          <p:nvSpPr>
            <p:cNvPr id="14" name="Text: Alege o alternativă"/>
            <p:cNvSpPr txBox="1"/>
            <p:nvPr/>
          </p:nvSpPr>
          <p:spPr>
            <a:xfrm>
              <a:off x="1143000" y="2852928"/>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Alege o alternativă</a:t>
              </a:r>
            </a:p>
          </p:txBody>
        </p:sp>
      </p:grpSp>
      <p:grpSp>
        <p:nvGrpSpPr>
          <p:cNvPr id="18" name="reveal:s05_step_3"/>
          <p:cNvGrpSpPr/>
          <p:nvPr/>
        </p:nvGrpSpPr>
        <p:grpSpPr>
          <a:xfrm>
            <a:off x="594360" y="3657600"/>
            <a:ext cx="3703320" cy="594360"/>
            <a:chOff x="594360" y="3657600"/>
            <a:chExt cx="3703320" cy="594360"/>
          </a:xfrm>
        </p:grpSpPr>
        <p:sp>
          <p:nvSpPr>
            <p:cNvPr id="16" name="Text: 03"/>
            <p:cNvSpPr txBox="1"/>
            <p:nvPr/>
          </p:nvSpPr>
          <p:spPr>
            <a:xfrm>
              <a:off x="594360" y="3685032"/>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03</a:t>
              </a:r>
            </a:p>
          </p:txBody>
        </p:sp>
        <p:sp>
          <p:nvSpPr>
            <p:cNvPr id="17" name="Text: Deschide comparația"/>
            <p:cNvSpPr txBox="1"/>
            <p:nvPr/>
          </p:nvSpPr>
          <p:spPr>
            <a:xfrm>
              <a:off x="1143000" y="3657600"/>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Deschide comparația</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 / CONSTRUCȚI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B / CONSTRUCȚIE</a:t>
            </a:r>
          </a:p>
        </p:txBody>
      </p:sp>
      <p:sp>
        <p:nvSpPr>
          <p:cNvPr id="3" name="Text: 06"/>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06</a:t>
            </a:r>
          </a:p>
        </p:txBody>
      </p:sp>
      <p:sp>
        <p:nvSpPr>
          <p:cNvPr id="4" name="Text: Frontend · Backend · Sim"/>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Interfață · Backend · SIM</a:t>
            </a:r>
          </a:p>
        </p:txBody>
      </p:sp>
      <p:sp>
        <p:nvSpPr>
          <p:cNvPr id="5" name="Text: backend/main.py · backend/storage.py · sim"/>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Cod: backend/main.py · spatial_worker.py · sim/ · LLM și SUMO neconectate la UI</a:t>
            </a:r>
          </a:p>
        </p:txBody>
      </p:sp>
      <p:grpSp>
        <p:nvGrpSpPr>
          <p:cNvPr id="9" name="reveal:s06_frontend"/>
          <p:cNvGrpSpPr/>
          <p:nvPr/>
        </p:nvGrpSpPr>
        <p:grpSpPr>
          <a:xfrm>
            <a:off x="594360" y="2075688"/>
            <a:ext cx="3154680" cy="2286000"/>
            <a:chOff x="594360" y="2075688"/>
            <a:chExt cx="3154680" cy="2286000"/>
          </a:xfrm>
        </p:grpSpPr>
        <p:sp>
          <p:nvSpPr>
            <p:cNvPr id="6" name="Rectangle 5"/>
            <p:cNvSpPr/>
            <p:nvPr/>
          </p:nvSpPr>
          <p:spPr>
            <a:xfrm>
              <a:off x="594360" y="2075688"/>
              <a:ext cx="315468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Frontend"/>
            <p:cNvSpPr txBox="1"/>
            <p:nvPr/>
          </p:nvSpPr>
          <p:spPr>
            <a:xfrm>
              <a:off x="777240" y="2240280"/>
              <a:ext cx="278892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Interfață</a:t>
              </a:r>
            </a:p>
          </p:txBody>
        </p:sp>
        <p:sp>
          <p:nvSpPr>
            <p:cNvPr id="8" name="Text: Next.js / MapLibre&#10;Client API conectat"/>
            <p:cNvSpPr txBox="1"/>
            <p:nvPr/>
          </p:nvSpPr>
          <p:spPr>
            <a:xfrm>
              <a:off x="777240" y="2871216"/>
              <a:ext cx="278892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Next.js / MapLibre</a:t>
              </a:r>
            </a:p>
            <a:p>
              <a:pPr>
                <a:lnSpc>
                  <a:spcPct val="106000"/>
                </a:lnSpc>
                <a:spcAft>
                  <a:spcPts val="700"/>
                </a:spcAft>
              </a:pPr>
              <a:r>
                <a:rPr sz="2000" b="0">
                  <a:solidFill>
                    <a:srgbClr val="101820"/>
                  </a:solidFill>
                  <a:latin typeface="Calibri"/>
                </a:rPr>
                <a:t>Client API conectat</a:t>
              </a:r>
            </a:p>
          </p:txBody>
        </p:sp>
      </p:grpSp>
      <p:grpSp>
        <p:nvGrpSpPr>
          <p:cNvPr id="13" name="reveal:s06_backend"/>
          <p:cNvGrpSpPr/>
          <p:nvPr/>
        </p:nvGrpSpPr>
        <p:grpSpPr>
          <a:xfrm>
            <a:off x="4206240" y="2075688"/>
            <a:ext cx="3794760" cy="2286000"/>
            <a:chOff x="4206240" y="2075688"/>
            <a:chExt cx="3794760" cy="2286000"/>
          </a:xfrm>
        </p:grpSpPr>
        <p:sp>
          <p:nvSpPr>
            <p:cNvPr id="10" name="Rectangle 9"/>
            <p:cNvSpPr/>
            <p:nvPr/>
          </p:nvSpPr>
          <p:spPr>
            <a:xfrm>
              <a:off x="4206240" y="2075688"/>
              <a:ext cx="379476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Backend"/>
            <p:cNvSpPr txBox="1"/>
            <p:nvPr/>
          </p:nvSpPr>
          <p:spPr>
            <a:xfrm>
              <a:off x="4389120" y="2240280"/>
              <a:ext cx="3429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Backend</a:t>
              </a:r>
            </a:p>
          </p:txBody>
        </p:sp>
        <p:sp>
          <p:nvSpPr>
            <p:cNvPr id="12" name="Text: FastAPI / Pydantic&#10;SQLite · API evaluare&#10;S"/>
            <p:cNvSpPr txBox="1"/>
            <p:nvPr/>
          </p:nvSpPr>
          <p:spPr>
            <a:xfrm>
              <a:off x="4389120" y="2871216"/>
              <a:ext cx="342900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FastAPI / Pydantic</a:t>
              </a:r>
            </a:p>
            <a:p>
              <a:pPr>
                <a:lnSpc>
                  <a:spcPct val="106000"/>
                </a:lnSpc>
                <a:spcAft>
                  <a:spcPts val="700"/>
                </a:spcAft>
              </a:pPr>
              <a:r>
                <a:rPr sz="2000" b="0">
                  <a:solidFill>
                    <a:srgbClr val="101820"/>
                  </a:solidFill>
                  <a:latin typeface="Calibri"/>
                </a:rPr>
                <a:t>SQLite · API evaluare</a:t>
              </a:r>
            </a:p>
            <a:p>
              <a:pPr>
                <a:lnSpc>
                  <a:spcPct val="106000"/>
                </a:lnSpc>
                <a:spcAft>
                  <a:spcPts val="700"/>
                </a:spcAft>
              </a:pPr>
              <a:r>
                <a:rPr sz="2000" b="0">
                  <a:solidFill>
                    <a:srgbClr val="101820"/>
                  </a:solidFill>
                  <a:latin typeface="Calibri"/>
                </a:rPr>
                <a:t>Studii spațiale</a:t>
              </a:r>
            </a:p>
          </p:txBody>
        </p:sp>
      </p:grpSp>
      <p:grpSp>
        <p:nvGrpSpPr>
          <p:cNvPr id="15" name="reveal:s06_link_backend"/>
          <p:cNvGrpSpPr/>
          <p:nvPr/>
        </p:nvGrpSpPr>
        <p:grpSpPr>
          <a:xfrm>
            <a:off x="3749039" y="3182112"/>
            <a:ext cx="457201" cy="0"/>
            <a:chOff x="3749039" y="3182112"/>
            <a:chExt cx="457201" cy="0"/>
          </a:xfrm>
        </p:grpSpPr>
        <p:cxnSp>
          <p:nvCxnSpPr>
            <p:cNvPr id="14" name="Connector 13"/>
            <p:cNvCxnSpPr/>
            <p:nvPr/>
          </p:nvCxnSpPr>
          <p:spPr>
            <a:xfrm>
              <a:off x="3749039" y="3182112"/>
              <a:ext cx="457201"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grpSp>
        <p:nvGrpSpPr>
          <p:cNvPr id="19" name="reveal:s06_sim"/>
          <p:cNvGrpSpPr/>
          <p:nvPr/>
        </p:nvGrpSpPr>
        <p:grpSpPr>
          <a:xfrm>
            <a:off x="8458200" y="2075688"/>
            <a:ext cx="3136392" cy="2286000"/>
            <a:chOff x="8458200" y="2075688"/>
            <a:chExt cx="3136392" cy="2286000"/>
          </a:xfrm>
        </p:grpSpPr>
        <p:sp>
          <p:nvSpPr>
            <p:cNvPr id="16" name="Rectangle 15"/>
            <p:cNvSpPr/>
            <p:nvPr/>
          </p:nvSpPr>
          <p:spPr>
            <a:xfrm>
              <a:off x="8458200" y="2075688"/>
              <a:ext cx="3136392"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Sim"/>
            <p:cNvSpPr txBox="1"/>
            <p:nvPr/>
          </p:nvSpPr>
          <p:spPr>
            <a:xfrm>
              <a:off x="8641080" y="2240280"/>
              <a:ext cx="277063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SIM</a:t>
              </a:r>
            </a:p>
          </p:txBody>
        </p:sp>
        <p:sp>
          <p:nvSpPr>
            <p:cNvPr id="18" name="Text: Graf pietonal / OSM&#10;Candidați și dovezi&#10;SU"/>
            <p:cNvSpPr txBox="1"/>
            <p:nvPr/>
          </p:nvSpPr>
          <p:spPr>
            <a:xfrm>
              <a:off x="8641080" y="2871216"/>
              <a:ext cx="2770632"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Graf pietonal / OSM</a:t>
              </a:r>
            </a:p>
            <a:p>
              <a:pPr>
                <a:lnSpc>
                  <a:spcPct val="106000"/>
                </a:lnSpc>
                <a:spcAft>
                  <a:spcPts val="700"/>
                </a:spcAft>
              </a:pPr>
              <a:r>
                <a:rPr sz="2000" b="0">
                  <a:solidFill>
                    <a:srgbClr val="101820"/>
                  </a:solidFill>
                  <a:latin typeface="Calibri"/>
                </a:rPr>
                <a:t>Rute · candidați validați</a:t>
              </a:r>
            </a:p>
            <a:p>
              <a:pPr>
                <a:lnSpc>
                  <a:spcPct val="106000"/>
                </a:lnSpc>
                <a:spcAft>
                  <a:spcPts val="700"/>
                </a:spcAft>
              </a:pPr>
              <a:r>
                <a:rPr sz="2000" b="0">
                  <a:solidFill>
                    <a:srgbClr val="101820"/>
                  </a:solidFill>
                  <a:latin typeface="Calibri"/>
                </a:rPr>
                <a:t>SUMO separat, local</a:t>
              </a:r>
            </a:p>
          </p:txBody>
        </p:sp>
      </p:grpSp>
      <p:grpSp>
        <p:nvGrpSpPr>
          <p:cNvPr id="21" name="reveal:s06_link_sim"/>
          <p:cNvGrpSpPr/>
          <p:nvPr/>
        </p:nvGrpSpPr>
        <p:grpSpPr>
          <a:xfrm>
            <a:off x="8001000" y="3182112"/>
            <a:ext cx="457200" cy="0"/>
            <a:chOff x="8001000" y="3182112"/>
            <a:chExt cx="457200" cy="0"/>
          </a:xfrm>
        </p:grpSpPr>
        <p:cxnSp>
          <p:nvCxnSpPr>
            <p:cNvPr id="20" name="Connector 19"/>
            <p:cNvCxnSpPr/>
            <p:nvPr/>
          </p:nvCxnSpPr>
          <p:spPr>
            <a:xfrm>
              <a:off x="8001000" y="3182112"/>
              <a:ext cx="457200"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sp>
        <p:nvSpPr>
          <p:cNvPr id="22" name="Text: Semaforizare sintetică; graf pietonal cone"/>
          <p:cNvSpPr txBox="1"/>
          <p:nvPr/>
        </p:nvSpPr>
        <p:spPr>
          <a:xfrm>
            <a:off x="594360" y="4535424"/>
            <a:ext cx="10972800" cy="41148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Graf: comparație salvată în SQLite. Semaforizare: estimări sintetice.</a:t>
            </a:r>
          </a:p>
        </p:txBody>
      </p:sp>
      <p:grpSp>
        <p:nvGrpSpPr>
          <p:cNvPr id="26" name="reveal:s06_ai_future"/>
          <p:cNvGrpSpPr/>
          <p:nvPr/>
        </p:nvGrpSpPr>
        <p:grpSpPr>
          <a:xfrm>
            <a:off x="1920240" y="5120640"/>
            <a:ext cx="8366760" cy="1115568"/>
            <a:chOff x="1920240" y="5120640"/>
            <a:chExt cx="8366760" cy="1115568"/>
          </a:xfrm>
        </p:grpSpPr>
        <p:sp>
          <p:nvSpPr>
            <p:cNvPr id="23" name="Rectangle 22"/>
            <p:cNvSpPr/>
            <p:nvPr/>
          </p:nvSpPr>
          <p:spPr>
            <a:xfrm>
              <a:off x="1920240" y="5120640"/>
              <a:ext cx="8366760" cy="1115568"/>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 AI planificat"/>
            <p:cNvSpPr txBox="1"/>
            <p:nvPr/>
          </p:nvSpPr>
          <p:spPr>
            <a:xfrm>
              <a:off x="2103120" y="5285231"/>
              <a:ext cx="8001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LLM neintegrat</a:t>
              </a:r>
            </a:p>
          </p:txBody>
        </p:sp>
        <p:sp>
          <p:nvSpPr>
            <p:cNvPr id="25" name="Text: Alternative structurate; validare înainte "/>
            <p:cNvSpPr txBox="1"/>
            <p:nvPr/>
          </p:nvSpPr>
          <p:spPr>
            <a:xfrm>
              <a:off x="2103120" y="5678424"/>
              <a:ext cx="8001000" cy="384048"/>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Există: dovezi, catalog și validare. Generarea LLM urmează.</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par>
                          <p:cTn id="13" fill="hold">
                            <p:stCondLst>
                              <p:cond delay="400"/>
                            </p:stCondLst>
                            <p:childTnLst>
                              <p:par>
                                <p:cTn id="14" presetID="22" presetClass="entr" presetSubtype="8"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3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childTnLst>
                          </p:cTn>
                        </p:par>
                        <p:par>
                          <p:cTn id="22" fill="hold">
                            <p:stCondLst>
                              <p:cond delay="400"/>
                            </p:stCondLst>
                            <p:childTnLst>
                              <p:par>
                                <p:cTn id="23" presetID="22" presetClass="entr" presetSubtype="8"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3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USINESS / CINE PLĂTEȘT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MODEL ECONOMIC</a:t>
            </a:r>
          </a:p>
        </p:txBody>
      </p:sp>
      <p:sp>
        <p:nvSpPr>
          <p:cNvPr id="3" name="Text: 07"/>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07</a:t>
            </a:r>
          </a:p>
        </p:txBody>
      </p:sp>
      <p:sp>
        <p:nvSpPr>
          <p:cNvPr id="4" name="Text: Model economic de testat"/>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Model economic de testat</a:t>
            </a:r>
          </a:p>
        </p:txBody>
      </p:sp>
      <p:sp>
        <p:nvSpPr>
          <p:cNvPr id="5" name="Text: Sursă preț: ipoteza din pitch-ul anterior,"/>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Ipoteză din pitch-ul anterior, 2026 · preț nevalidat prin interviuri</a:t>
            </a:r>
          </a:p>
        </p:txBody>
      </p:sp>
      <p:sp>
        <p:nvSpPr>
          <p:cNvPr id="8" name="Text: Ipoteză de abonament,&#10;nevalidată"/>
          <p:cNvSpPr txBox="1"/>
          <p:nvPr/>
        </p:nvSpPr>
        <p:spPr>
          <a:xfrm>
            <a:off x="621792" y="4270248"/>
            <a:ext cx="448056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Abonament propus,</a:t>
            </a:r>
          </a:p>
          <a:p>
            <a:pPr>
              <a:lnSpc>
                <a:spcPct val="106000"/>
              </a:lnSpc>
              <a:spcAft>
                <a:spcPts val="700"/>
              </a:spcAft>
            </a:pPr>
            <a:r>
              <a:rPr sz="2500" b="1">
                <a:solidFill>
                  <a:srgbClr val="101820"/>
                </a:solidFill>
                <a:latin typeface="Calibri"/>
              </a:rPr>
              <a:t>preț nevalidat</a:t>
            </a:r>
          </a:p>
        </p:txBody>
      </p:sp>
      <p:sp>
        <p:nvSpPr>
          <p:cNvPr id="13" name="Text: Niciun client plătitor confirmat"/>
          <p:cNvSpPr txBox="1"/>
          <p:nvPr/>
        </p:nvSpPr>
        <p:spPr>
          <a:xfrm>
            <a:off x="594360" y="594360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Nu avem dovezi de clienți plătitori</a:t>
            </a:r>
          </a:p>
        </p:txBody>
      </p:sp>
      <p:grpSp>
        <p:nvGrpSpPr>
          <p:cNvPr id="14" name="reveal:s07_customer"/>
          <p:cNvGrpSpPr/>
          <p:nvPr/>
        </p:nvGrpSpPr>
        <p:grpSpPr>
          <a:xfrm>
            <a:off x="5669280" y="2011680"/>
            <a:ext cx="5897880" cy="1435608"/>
            <a:chOff x="5669280" y="2011680"/>
            <a:chExt cx="5897880" cy="1435608"/>
          </a:xfrm>
        </p:grpSpPr>
        <p:sp>
          <p:nvSpPr>
            <p:cNvPr id="9" name="Text: Cumpărător vizat"/>
            <p:cNvSpPr txBox="1"/>
            <p:nvPr/>
          </p:nvSpPr>
          <p:spPr>
            <a:xfrm>
              <a:off x="5669280" y="2011680"/>
              <a:ext cx="5897880" cy="36576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Cumpărător vizat</a:t>
              </a:r>
            </a:p>
          </p:txBody>
        </p:sp>
        <p:sp>
          <p:nvSpPr>
            <p:cNvPr id="10" name="Text: Administrație locală /&#10;consultanță de mobi"/>
            <p:cNvSpPr txBox="1"/>
            <p:nvPr/>
          </p:nvSpPr>
          <p:spPr>
            <a:xfrm>
              <a:off x="5669280" y="2487168"/>
              <a:ext cx="589788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Administrație locală /</a:t>
              </a:r>
            </a:p>
            <a:p>
              <a:pPr>
                <a:lnSpc>
                  <a:spcPct val="106000"/>
                </a:lnSpc>
                <a:spcAft>
                  <a:spcPts val="700"/>
                </a:spcAft>
              </a:pPr>
              <a:r>
                <a:rPr sz="2500" b="1">
                  <a:solidFill>
                    <a:srgbClr val="101820"/>
                  </a:solidFill>
                  <a:latin typeface="Calibri"/>
                </a:rPr>
                <a:t>consultanță de mobilitate</a:t>
              </a:r>
            </a:p>
          </p:txBody>
        </p:sp>
      </p:grpSp>
      <p:grpSp>
        <p:nvGrpSpPr>
          <p:cNvPr id="15" name="reveal:s07_price"/>
          <p:cNvGrpSpPr/>
          <p:nvPr/>
        </p:nvGrpSpPr>
        <p:grpSpPr>
          <a:xfrm>
            <a:off x="594360" y="2423160"/>
            <a:ext cx="4754880" cy="1600200"/>
            <a:chOff x="594360" y="2423160"/>
            <a:chExt cx="4754880" cy="1600200"/>
          </a:xfrm>
        </p:grpSpPr>
        <p:sp>
          <p:nvSpPr>
            <p:cNvPr id="6" name="Text: 1.500 €"/>
            <p:cNvSpPr txBox="1"/>
            <p:nvPr/>
          </p:nvSpPr>
          <p:spPr>
            <a:xfrm>
              <a:off x="594360" y="2423160"/>
              <a:ext cx="4754880" cy="1005840"/>
            </a:xfrm>
            <a:prstGeom prst="rect">
              <a:avLst/>
            </a:prstGeom>
            <a:noFill/>
            <a:effectLst/>
          </p:spPr>
          <p:txBody>
            <a:bodyPr wrap="square" lIns="0" tIns="0" rIns="0" bIns="0" anchor="t">
              <a:spAutoFit/>
            </a:bodyPr>
            <a:lstStyle/>
            <a:p>
              <a:pPr>
                <a:lnSpc>
                  <a:spcPct val="106000"/>
                </a:lnSpc>
                <a:spcAft>
                  <a:spcPts val="700"/>
                </a:spcAft>
              </a:pPr>
              <a:r>
                <a:rPr sz="5800" b="1">
                  <a:solidFill>
                    <a:srgbClr val="101820"/>
                  </a:solidFill>
                  <a:latin typeface="Calibri"/>
                </a:rPr>
                <a:t>1.500 €</a:t>
              </a:r>
            </a:p>
          </p:txBody>
        </p:sp>
        <p:sp>
          <p:nvSpPr>
            <p:cNvPr id="7" name="Text: / lună"/>
            <p:cNvSpPr txBox="1"/>
            <p:nvPr/>
          </p:nvSpPr>
          <p:spPr>
            <a:xfrm>
              <a:off x="621792" y="3520440"/>
              <a:ext cx="4480560" cy="50292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 lună</a:t>
              </a:r>
            </a:p>
          </p:txBody>
        </p:sp>
      </p:grpSp>
      <p:grpSp>
        <p:nvGrpSpPr>
          <p:cNvPr id="16" name="reveal:s07_value"/>
          <p:cNvGrpSpPr/>
          <p:nvPr/>
        </p:nvGrpSpPr>
        <p:grpSpPr>
          <a:xfrm>
            <a:off x="5669280" y="3749039"/>
            <a:ext cx="5897880" cy="2029969"/>
            <a:chOff x="5669280" y="3749039"/>
            <a:chExt cx="5897880" cy="2029969"/>
          </a:xfrm>
        </p:grpSpPr>
        <p:sp>
          <p:nvSpPr>
            <p:cNvPr id="11" name="Text: Valoare de verificat: timpul&#10;pregătirii un"/>
            <p:cNvSpPr txBox="1"/>
            <p:nvPr/>
          </p:nvSpPr>
          <p:spPr>
            <a:xfrm>
              <a:off x="5669280" y="3749039"/>
              <a:ext cx="5897880" cy="86868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Valoare de verificat: timpul</a:t>
              </a:r>
            </a:p>
            <a:p>
              <a:pPr>
                <a:lnSpc>
                  <a:spcPct val="106000"/>
                </a:lnSpc>
                <a:spcAft>
                  <a:spcPts val="700"/>
                </a:spcAft>
              </a:pPr>
              <a:r>
                <a:rPr sz="2300" b="0">
                  <a:solidFill>
                    <a:srgbClr val="101820"/>
                  </a:solidFill>
                  <a:latin typeface="Calibri"/>
                </a:rPr>
                <a:t>pregătirii unei comparații</a:t>
              </a:r>
            </a:p>
          </p:txBody>
        </p:sp>
        <p:sp>
          <p:nvSpPr>
            <p:cNvPr id="12" name="Text: Costuri de măsurat:&#10;date, calcul și suport"/>
            <p:cNvSpPr txBox="1"/>
            <p:nvPr/>
          </p:nvSpPr>
          <p:spPr>
            <a:xfrm>
              <a:off x="5669280" y="4956048"/>
              <a:ext cx="5897880" cy="82296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Costuri de măsurat:</a:t>
              </a:r>
            </a:p>
            <a:p>
              <a:pPr>
                <a:lnSpc>
                  <a:spcPct val="106000"/>
                </a:lnSpc>
                <a:spcAft>
                  <a:spcPts val="700"/>
                </a:spcAft>
              </a:pPr>
              <a:r>
                <a:rPr sz="2300" b="0">
                  <a:solidFill>
                    <a:srgbClr val="101820"/>
                  </a:solidFill>
                  <a:latin typeface="Calibri"/>
                </a:rPr>
                <a:t>date, calcul și suport</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PIAȚ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PIAȚA</a:t>
            </a:r>
          </a:p>
        </p:txBody>
      </p:sp>
      <p:sp>
        <p:nvSpPr>
          <p:cNvPr id="3" name="Text: 08"/>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08</a:t>
            </a:r>
          </a:p>
        </p:txBody>
      </p:sp>
      <p:sp>
        <p:nvSpPr>
          <p:cNvPr id="4" name="Text: Primii utilizatori, înainte de extinder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Validarea pieței începe în Iași</a:t>
            </a:r>
          </a:p>
        </p:txBody>
      </p:sp>
      <p:sp>
        <p:nvSpPr>
          <p:cNvPr id="5" name="Text: Ipoteze de lucru, 2026 · Nu reprezintă ven"/>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Plan propus · 18.10.2026 · nu reprezintă tracțiune comercială</a:t>
            </a:r>
          </a:p>
        </p:txBody>
      </p:sp>
      <p:sp>
        <p:nvSpPr>
          <p:cNvPr id="11" name="Text: Scenariu ipotetic; organizațiile și conver"/>
          <p:cNvSpPr txBox="1"/>
          <p:nvPr/>
        </p:nvSpPr>
        <p:spPr>
          <a:xfrm>
            <a:off x="594360" y="589788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Fără listă validată de clienți sau dimensiune de piață măsurată</a:t>
            </a:r>
          </a:p>
        </p:txBody>
      </p:sp>
      <p:grpSp>
        <p:nvGrpSpPr>
          <p:cNvPr id="12" name="reveal:s08_first_case"/>
          <p:cNvGrpSpPr/>
          <p:nvPr/>
        </p:nvGrpSpPr>
        <p:grpSpPr>
          <a:xfrm>
            <a:off x="594360" y="2011680"/>
            <a:ext cx="10972800" cy="777240"/>
            <a:chOff x="594360" y="2011680"/>
            <a:chExt cx="10972800" cy="777240"/>
          </a:xfrm>
        </p:grpSpPr>
        <p:sp>
          <p:nvSpPr>
            <p:cNvPr id="6" name="Text: Iași: primul specialist și un caz de lucru"/>
            <p:cNvSpPr txBox="1"/>
            <p:nvPr/>
          </p:nvSpPr>
          <p:spPr>
            <a:xfrm>
              <a:off x="594360" y="2011680"/>
              <a:ext cx="10972800" cy="777240"/>
            </a:xfrm>
            <a:prstGeom prst="rect">
              <a:avLst/>
            </a:prstGeom>
            <a:noFill/>
            <a:effectLst/>
          </p:spPr>
          <p:txBody>
            <a:bodyPr wrap="square" lIns="0" tIns="0" rIns="0" bIns="0" anchor="t">
              <a:spAutoFit/>
            </a:bodyPr>
            <a:lstStyle/>
            <a:p>
              <a:pPr>
                <a:lnSpc>
                  <a:spcPct val="106000"/>
                </a:lnSpc>
                <a:spcAft>
                  <a:spcPts val="700"/>
                </a:spcAft>
              </a:pPr>
              <a:r>
                <a:rPr sz="2700" b="1">
                  <a:solidFill>
                    <a:srgbClr val="101820"/>
                  </a:solidFill>
                  <a:latin typeface="Calibri"/>
                </a:rPr>
                <a:t>Iași: propunem un prim caz cu un specialist</a:t>
              </a:r>
            </a:p>
          </p:txBody>
        </p:sp>
      </p:grpSp>
      <p:grpSp>
        <p:nvGrpSpPr>
          <p:cNvPr id="13" name="reveal:s08_outreach"/>
          <p:cNvGrpSpPr/>
          <p:nvPr/>
        </p:nvGrpSpPr>
        <p:grpSpPr>
          <a:xfrm>
            <a:off x="594360" y="2816352"/>
            <a:ext cx="10972800" cy="1572768"/>
            <a:chOff x="594360" y="2816352"/>
            <a:chExt cx="10972800" cy="1572768"/>
          </a:xfrm>
        </p:grpSpPr>
        <p:sp>
          <p:nvSpPr>
            <p:cNvPr id="7" name="Text: Apoi: listă de 10 organizații de interviev"/>
            <p:cNvSpPr txBox="1"/>
            <p:nvPr/>
          </p:nvSpPr>
          <p:spPr>
            <a:xfrm>
              <a:off x="594360" y="2816352"/>
              <a:ext cx="10972800" cy="777240"/>
            </a:xfrm>
            <a:prstGeom prst="rect">
              <a:avLst/>
            </a:prstGeom>
            <a:noFill/>
            <a:effectLst/>
          </p:spPr>
          <p:txBody>
            <a:bodyPr wrap="square" lIns="0" tIns="0" rIns="0" bIns="0" anchor="t">
              <a:spAutoFit/>
            </a:bodyPr>
            <a:lstStyle/>
            <a:p>
              <a:pPr>
                <a:lnSpc>
                  <a:spcPct val="106000"/>
                </a:lnSpc>
                <a:spcAft>
                  <a:spcPts val="700"/>
                </a:spcAft>
              </a:pPr>
              <a:r>
                <a:rPr sz="2400" b="0">
                  <a:solidFill>
                    <a:srgbClr val="101820"/>
                  </a:solidFill>
                  <a:latin typeface="Calibri"/>
                </a:rPr>
                <a:t>Apoi: identificăm organizații de intervievat</a:t>
              </a:r>
            </a:p>
          </p:txBody>
        </p:sp>
        <p:sp>
          <p:nvSpPr>
            <p:cNvPr id="8" name="Text: Canal propus: introduceri prin mentori și "/>
            <p:cNvSpPr txBox="1"/>
            <p:nvPr/>
          </p:nvSpPr>
          <p:spPr>
            <a:xfrm>
              <a:off x="594360" y="3611880"/>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101820"/>
                  </a:solidFill>
                  <a:latin typeface="Calibri"/>
                </a:rPr>
                <a:t>Canal propus: introduceri prin mentori și comunități de mobilitate</a:t>
              </a:r>
            </a:p>
          </p:txBody>
        </p:sp>
      </p:grpSp>
      <p:grpSp>
        <p:nvGrpSpPr>
          <p:cNvPr id="14" name="reveal:s08_commercial"/>
          <p:cNvGrpSpPr/>
          <p:nvPr/>
        </p:nvGrpSpPr>
        <p:grpSpPr>
          <a:xfrm>
            <a:off x="594360" y="4617720"/>
            <a:ext cx="10972800" cy="1143000"/>
            <a:chOff x="594360" y="4617720"/>
            <a:chExt cx="10972800" cy="1143000"/>
          </a:xfrm>
        </p:grpSpPr>
        <p:sp>
          <p:nvSpPr>
            <p:cNvPr id="9" name="Text: Exercițiu comercial"/>
            <p:cNvSpPr txBox="1"/>
            <p:nvPr/>
          </p:nvSpPr>
          <p:spPr>
            <a:xfrm>
              <a:off x="594360" y="4617720"/>
              <a:ext cx="10972800" cy="36576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Criteriul propus pentru continuare</a:t>
              </a:r>
            </a:p>
          </p:txBody>
        </p:sp>
        <p:sp>
          <p:nvSpPr>
            <p:cNvPr id="10" name="Text: 10 × 18.000 € = 180.000 € / an"/>
            <p:cNvSpPr txBox="1"/>
            <p:nvPr/>
          </p:nvSpPr>
          <p:spPr>
            <a:xfrm>
              <a:off x="594360" y="5093208"/>
              <a:ext cx="10972800" cy="667512"/>
            </a:xfrm>
            <a:prstGeom prst="rect">
              <a:avLst/>
            </a:prstGeom>
            <a:noFill/>
            <a:effectLst/>
          </p:spPr>
          <p:txBody>
            <a:bodyPr wrap="square" lIns="0" tIns="0" rIns="0" bIns="0" anchor="t">
              <a:spAutoFit/>
            </a:bodyPr>
            <a:lstStyle/>
            <a:p>
              <a:pPr>
                <a:lnSpc>
                  <a:spcPct val="106000"/>
                </a:lnSpc>
                <a:spcAft>
                  <a:spcPts val="700"/>
                </a:spcAft>
              </a:pPr>
              <a:r>
                <a:rPr sz="3500" b="1">
                  <a:solidFill>
                    <a:srgbClr val="101820"/>
                  </a:solidFill>
                  <a:latin typeface="Calibri"/>
                </a:rPr>
                <a:t>Utilitate și plată validate</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O / ECHIP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O / ECHIPA</a:t>
            </a:r>
          </a:p>
        </p:txBody>
      </p:sp>
      <p:sp>
        <p:nvSpPr>
          <p:cNvPr id="3" name="Text: 09"/>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09</a:t>
            </a:r>
          </a:p>
        </p:txBody>
      </p:sp>
      <p:sp>
        <p:nvSpPr>
          <p:cNvPr id="4" name="Text: ARION"/>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ARION</a:t>
            </a:r>
          </a:p>
        </p:txBody>
      </p:sp>
      <p:sp>
        <p:nvSpPr>
          <p:cNvPr id="5" name="Text: Responsabilități confirmate de echipă · Ce"/>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Nume și responsabilități furnizate de echipă · 18.10.2026</a:t>
            </a:r>
          </a:p>
        </p:txBody>
      </p:sp>
      <p:grpSp>
        <p:nvGrpSpPr>
          <p:cNvPr id="9" name="reveal:s09_member_1"/>
          <p:cNvGrpSpPr/>
          <p:nvPr/>
        </p:nvGrpSpPr>
        <p:grpSpPr>
          <a:xfrm>
            <a:off x="594360" y="2423160"/>
            <a:ext cx="3429000" cy="2331720"/>
            <a:chOff x="594360" y="2423160"/>
            <a:chExt cx="3429000" cy="2331720"/>
          </a:xfrm>
        </p:grpSpPr>
        <p:sp>
          <p:nvSpPr>
            <p:cNvPr id="6" name="Rectangle 5"/>
            <p:cNvSpPr/>
            <p:nvPr/>
          </p:nvSpPr>
          <p:spPr>
            <a:xfrm>
              <a:off x="594360"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Iustin Fagateanu"/>
            <p:cNvSpPr txBox="1"/>
            <p:nvPr/>
          </p:nvSpPr>
          <p:spPr>
            <a:xfrm>
              <a:off x="777240"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Iustin Fagateanu</a:t>
              </a:r>
            </a:p>
          </p:txBody>
        </p:sp>
        <p:sp>
          <p:nvSpPr>
            <p:cNvPr id="8" name="Text: Frontend and&#10;web experience"/>
            <p:cNvSpPr txBox="1"/>
            <p:nvPr/>
          </p:nvSpPr>
          <p:spPr>
            <a:xfrm>
              <a:off x="777240"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Interfață și</a:t>
              </a:r>
            </a:p>
            <a:p>
              <a:pPr>
                <a:lnSpc>
                  <a:spcPct val="106000"/>
                </a:lnSpc>
                <a:spcAft>
                  <a:spcPts val="700"/>
                </a:spcAft>
              </a:pPr>
              <a:r>
                <a:rPr sz="2200" b="0">
                  <a:solidFill>
                    <a:srgbClr val="EDF2F6"/>
                  </a:solidFill>
                  <a:latin typeface="Calibri"/>
                </a:rPr>
                <a:t>experiență web</a:t>
              </a:r>
            </a:p>
          </p:txBody>
        </p:sp>
      </p:grpSp>
      <p:grpSp>
        <p:nvGrpSpPr>
          <p:cNvPr id="13" name="reveal:s09_member_2"/>
          <p:cNvGrpSpPr/>
          <p:nvPr/>
        </p:nvGrpSpPr>
        <p:grpSpPr>
          <a:xfrm>
            <a:off x="4379976" y="2423160"/>
            <a:ext cx="3429000" cy="2331720"/>
            <a:chOff x="4379976" y="2423160"/>
            <a:chExt cx="3429000" cy="2331720"/>
          </a:xfrm>
        </p:grpSpPr>
        <p:sp>
          <p:nvSpPr>
            <p:cNvPr id="10" name="Rectangle 9"/>
            <p:cNvSpPr/>
            <p:nvPr/>
          </p:nvSpPr>
          <p:spPr>
            <a:xfrm>
              <a:off x="4379976"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Alex Pintilie"/>
            <p:cNvSpPr txBox="1"/>
            <p:nvPr/>
          </p:nvSpPr>
          <p:spPr>
            <a:xfrm>
              <a:off x="4562856"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Alex Pintilie</a:t>
              </a:r>
            </a:p>
          </p:txBody>
        </p:sp>
        <p:sp>
          <p:nvSpPr>
            <p:cNvPr id="12" name="Text: Bootstrap and&#10;simulation foundation"/>
            <p:cNvSpPr txBox="1"/>
            <p:nvPr/>
          </p:nvSpPr>
          <p:spPr>
            <a:xfrm>
              <a:off x="4562856"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Inițializare proiect</a:t>
              </a:r>
            </a:p>
            <a:p>
              <a:pPr>
                <a:lnSpc>
                  <a:spcPct val="106000"/>
                </a:lnSpc>
                <a:spcAft>
                  <a:spcPts val="700"/>
                </a:spcAft>
              </a:pPr>
              <a:r>
                <a:rPr sz="2200" b="0">
                  <a:solidFill>
                    <a:srgbClr val="EDF2F6"/>
                  </a:solidFill>
                  <a:latin typeface="Calibri"/>
                </a:rPr>
                <a:t>și baza de simulare</a:t>
              </a:r>
            </a:p>
          </p:txBody>
        </p:sp>
      </p:grpSp>
      <p:grpSp>
        <p:nvGrpSpPr>
          <p:cNvPr id="17" name="reveal:s09_member_3"/>
          <p:cNvGrpSpPr/>
          <p:nvPr/>
        </p:nvGrpSpPr>
        <p:grpSpPr>
          <a:xfrm>
            <a:off x="8165592" y="2423160"/>
            <a:ext cx="3429000" cy="2331720"/>
            <a:chOff x="8165592" y="2423160"/>
            <a:chExt cx="3429000" cy="2331720"/>
          </a:xfrm>
        </p:grpSpPr>
        <p:sp>
          <p:nvSpPr>
            <p:cNvPr id="14" name="Rectangle 13"/>
            <p:cNvSpPr/>
            <p:nvPr/>
          </p:nvSpPr>
          <p:spPr>
            <a:xfrm>
              <a:off x="8165592"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Fagateanu Eusebiu"/>
            <p:cNvSpPr txBox="1"/>
            <p:nvPr/>
          </p:nvSpPr>
          <p:spPr>
            <a:xfrm>
              <a:off x="8348471"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Fagateanu Eusebiu</a:t>
              </a:r>
            </a:p>
          </p:txBody>
        </p:sp>
        <p:sp>
          <p:nvSpPr>
            <p:cNvPr id="16" name="Text: Backend"/>
            <p:cNvSpPr txBox="1"/>
            <p:nvPr/>
          </p:nvSpPr>
          <p:spPr>
            <a:xfrm>
              <a:off x="8348471"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Dezvoltare backend</a:t>
              </a:r>
            </a:p>
          </p:txBody>
        </p:sp>
      </p:grpSp>
      <p:sp>
        <p:nvSpPr>
          <p:cNvPr id="18" name="Text: Următoarea nevoie: validare cu un speciali"/>
          <p:cNvSpPr txBox="1"/>
          <p:nvPr/>
        </p:nvSpPr>
        <p:spPr>
          <a:xfrm>
            <a:off x="594360" y="5413248"/>
            <a:ext cx="10972800" cy="73152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Următoarea nevoie: validare cu un specialist în mobilitate</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10" presetClass="entr" presetSubtype="0" fill="hold" nodeType="afterEffect">
                                  <p:stCondLst>
                                    <p:cond delay="6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860"/>
                            </p:stCondLst>
                            <p:childTnLst>
                              <p:par>
                                <p:cTn id="13" presetID="10" presetClass="entr" presetSubtype="0" fill="hold" nodeType="afterEffect">
                                  <p:stCondLst>
                                    <p:cond delay="6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CE URMEAZĂ"/>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CE URMEAZĂ</a:t>
            </a:r>
          </a:p>
        </p:txBody>
      </p:sp>
      <p:sp>
        <p:nvSpPr>
          <p:cNvPr id="3" name="Text: 10"/>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10</a:t>
            </a:r>
          </a:p>
        </p:txBody>
      </p:sp>
      <p:sp>
        <p:nvSpPr>
          <p:cNvPr id="4" name="Text: Prima comparație pe date verifica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Următorul pas: un caz validat</a:t>
            </a:r>
          </a:p>
        </p:txBody>
      </p:sp>
      <p:cxnSp>
        <p:nvCxnSpPr>
          <p:cNvPr id="11" name="Connector 10"/>
          <p:cNvCxnSpPr/>
          <p:nvPr/>
        </p:nvCxnSpPr>
        <p:spPr>
          <a:xfrm>
            <a:off x="3429000" y="2423160"/>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96912" y="2423160"/>
            <a:ext cx="566928"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sp>
        <p:nvSpPr>
          <p:cNvPr id="13" name="Text: Măsurăm timpul pregătirii comparației și t"/>
          <p:cNvSpPr txBox="1"/>
          <p:nvPr/>
        </p:nvSpPr>
        <p:spPr>
          <a:xfrm>
            <a:off x="594360" y="3401568"/>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Măsurăm timpul de lucru și corectitudinea propunerilor.</a:t>
            </a:r>
          </a:p>
        </p:txBody>
      </p:sp>
      <p:sp>
        <p:nvSpPr>
          <p:cNvPr id="16" name="Text: Un caz verificabil. Apoi extindere."/>
          <p:cNvSpPr txBox="1"/>
          <p:nvPr/>
        </p:nvSpPr>
        <p:spPr>
          <a:xfrm>
            <a:off x="594360" y="6071616"/>
            <a:ext cx="10972800" cy="457200"/>
          </a:xfrm>
          <a:prstGeom prst="rect">
            <a:avLst/>
          </a:prstGeom>
          <a:noFill/>
          <a:effectLst/>
        </p:spPr>
        <p:txBody>
          <a:bodyPr wrap="square" lIns="0" tIns="0" rIns="0" bIns="0" anchor="t">
            <a:spAutoFit/>
          </a:bodyPr>
          <a:lstStyle/>
          <a:p>
            <a:pPr>
              <a:lnSpc>
                <a:spcPct val="106000"/>
              </a:lnSpc>
              <a:spcAft>
                <a:spcPts val="700"/>
              </a:spcAft>
            </a:pPr>
            <a:r>
              <a:rPr sz="2200" b="0">
                <a:solidFill>
                  <a:srgbClr val="EFC47C"/>
                </a:solidFill>
                <a:latin typeface="Calibri"/>
              </a:rPr>
              <a:t>Un caz verificabil. Apoi extindere.</a:t>
            </a:r>
          </a:p>
        </p:txBody>
      </p:sp>
      <p:grpSp>
        <p:nvGrpSpPr>
          <p:cNvPr id="17" name="reveal:s10_priority_1"/>
          <p:cNvGrpSpPr/>
          <p:nvPr/>
        </p:nvGrpSpPr>
        <p:grpSpPr>
          <a:xfrm>
            <a:off x="594360" y="2029968"/>
            <a:ext cx="3337560" cy="1106424"/>
            <a:chOff x="594360" y="2029968"/>
            <a:chExt cx="3337560" cy="1106424"/>
          </a:xfrm>
        </p:grpSpPr>
        <p:sp>
          <p:nvSpPr>
            <p:cNvPr id="5" name="Text: Date"/>
            <p:cNvSpPr txBox="1"/>
            <p:nvPr/>
          </p:nvSpPr>
          <p:spPr>
            <a:xfrm>
              <a:off x="594360"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Date locale</a:t>
              </a:r>
            </a:p>
          </p:txBody>
        </p:sp>
        <p:sp>
          <p:nvSpPr>
            <p:cNvPr id="6" name="Text: documentate"/>
            <p:cNvSpPr txBox="1"/>
            <p:nvPr/>
          </p:nvSpPr>
          <p:spPr>
            <a:xfrm>
              <a:off x="594360"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verificate</a:t>
              </a:r>
            </a:p>
          </p:txBody>
        </p:sp>
      </p:grpSp>
      <p:grpSp>
        <p:nvGrpSpPr>
          <p:cNvPr id="18" name="reveal:s10_priority_2"/>
          <p:cNvGrpSpPr/>
          <p:nvPr/>
        </p:nvGrpSpPr>
        <p:grpSpPr>
          <a:xfrm>
            <a:off x="4416552" y="2029968"/>
            <a:ext cx="3337560" cy="1106424"/>
            <a:chOff x="4416552" y="2029968"/>
            <a:chExt cx="3337560" cy="1106424"/>
          </a:xfrm>
        </p:grpSpPr>
        <p:sp>
          <p:nvSpPr>
            <p:cNvPr id="7" name="Text: Calibrare și"/>
            <p:cNvSpPr txBox="1"/>
            <p:nvPr/>
          </p:nvSpPr>
          <p:spPr>
            <a:xfrm>
              <a:off x="4416552"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LLM cu</a:t>
              </a:r>
            </a:p>
          </p:txBody>
        </p:sp>
        <p:sp>
          <p:nvSpPr>
            <p:cNvPr id="8" name="Text: verificare"/>
            <p:cNvSpPr txBox="1"/>
            <p:nvPr/>
          </p:nvSpPr>
          <p:spPr>
            <a:xfrm>
              <a:off x="4416552"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validare</a:t>
              </a:r>
            </a:p>
          </p:txBody>
        </p:sp>
      </p:grpSp>
      <p:grpSp>
        <p:nvGrpSpPr>
          <p:cNvPr id="19" name="reveal:s10_priority_3"/>
          <p:cNvGrpSpPr/>
          <p:nvPr/>
        </p:nvGrpSpPr>
        <p:grpSpPr>
          <a:xfrm>
            <a:off x="8238744" y="2029968"/>
            <a:ext cx="3337560" cy="1106424"/>
            <a:chOff x="8238744" y="2029968"/>
            <a:chExt cx="3337560" cy="1106424"/>
          </a:xfrm>
        </p:grpSpPr>
        <p:sp>
          <p:nvSpPr>
            <p:cNvPr id="9" name="Text: Test cu"/>
            <p:cNvSpPr txBox="1"/>
            <p:nvPr/>
          </p:nvSpPr>
          <p:spPr>
            <a:xfrm>
              <a:off x="8238744"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Test cu</a:t>
              </a:r>
            </a:p>
          </p:txBody>
        </p:sp>
        <p:sp>
          <p:nvSpPr>
            <p:cNvPr id="10" name="Text: un specialist"/>
            <p:cNvSpPr txBox="1"/>
            <p:nvPr/>
          </p:nvSpPr>
          <p:spPr>
            <a:xfrm>
              <a:off x="8238744"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un specialist</a:t>
              </a:r>
            </a:p>
          </p:txBody>
        </p:sp>
      </p:grpSp>
      <p:grpSp>
        <p:nvGrpSpPr>
          <p:cNvPr id="20" name="reveal:s10_request"/>
          <p:cNvGrpSpPr/>
          <p:nvPr/>
        </p:nvGrpSpPr>
        <p:grpSpPr>
          <a:xfrm>
            <a:off x="594360" y="4343400"/>
            <a:ext cx="10972800" cy="1636776"/>
            <a:chOff x="594360" y="4343400"/>
            <a:chExt cx="10972800" cy="1636776"/>
          </a:xfrm>
        </p:grpSpPr>
        <p:sp>
          <p:nvSpPr>
            <p:cNvPr id="14" name="Text: Cererea noastră"/>
            <p:cNvSpPr txBox="1"/>
            <p:nvPr/>
          </p:nvSpPr>
          <p:spPr>
            <a:xfrm>
              <a:off x="594360" y="4343400"/>
              <a:ext cx="10972800" cy="36576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Cererea noastră</a:t>
              </a:r>
            </a:p>
          </p:txBody>
        </p:sp>
        <p:sp>
          <p:nvSpPr>
            <p:cNvPr id="15" name="Text: O introducere către un specialist&#10;și acces"/>
            <p:cNvSpPr txBox="1"/>
            <p:nvPr/>
          </p:nvSpPr>
          <p:spPr>
            <a:xfrm>
              <a:off x="594360" y="4773168"/>
              <a:ext cx="10972800" cy="1207008"/>
            </a:xfrm>
            <a:prstGeom prst="rect">
              <a:avLst/>
            </a:prstGeom>
            <a:noFill/>
            <a:effectLst/>
          </p:spPr>
          <p:txBody>
            <a:bodyPr wrap="square" lIns="0" tIns="0" rIns="0" bIns="0" anchor="t">
              <a:spAutoFit/>
            </a:bodyPr>
            <a:lstStyle/>
            <a:p>
              <a:pPr>
                <a:lnSpc>
                  <a:spcPct val="106000"/>
                </a:lnSpc>
                <a:spcAft>
                  <a:spcPts val="700"/>
                </a:spcAft>
              </a:pPr>
              <a:r>
                <a:rPr sz="3200" b="1">
                  <a:solidFill>
                    <a:srgbClr val="EDF2F6"/>
                  </a:solidFill>
                  <a:latin typeface="Calibri"/>
                </a:rPr>
                <a:t>O introducere către un specialist</a:t>
              </a:r>
            </a:p>
            <a:p>
              <a:pPr>
                <a:lnSpc>
                  <a:spcPct val="106000"/>
                </a:lnSpc>
                <a:spcAft>
                  <a:spcPts val="700"/>
                </a:spcAft>
              </a:pPr>
              <a:r>
                <a:rPr sz="3200" b="1">
                  <a:solidFill>
                    <a:srgbClr val="EDF2F6"/>
                  </a:solidFill>
                  <a:latin typeface="Calibri"/>
                </a:rPr>
                <a:t>și acces la un set de date local.</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ANEXA A / DOVEZI"/>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ANEXA A / DOVEZI</a:t>
            </a:r>
          </a:p>
        </p:txBody>
      </p:sp>
      <p:sp>
        <p:nvSpPr>
          <p:cNvPr id="3" name="Text: 11"/>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11</a:t>
            </a:r>
          </a:p>
        </p:txBody>
      </p:sp>
      <p:sp>
        <p:nvSpPr>
          <p:cNvPr id="4" name="Text: Ce este verificat astăzi"/>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Verificări tehnice, nu impact urban</a:t>
            </a:r>
          </a:p>
        </p:txBody>
      </p:sp>
      <p:sp>
        <p:nvSpPr>
          <p:cNvPr id="5" name="Text: Sursă: verificări locale ale repository-ul"/>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Verificări reluate la 18.10.2026 · npm run check · detalii în note</a:t>
            </a:r>
          </a:p>
        </p:txBody>
      </p:sp>
      <p:sp>
        <p:nvSpPr>
          <p:cNvPr id="8" name="Text: Typecheck&#10;web · mobile · shared"/>
          <p:cNvSpPr txBox="1"/>
          <p:nvPr/>
        </p:nvSpPr>
        <p:spPr>
          <a:xfrm>
            <a:off x="5669280" y="2148840"/>
            <a:ext cx="5897880" cy="1097280"/>
          </a:xfrm>
          <a:prstGeom prst="rect">
            <a:avLst/>
          </a:prstGeom>
          <a:noFill/>
          <a:effectLst/>
        </p:spPr>
        <p:txBody>
          <a:bodyPr wrap="square" lIns="0" tIns="0" rIns="0" bIns="0" anchor="t">
            <a:spAutoFit/>
          </a:bodyPr>
          <a:lstStyle/>
          <a:p>
            <a:pPr>
              <a:lnSpc>
                <a:spcPct val="106000"/>
              </a:lnSpc>
              <a:spcAft>
                <a:spcPts val="700"/>
              </a:spcAft>
            </a:pPr>
            <a:r>
              <a:rPr sz="2600" b="1">
                <a:solidFill>
                  <a:srgbClr val="101820"/>
                </a:solidFill>
                <a:latin typeface="Calibri"/>
              </a:rPr>
              <a:t>Verificare TypeScript</a:t>
            </a:r>
          </a:p>
          <a:p>
            <a:pPr>
              <a:lnSpc>
                <a:spcPct val="106000"/>
              </a:lnSpc>
              <a:spcAft>
                <a:spcPts val="700"/>
              </a:spcAft>
            </a:pPr>
            <a:r>
              <a:rPr sz="2600" b="1">
                <a:solidFill>
                  <a:srgbClr val="101820"/>
                </a:solidFill>
                <a:latin typeface="Calibri"/>
              </a:rPr>
              <a:t>web · mobil · comun</a:t>
            </a:r>
          </a:p>
        </p:txBody>
      </p:sp>
      <p:sp>
        <p:nvSpPr>
          <p:cNvPr id="9" name="Text: Build web&#10;/ și /app"/>
          <p:cNvSpPr txBox="1"/>
          <p:nvPr/>
        </p:nvSpPr>
        <p:spPr>
          <a:xfrm>
            <a:off x="5669280" y="3657600"/>
            <a:ext cx="5897880" cy="1097280"/>
          </a:xfrm>
          <a:prstGeom prst="rect">
            <a:avLst/>
          </a:prstGeom>
          <a:noFill/>
          <a:effectLst/>
        </p:spPr>
        <p:txBody>
          <a:bodyPr wrap="square" lIns="0" tIns="0" rIns="0" bIns="0" anchor="t">
            <a:spAutoFit/>
          </a:bodyPr>
          <a:lstStyle/>
          <a:p>
            <a:pPr>
              <a:lnSpc>
                <a:spcPct val="106000"/>
              </a:lnSpc>
              <a:spcAft>
                <a:spcPts val="700"/>
              </a:spcAft>
            </a:pPr>
            <a:r>
              <a:rPr sz="2600" b="1">
                <a:solidFill>
                  <a:srgbClr val="101820"/>
                </a:solidFill>
                <a:latin typeface="Calibri"/>
              </a:rPr>
              <a:t>Compilare web</a:t>
            </a:r>
          </a:p>
          <a:p>
            <a:pPr>
              <a:lnSpc>
                <a:spcPct val="106000"/>
              </a:lnSpc>
              <a:spcAft>
                <a:spcPts val="700"/>
              </a:spcAft>
            </a:pPr>
            <a:r>
              <a:rPr sz="2600" b="1">
                <a:solidFill>
                  <a:srgbClr val="101820"/>
                </a:solidFill>
                <a:latin typeface="Calibri"/>
              </a:rPr>
              <a:t>/ și /app</a:t>
            </a:r>
          </a:p>
        </p:txBody>
      </p:sp>
      <p:sp>
        <p:nvSpPr>
          <p:cNvPr id="10" name="Text: API și graf pietonal implementate; calibra"/>
          <p:cNvSpPr txBox="1"/>
          <p:nvPr/>
        </p:nvSpPr>
        <p:spPr>
          <a:xfrm>
            <a:off x="594360" y="5303520"/>
            <a:ext cx="10972800" cy="685800"/>
          </a:xfrm>
          <a:prstGeom prst="rect">
            <a:avLst/>
          </a:prstGeom>
          <a:noFill/>
          <a:effectLst/>
        </p:spPr>
        <p:txBody>
          <a:bodyPr wrap="square" lIns="0" tIns="0" rIns="0" bIns="0" anchor="t">
            <a:spAutoFit/>
          </a:bodyPr>
          <a:lstStyle/>
          <a:p>
            <a:pPr>
              <a:lnSpc>
                <a:spcPct val="106000"/>
              </a:lnSpc>
              <a:spcAft>
                <a:spcPts val="700"/>
              </a:spcAft>
            </a:pPr>
            <a:r>
              <a:rPr sz="2100" b="1">
                <a:solidFill>
                  <a:srgbClr val="101820"/>
                </a:solidFill>
                <a:latin typeface="Calibri"/>
              </a:rPr>
              <a:t>API și SIM: teste offline; fără validare în teren</a:t>
            </a:r>
          </a:p>
        </p:txBody>
      </p:sp>
      <p:sp>
        <p:nvSpPr>
          <p:cNvPr id="11" name="Text: AI cloud și SUMO din UI — neintegrate"/>
          <p:cNvSpPr txBox="1"/>
          <p:nvPr/>
        </p:nvSpPr>
        <p:spPr>
          <a:xfrm>
            <a:off x="594360" y="6025896"/>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LLM și SUMO în interfață: neintegrate</a:t>
            </a:r>
          </a:p>
        </p:txBody>
      </p:sp>
      <p:grpSp>
        <p:nvGrpSpPr>
          <p:cNvPr id="12" name="reveal:s11_test_result"/>
          <p:cNvGrpSpPr/>
          <p:nvPr/>
        </p:nvGrpSpPr>
        <p:grpSpPr>
          <a:xfrm>
            <a:off x="594360" y="2084831"/>
            <a:ext cx="4389120" cy="2011681"/>
            <a:chOff x="594360" y="2084831"/>
            <a:chExt cx="4389120" cy="2011681"/>
          </a:xfrm>
        </p:grpSpPr>
        <p:sp>
          <p:nvSpPr>
            <p:cNvPr id="6" name="Text: 9 / 9"/>
            <p:cNvSpPr txBox="1"/>
            <p:nvPr/>
          </p:nvSpPr>
          <p:spPr>
            <a:xfrm>
              <a:off x="594360" y="2084831"/>
              <a:ext cx="4389120" cy="1188720"/>
            </a:xfrm>
            <a:prstGeom prst="rect">
              <a:avLst/>
            </a:prstGeom>
            <a:noFill/>
            <a:effectLst/>
          </p:spPr>
          <p:txBody>
            <a:bodyPr wrap="square" lIns="0" tIns="0" rIns="0" bIns="0" anchor="t">
              <a:spAutoFit/>
            </a:bodyPr>
            <a:lstStyle/>
            <a:p>
              <a:pPr>
                <a:lnSpc>
                  <a:spcPct val="106000"/>
                </a:lnSpc>
                <a:spcAft>
                  <a:spcPts val="700"/>
                </a:spcAft>
              </a:pPr>
              <a:r>
                <a:rPr sz="7200" b="1">
                  <a:solidFill>
                    <a:srgbClr val="101820"/>
                  </a:solidFill>
                  <a:latin typeface="Calibri"/>
                </a:rPr>
                <a:t>9 / 9</a:t>
              </a:r>
            </a:p>
          </p:txBody>
        </p:sp>
        <p:sp>
          <p:nvSpPr>
            <p:cNvPr id="7" name="Text: teste frontend"/>
            <p:cNvSpPr txBox="1"/>
            <p:nvPr/>
          </p:nvSpPr>
          <p:spPr>
            <a:xfrm>
              <a:off x="594360" y="3502152"/>
              <a:ext cx="4389120" cy="594360"/>
            </a:xfrm>
            <a:prstGeom prst="rect">
              <a:avLst/>
            </a:prstGeom>
            <a:noFill/>
            <a:effectLst/>
          </p:spPr>
          <p:txBody>
            <a:bodyPr wrap="square" lIns="0" tIns="0" rIns="0" bIns="0" anchor="t">
              <a:spAutoFit/>
            </a:bodyPr>
            <a:lstStyle/>
            <a:p>
              <a:pPr>
                <a:lnSpc>
                  <a:spcPct val="106000"/>
                </a:lnSpc>
                <a:spcAft>
                  <a:spcPts val="700"/>
                </a:spcAft>
              </a:pPr>
              <a:r>
                <a:rPr sz="2500" b="0">
                  <a:solidFill>
                    <a:srgbClr val="101820"/>
                  </a:solidFill>
                  <a:latin typeface="Calibri"/>
                </a:rPr>
                <a:t>teste frontend</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NEXA B / AI"/>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ANEXA B / AI</a:t>
            </a:r>
          </a:p>
        </p:txBody>
      </p:sp>
      <p:sp>
        <p:nvSpPr>
          <p:cNvPr id="3" name="Text: 12"/>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12</a:t>
            </a:r>
          </a:p>
        </p:txBody>
      </p:sp>
      <p:sp>
        <p:nvSpPr>
          <p:cNvPr id="4" name="Text: Rolul AI în fluxul propus"/>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Dovezi și reguli înainte de LLM</a:t>
            </a:r>
          </a:p>
        </p:txBody>
      </p:sp>
      <p:sp>
        <p:nvSpPr>
          <p:cNvPr id="5" name="Text: Sursă: docs/ARCHITECTURE.md; stare verific"/>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Cod: sim/proposal_context.py · proposals.py · proposal_validation.py · 18.10.2026</a:t>
            </a:r>
          </a:p>
        </p:txBody>
      </p:sp>
      <p:grpSp>
        <p:nvGrpSpPr>
          <p:cNvPr id="21" name="reveal:s12_proposed_flow"/>
          <p:cNvGrpSpPr/>
          <p:nvPr/>
        </p:nvGrpSpPr>
        <p:grpSpPr>
          <a:xfrm>
            <a:off x="594360" y="2423160"/>
            <a:ext cx="11000232" cy="1645920"/>
            <a:chOff x="594360" y="2423160"/>
            <a:chExt cx="11000232" cy="1645920"/>
          </a:xfrm>
        </p:grpSpPr>
        <p:sp>
          <p:nvSpPr>
            <p:cNvPr id="6" name="Rectangle 5"/>
            <p:cNvSpPr/>
            <p:nvPr/>
          </p:nvSpPr>
          <p:spPr>
            <a:xfrm>
              <a:off x="594360" y="2423160"/>
              <a:ext cx="2359152" cy="16459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Dovezi"/>
            <p:cNvSpPr txBox="1"/>
            <p:nvPr/>
          </p:nvSpPr>
          <p:spPr>
            <a:xfrm>
              <a:off x="777240" y="2587752"/>
              <a:ext cx="199339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8BC9ED"/>
                  </a:solidFill>
                  <a:latin typeface="Calibri"/>
                </a:rPr>
                <a:t>Dovezi</a:t>
              </a:r>
            </a:p>
          </p:txBody>
        </p:sp>
        <p:sp>
          <p:nvSpPr>
            <p:cNvPr id="8" name="Text: și catalog"/>
            <p:cNvSpPr txBox="1"/>
            <p:nvPr/>
          </p:nvSpPr>
          <p:spPr>
            <a:xfrm>
              <a:off x="777240" y="3218688"/>
              <a:ext cx="1993392" cy="758952"/>
            </a:xfrm>
            <a:prstGeom prst="rect">
              <a:avLst/>
            </a:prstGeom>
            <a:noFill/>
            <a:effectLst/>
          </p:spPr>
          <p:txBody>
            <a:bodyPr wrap="square" lIns="0" tIns="0" rIns="0" bIns="0" anchor="t">
              <a:spAutoFit/>
            </a:bodyPr>
            <a:lstStyle/>
            <a:p>
              <a:pPr>
                <a:lnSpc>
                  <a:spcPct val="106000"/>
                </a:lnSpc>
                <a:spcAft>
                  <a:spcPts val="700"/>
                </a:spcAft>
              </a:pPr>
              <a:r>
                <a:rPr sz="2000" b="0">
                  <a:solidFill>
                    <a:srgbClr val="EDF2F6"/>
                  </a:solidFill>
                  <a:latin typeface="Calibri"/>
                </a:rPr>
                <a:t>și catalog</a:t>
              </a:r>
            </a:p>
          </p:txBody>
        </p:sp>
        <p:cxnSp>
          <p:nvCxnSpPr>
            <p:cNvPr id="9" name="Connector 8"/>
            <p:cNvCxnSpPr/>
            <p:nvPr/>
          </p:nvCxnSpPr>
          <p:spPr>
            <a:xfrm>
              <a:off x="2953512" y="3246120"/>
              <a:ext cx="521208" cy="0"/>
            </a:xfrm>
            <a:prstGeom prst="line">
              <a:avLst/>
            </a:prstGeom>
            <a:ln w="22860">
              <a:solidFill>
                <a:srgbClr val="8BC9ED"/>
              </a:solidFill>
              <a:prstDash val="dash"/>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474720" y="2423160"/>
              <a:ext cx="2359152" cy="16459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LLM viitor"/>
            <p:cNvSpPr txBox="1"/>
            <p:nvPr/>
          </p:nvSpPr>
          <p:spPr>
            <a:xfrm>
              <a:off x="3657600" y="2587752"/>
              <a:ext cx="199339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8BC9ED"/>
                  </a:solidFill>
                  <a:latin typeface="Calibri"/>
                </a:rPr>
                <a:t>LLM viitor</a:t>
              </a:r>
            </a:p>
          </p:txBody>
        </p:sp>
        <p:sp>
          <p:nvSpPr>
            <p:cNvPr id="12" name="Text: Alternative"/>
            <p:cNvSpPr txBox="1"/>
            <p:nvPr/>
          </p:nvSpPr>
          <p:spPr>
            <a:xfrm>
              <a:off x="3657600" y="3218688"/>
              <a:ext cx="1993392" cy="758952"/>
            </a:xfrm>
            <a:prstGeom prst="rect">
              <a:avLst/>
            </a:prstGeom>
            <a:noFill/>
            <a:effectLst/>
          </p:spPr>
          <p:txBody>
            <a:bodyPr wrap="square" lIns="0" tIns="0" rIns="0" bIns="0" anchor="t">
              <a:spAutoFit/>
            </a:bodyPr>
            <a:lstStyle/>
            <a:p>
              <a:pPr>
                <a:lnSpc>
                  <a:spcPct val="106000"/>
                </a:lnSpc>
                <a:spcAft>
                  <a:spcPts val="700"/>
                </a:spcAft>
              </a:pPr>
              <a:r>
                <a:rPr sz="2000" b="0">
                  <a:solidFill>
                    <a:srgbClr val="EDF2F6"/>
                  </a:solidFill>
                  <a:latin typeface="Calibri"/>
                </a:rPr>
                <a:t>Alternative</a:t>
              </a:r>
            </a:p>
          </p:txBody>
        </p:sp>
        <p:cxnSp>
          <p:nvCxnSpPr>
            <p:cNvPr id="13" name="Connector 12"/>
            <p:cNvCxnSpPr/>
            <p:nvPr/>
          </p:nvCxnSpPr>
          <p:spPr>
            <a:xfrm>
              <a:off x="5833872" y="3246120"/>
              <a:ext cx="521207" cy="0"/>
            </a:xfrm>
            <a:prstGeom prst="line">
              <a:avLst/>
            </a:prstGeom>
            <a:ln w="22860">
              <a:solidFill>
                <a:srgbClr val="8BC9ED"/>
              </a:solidFill>
              <a:prstDash val="dash"/>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355080" y="2423160"/>
              <a:ext cx="2359152" cy="16459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Reguli"/>
            <p:cNvSpPr txBox="1"/>
            <p:nvPr/>
          </p:nvSpPr>
          <p:spPr>
            <a:xfrm>
              <a:off x="6537960" y="2587752"/>
              <a:ext cx="199339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8BC9ED"/>
                  </a:solidFill>
                  <a:latin typeface="Calibri"/>
                </a:rPr>
                <a:t>Reguli</a:t>
              </a:r>
            </a:p>
          </p:txBody>
        </p:sp>
        <p:sp>
          <p:nvSpPr>
            <p:cNvPr id="16" name="Text: și geometrie"/>
            <p:cNvSpPr txBox="1"/>
            <p:nvPr/>
          </p:nvSpPr>
          <p:spPr>
            <a:xfrm>
              <a:off x="6537960" y="3218688"/>
              <a:ext cx="1993392" cy="758952"/>
            </a:xfrm>
            <a:prstGeom prst="rect">
              <a:avLst/>
            </a:prstGeom>
            <a:noFill/>
            <a:effectLst/>
          </p:spPr>
          <p:txBody>
            <a:bodyPr wrap="square" lIns="0" tIns="0" rIns="0" bIns="0" anchor="t">
              <a:spAutoFit/>
            </a:bodyPr>
            <a:lstStyle/>
            <a:p>
              <a:pPr>
                <a:lnSpc>
                  <a:spcPct val="106000"/>
                </a:lnSpc>
                <a:spcAft>
                  <a:spcPts val="700"/>
                </a:spcAft>
              </a:pPr>
              <a:r>
                <a:rPr sz="2000" b="0">
                  <a:solidFill>
                    <a:srgbClr val="EDF2F6"/>
                  </a:solidFill>
                  <a:latin typeface="Calibri"/>
                </a:rPr>
                <a:t>și geometrie</a:t>
              </a:r>
            </a:p>
          </p:txBody>
        </p:sp>
        <p:cxnSp>
          <p:nvCxnSpPr>
            <p:cNvPr id="17" name="Connector 16"/>
            <p:cNvCxnSpPr/>
            <p:nvPr/>
          </p:nvCxnSpPr>
          <p:spPr>
            <a:xfrm>
              <a:off x="8714232" y="3246120"/>
              <a:ext cx="521208"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235440" y="2423160"/>
              <a:ext cx="2359152" cy="16459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 Evaluare"/>
            <p:cNvSpPr txBox="1"/>
            <p:nvPr/>
          </p:nvSpPr>
          <p:spPr>
            <a:xfrm>
              <a:off x="9418319" y="2587752"/>
              <a:ext cx="199339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8BC9ED"/>
                  </a:solidFill>
                  <a:latin typeface="Calibri"/>
                </a:rPr>
                <a:t>Evaluare</a:t>
              </a:r>
            </a:p>
          </p:txBody>
        </p:sp>
        <p:sp>
          <p:nvSpPr>
            <p:cNvPr id="20" name="Text: independentă"/>
            <p:cNvSpPr txBox="1"/>
            <p:nvPr/>
          </p:nvSpPr>
          <p:spPr>
            <a:xfrm>
              <a:off x="9418319" y="3218688"/>
              <a:ext cx="1993392" cy="758952"/>
            </a:xfrm>
            <a:prstGeom prst="rect">
              <a:avLst/>
            </a:prstGeom>
            <a:noFill/>
            <a:effectLst/>
          </p:spPr>
          <p:txBody>
            <a:bodyPr wrap="square" lIns="0" tIns="0" rIns="0" bIns="0" anchor="t">
              <a:spAutoFit/>
            </a:bodyPr>
            <a:lstStyle/>
            <a:p>
              <a:pPr>
                <a:lnSpc>
                  <a:spcPct val="106000"/>
                </a:lnSpc>
                <a:spcAft>
                  <a:spcPts val="700"/>
                </a:spcAft>
              </a:pPr>
              <a:r>
                <a:rPr sz="2000" b="0">
                  <a:solidFill>
                    <a:srgbClr val="EDF2F6"/>
                  </a:solidFill>
                  <a:latin typeface="Calibri"/>
                </a:rPr>
                <a:t>independentă</a:t>
              </a:r>
            </a:p>
          </p:txBody>
        </p:sp>
      </p:grpSp>
      <p:sp>
        <p:nvSpPr>
          <p:cNvPr id="22" name="Text: Astăzi: propuneri deterministe și validare"/>
          <p:cNvSpPr txBox="1"/>
          <p:nvPr/>
        </p:nvSpPr>
        <p:spPr>
          <a:xfrm>
            <a:off x="594360" y="4443984"/>
            <a:ext cx="10972800" cy="548640"/>
          </a:xfrm>
          <a:prstGeom prst="rect">
            <a:avLst/>
          </a:prstGeom>
          <a:noFill/>
          <a:effectLst/>
        </p:spPr>
        <p:txBody>
          <a:bodyPr wrap="square" lIns="0" tIns="0" rIns="0" bIns="0" anchor="t">
            <a:spAutoFit/>
          </a:bodyPr>
          <a:lstStyle/>
          <a:p>
            <a:pPr>
              <a:lnSpc>
                <a:spcPct val="106000"/>
              </a:lnSpc>
              <a:spcAft>
                <a:spcPts val="700"/>
              </a:spcAft>
            </a:pPr>
            <a:r>
              <a:rPr sz="2700" b="1">
                <a:solidFill>
                  <a:srgbClr val="EFC47C"/>
                </a:solidFill>
                <a:latin typeface="Calibri"/>
              </a:rPr>
              <a:t>Astăzi: candidați calculați, verificați prin reguli</a:t>
            </a:r>
          </a:p>
        </p:txBody>
      </p:sp>
      <p:sp>
        <p:nvSpPr>
          <p:cNvPr id="23" name="Text: Planificat: provider LLM; decizia rămâne l"/>
          <p:cNvSpPr txBox="1"/>
          <p:nvPr/>
        </p:nvSpPr>
        <p:spPr>
          <a:xfrm>
            <a:off x="594360" y="5193792"/>
            <a:ext cx="10972800" cy="59436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Planificat: generare LLM pe dovezi; specialistul decide</a:t>
            </a:r>
          </a:p>
        </p:txBody>
      </p:sp>
      <p:sp>
        <p:nvSpPr>
          <p:cNvPr id="24" name="Text: O recomandare nu constituie o măsurătoare."/>
          <p:cNvSpPr txBox="1"/>
          <p:nvPr/>
        </p:nvSpPr>
        <p:spPr>
          <a:xfrm>
            <a:off x="594360" y="5897880"/>
            <a:ext cx="10972800" cy="502920"/>
          </a:xfrm>
          <a:prstGeom prst="rect">
            <a:avLst/>
          </a:prstGeom>
          <a:noFill/>
          <a:effectLst/>
        </p:spPr>
        <p:txBody>
          <a:bodyPr wrap="square" lIns="0" tIns="0" rIns="0" bIns="0" anchor="t">
            <a:spAutoFit/>
          </a:bodyPr>
          <a:lstStyle/>
          <a:p>
            <a:pPr>
              <a:lnSpc>
                <a:spcPct val="106000"/>
              </a:lnSpc>
              <a:spcAft>
                <a:spcPts val="700"/>
              </a:spcAft>
            </a:pPr>
            <a:r>
              <a:rPr sz="2500" b="0">
                <a:solidFill>
                  <a:srgbClr val="8BC9ED"/>
                </a:solidFill>
                <a:latin typeface="Calibri"/>
              </a:rPr>
              <a:t>O recomandare nu constituie o măsurătoare.</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ANEXA C / METODĂ"/>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ANEXA C / METODĂ</a:t>
            </a:r>
          </a:p>
        </p:txBody>
      </p:sp>
      <p:sp>
        <p:nvSpPr>
          <p:cNvPr id="3" name="Text: 13"/>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13</a:t>
            </a:r>
          </a:p>
        </p:txBody>
      </p:sp>
      <p:sp>
        <p:nvSpPr>
          <p:cNvPr id="4" name="Text: Condițiile unei evaluări credibil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Cum comparăm alternativele</a:t>
            </a:r>
          </a:p>
        </p:txBody>
      </p:sp>
      <p:sp>
        <p:nvSpPr>
          <p:cNvPr id="5" name="Text: Surse: docs/ARCHITECTURE.md · SUMO Calibra"/>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Cod: sim/impact.py · backend/spatial_routes.py · sim/sumo_engine.py · 18.10.2026</a:t>
            </a:r>
          </a:p>
        </p:txBody>
      </p:sp>
      <p:sp>
        <p:nvSpPr>
          <p:cNvPr id="7" name="Text: Lipsă date → necunoscut&#10;Propunere AI → ipo"/>
          <p:cNvSpPr txBox="1"/>
          <p:nvPr/>
        </p:nvSpPr>
        <p:spPr>
          <a:xfrm>
            <a:off x="594360" y="4828032"/>
            <a:ext cx="10972800" cy="1234440"/>
          </a:xfrm>
          <a:prstGeom prst="rect">
            <a:avLst/>
          </a:prstGeom>
          <a:noFill/>
          <a:effectLst/>
        </p:spPr>
        <p:txBody>
          <a:bodyPr wrap="square" lIns="0" tIns="0" rIns="0" bIns="0" anchor="t">
            <a:spAutoFit/>
          </a:bodyPr>
          <a:lstStyle/>
          <a:p>
            <a:pPr>
              <a:lnSpc>
                <a:spcPct val="106000"/>
              </a:lnSpc>
              <a:spcAft>
                <a:spcPts val="700"/>
              </a:spcAft>
            </a:pPr>
            <a:r>
              <a:rPr sz="2100" b="0">
                <a:solidFill>
                  <a:srgbClr val="101820"/>
                </a:solidFill>
                <a:latin typeface="Calibri"/>
              </a:rPr>
              <a:t>Rute eșantionate ≠ călătorii observate</a:t>
            </a:r>
          </a:p>
          <a:p>
            <a:pPr>
              <a:lnSpc>
                <a:spcPct val="106000"/>
              </a:lnSpc>
              <a:spcAft>
                <a:spcPts val="700"/>
              </a:spcAft>
            </a:pPr>
            <a:r>
              <a:rPr sz="2100" b="0">
                <a:solidFill>
                  <a:srgbClr val="101820"/>
                </a:solidFill>
                <a:latin typeface="Calibri"/>
              </a:rPr>
              <a:t>Legătură ipotetică ≠ lucrare fezabilă</a:t>
            </a:r>
          </a:p>
          <a:p>
            <a:pPr>
              <a:lnSpc>
                <a:spcPct val="106000"/>
              </a:lnSpc>
              <a:spcAft>
                <a:spcPts val="700"/>
              </a:spcAft>
            </a:pPr>
            <a:r>
              <a:rPr sz="2100" b="0">
                <a:solidFill>
                  <a:srgbClr val="101820"/>
                </a:solidFill>
                <a:latin typeface="Calibri"/>
              </a:rPr>
              <a:t>Repetabilitate ≠ validare în teren</a:t>
            </a:r>
          </a:p>
        </p:txBody>
      </p:sp>
      <p:sp>
        <p:nvSpPr>
          <p:cNvPr id="8" name="Text: Nu există încă efecte de trafic validate î"/>
          <p:cNvSpPr txBox="1"/>
          <p:nvPr/>
        </p:nvSpPr>
        <p:spPr>
          <a:xfrm>
            <a:off x="594360" y="6144768"/>
            <a:ext cx="10972800" cy="347472"/>
          </a:xfrm>
          <a:prstGeom prst="rect">
            <a:avLst/>
          </a:prstGeom>
          <a:noFill/>
          <a:effectLst/>
        </p:spPr>
        <p:txBody>
          <a:bodyPr wrap="square" lIns="0" tIns="0" rIns="0" bIns="0" anchor="t">
            <a:spAutoFit/>
          </a:bodyPr>
          <a:lstStyle/>
          <a:p>
            <a:pPr>
              <a:lnSpc>
                <a:spcPct val="106000"/>
              </a:lnSpc>
              <a:spcAft>
                <a:spcPts val="700"/>
              </a:spcAft>
            </a:pPr>
            <a:r>
              <a:rPr sz="1700" b="0">
                <a:solidFill>
                  <a:srgbClr val="486476"/>
                </a:solidFill>
                <a:latin typeface="Calibri"/>
              </a:rPr>
              <a:t>Nu avem rezultate validate de trafic real.</a:t>
            </a:r>
          </a:p>
        </p:txBody>
      </p:sp>
      <p:grpSp>
        <p:nvGrpSpPr>
          <p:cNvPr id="9" name="reveal:s13_method"/>
          <p:cNvGrpSpPr/>
          <p:nvPr/>
        </p:nvGrpSpPr>
        <p:grpSpPr>
          <a:xfrm>
            <a:off x="594360" y="1993392"/>
            <a:ext cx="11000232" cy="2688336"/>
            <a:chOff x="594360" y="1993392"/>
            <a:chExt cx="11000232" cy="2688336"/>
          </a:xfrm>
        </p:grpSpPr>
        <p:graphicFrame>
          <p:nvGraphicFramePr>
            <p:cNvPr id="6" name="Table 5"/>
            <p:cNvGraphicFramePr>
              <a:graphicFrameLocks noGrp="1"/>
            </p:cNvGraphicFramePr>
            <p:nvPr/>
          </p:nvGraphicFramePr>
          <p:xfrm>
            <a:off x="594360" y="1993392"/>
            <a:ext cx="11000232" cy="2688336"/>
          </p:xfrm>
          <a:graphic>
            <a:graphicData uri="http://schemas.openxmlformats.org/drawingml/2006/table">
              <a:tbl>
                <a:tblPr>
                  <a:tableStyleId>{5C22544A-7EE6-4342-B048-85BDC9FD1C3A}</a:tableStyleId>
                </a:tblPr>
                <a:tblGrid>
                  <a:gridCol w="2560320">
                    <a:extLst>
                      <a:ext uri="{9D8B030D-6E8A-4147-A177-3AD203B41FA5}">
                        <a16:colId xmlns:a16="http://schemas.microsoft.com/office/drawing/2014/main" val="20000"/>
                      </a:ext>
                    </a:extLst>
                  </a:gridCol>
                  <a:gridCol w="8439912">
                    <a:extLst>
                      <a:ext uri="{9D8B030D-6E8A-4147-A177-3AD203B41FA5}">
                        <a16:colId xmlns:a16="http://schemas.microsoft.com/office/drawing/2014/main" val="20001"/>
                      </a:ext>
                    </a:extLst>
                  </a:gridCol>
                </a:tblGrid>
                <a:tr h="896112">
                  <a:tc>
                    <a:txBody>
                      <a:bodyPr/>
                      <a:lstStyle/>
                      <a:p>
                        <a:pPr>
                          <a:spcAft>
                            <a:spcPts val="0"/>
                          </a:spcAft>
                        </a:pPr>
                        <a:r>
                          <a:rPr sz="2100" b="1">
                            <a:solidFill>
                              <a:srgbClr val="101820"/>
                            </a:solidFill>
                            <a:latin typeface="Calibri"/>
                          </a:rPr>
                          <a:t>Date</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Sursă, dată, acoperire, licență</a:t>
                        </a:r>
                      </a:p>
                    </a:txBody>
                    <a:tcPr marL="182880" marR="137160" marT="109728" marB="91440" anchor="ctr">
                      <a:solidFill>
                        <a:srgbClr val="EFF4F7"/>
                      </a:solidFill>
                    </a:tcPr>
                  </a:tc>
                  <a:extLst>
                    <a:ext uri="{0D108BD9-81ED-4DB2-BD59-A6C34878D82A}">
                      <a16:rowId xmlns:a16="http://schemas.microsoft.com/office/drawing/2014/main" val="10000"/>
                    </a:ext>
                  </a:extLst>
                </a:tr>
                <a:tr h="896112">
                  <a:tc>
                    <a:txBody>
                      <a:bodyPr/>
                      <a:lstStyle/>
                      <a:p>
                        <a:pPr>
                          <a:spcAft>
                            <a:spcPts val="0"/>
                          </a:spcAft>
                        </a:pPr>
                        <a:r>
                          <a:rPr sz="2100" b="1">
                            <a:solidFill>
                              <a:srgbClr val="101820"/>
                            </a:solidFill>
                            <a:latin typeface="Calibri"/>
                          </a:rPr>
                          <a:t>Comparație</a:t>
                        </a:r>
                      </a:p>
                    </a:txBody>
                    <a:tcPr marL="182880" marR="137160" marT="109728" marB="91440" anchor="ctr">
                      <a:solidFill>
                        <a:srgbClr val="FFFFFF"/>
                      </a:solidFill>
                    </a:tcPr>
                  </a:tc>
                  <a:tc>
                    <a:txBody>
                      <a:bodyPr/>
                      <a:lstStyle/>
                      <a:p>
                        <a:pPr>
                          <a:spcAft>
                            <a:spcPts val="0"/>
                          </a:spcAft>
                        </a:pPr>
                        <a:r>
                          <a:rPr sz="2100" b="0">
                            <a:solidFill>
                              <a:srgbClr val="101820"/>
                            </a:solidFill>
                            <a:latin typeface="Calibri"/>
                          </a:rPr>
                          <a:t>Același graf inițial și eșantion comun de rute</a:t>
                        </a:r>
                      </a:p>
                    </a:txBody>
                    <a:tcPr marL="182880" marR="137160" marT="109728" marB="91440" anchor="ctr">
                      <a:solidFill>
                        <a:srgbClr val="FFFFFF"/>
                      </a:solidFill>
                    </a:tcPr>
                  </a:tc>
                  <a:extLst>
                    <a:ext uri="{0D108BD9-81ED-4DB2-BD59-A6C34878D82A}">
                      <a16:rowId xmlns:a16="http://schemas.microsoft.com/office/drawing/2014/main" val="10001"/>
                    </a:ext>
                  </a:extLst>
                </a:tr>
                <a:tr h="896112">
                  <a:tc>
                    <a:txBody>
                      <a:bodyPr/>
                      <a:lstStyle/>
                      <a:p>
                        <a:pPr>
                          <a:spcAft>
                            <a:spcPts val="0"/>
                          </a:spcAft>
                        </a:pPr>
                        <a:r>
                          <a:rPr sz="2100" b="1">
                            <a:solidFill>
                              <a:srgbClr val="101820"/>
                            </a:solidFill>
                            <a:latin typeface="Calibri"/>
                          </a:rPr>
                          <a:t>SUMO local</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Cerere sintetică; execuție separată de interfață</a:t>
                        </a:r>
                      </a:p>
                    </a:txBody>
                    <a:tcPr marL="182880" marR="137160" marT="109728" marB="91440" anchor="ctr">
                      <a:solidFill>
                        <a:srgbClr val="EFF4F7"/>
                      </a:solidFill>
                    </a:tcPr>
                  </a:tc>
                  <a:extLst>
                    <a:ext uri="{0D108BD9-81ED-4DB2-BD59-A6C34878D82A}">
                      <a16:rowId xmlns:a16="http://schemas.microsoft.com/office/drawing/2014/main" val="10002"/>
                    </a:ext>
                  </a:extLst>
                </a:tr>
              </a:tbl>
            </a:graphicData>
          </a:graphic>
        </p:graphicFrame>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3206</Words>
  <Application>Microsoft Office PowerPoint</Application>
  <PresentationFormat>Widescreen</PresentationFormat>
  <Paragraphs>330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ARTERIA — pitch de hackathon</dc:title>
  <dc:subject>Prototip de planificare urbană; implementare și ipoteze delimitate</dc:subject>
  <dc:creator>ARION</dc:creator>
  <cp:keywords/>
  <dc:description>generated using python-pptx</dc:description>
  <cp:lastModifiedBy>Iustin Fagateanu</cp:lastModifiedBy>
  <cp:revision>3</cp:revision>
  <dcterms:created xsi:type="dcterms:W3CDTF">2013-01-27T09:14:16Z</dcterms:created>
  <dcterms:modified xsi:type="dcterms:W3CDTF">2026-10-18T05:49:22Z</dcterms:modified>
  <cp:category/>
  <dc:language>ro-RO</dc:language>
</cp:coreProperties>
</file>