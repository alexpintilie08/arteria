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1</a:t>
            </a:r>
          </a:p>
          <a:p>
            <a:r>
              <a:t>**Dovezi:** C01, C02. **Vizual:** compoziție tipografică dominantă; captură autentică a hărții din workspace în jumătatea dreaptă, cu atribuirea OSM păstrată. Nu se desenează o hartă cadastrală fictivă.</a:t>
            </a:r>
          </a:p>
          <a:p/>
          <a:p>
            <a:r>
              <a:t>**Verbal:** „Un specialist în mobilitate trebuie să explice ce se schimbă într-un cartier înainte de lucrări. ARTERIA este prototipul nostru pentru această comparație.” Titlul poate sta pe ecran înainte de cronometru; se bugetează totuși 5 s în repetiția de cinci minute.</a:t>
            </a:r>
          </a:p>
          <a:p/>
          <a:p>
            <a:r>
              <a:t>**Tranziție:** specialistul și decizia sa → problema.</a:t>
            </a:r>
          </a:p>
          <a:p/>
          <a:p/>
          <a:p>
            <a:r>
              <a:t>Surse exacte și precizări:</a:t>
            </a:r>
          </a:p>
          <a:p>
            <a:r>
              <a:t>README.md; frontend/web/src/features/workspace/Workspace.tsx. Captură actuală, geometrii fixtures.</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2</a:t>
            </a:r>
          </a:p>
          <a:p>
            <a:r>
              <a:t>**Dovezi:** C01; documentația arhitecturală. Aceasta este o situație de utilizare propusă, fără citat inventat și fără cost numeric. **Vizual:** diagramă nativă de decizie: o intervenție centrală conectată la cele patru perspective, fără săgeți care implică beneficii deja măsurate.</a:t>
            </a:r>
          </a:p>
          <a:p/>
          <a:p>
            <a:r>
              <a:t>**Verbal (40 s):** descrierea unei discuții de planificare la nivel de cartier. Explicarea motivului pentru care un indicator auto nu este suficient. Nu se atribuie cuiva o experiență reală neintervievată. „Vom verifica această nevoie cu un specialist înainte de a extinde produsul.”</a:t>
            </a:r>
          </a:p>
          <a:p/>
          <a:p>
            <a:r>
              <a:t>**Tranziție:** ce instrumente există pentru această muncă.</a:t>
            </a:r>
          </a:p>
          <a:p/>
          <a:p/>
          <a:p>
            <a:r>
              <a:t>Surse exacte și precizări:</a:t>
            </a:r>
          </a:p>
          <a:p>
            <a:r>
              <a:t>README.md; docs/ARCHITECTURE.md. Nu există interviuri sau cost numeric verificat.</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3</a:t>
            </a:r>
          </a:p>
          <a:p>
            <a:r>
              <a:t>**Dovezi:** sursele externe primare din cercetare §4–5. Nu se fac afirmații despre costurile concurenților sau incapacitatea lor de a compara. **Vizual:** tabel nativ cu trei rânduri și o propoziție distinctă despre integrare. Fără logo-uri copiate sau chart de cote de piață.</a:t>
            </a:r>
          </a:p>
          <a:p/>
          <a:p>
            <a:r>
              <a:t>**Verbal (40 s):** „Nu pornim de la lipsa instrumentelor. Propunem să legăm selecția unei zone și alternativele într-o experiență inspectabilă. PMUD arată contextul instituțional; nu este validare comercială a produsului nostru.” Se recunoaște lipsa a trei dovezi independente de nevoie cerute de ghid.</a:t>
            </a:r>
          </a:p>
          <a:p/>
          <a:p>
            <a:r>
              <a:t>**Tranziție:** forma concretă a soluției propuse.</a:t>
            </a:r>
          </a:p>
          <a:p/>
          <a:p/>
          <a:p>
            <a:r>
              <a:t>Surse exacte și precizări:</a:t>
            </a:r>
          </a:p>
          <a:p>
            <a:r>
              <a:t>https://www.qgis.org/project/overview/</a:t>
            </a:r>
          </a:p>
          <a:p>
            <a:r>
              <a:t>https://sumo.dlr.de/docs/</a:t>
            </a:r>
          </a:p>
          <a:p>
            <a:r>
              <a:t>https://www.primaria-iasi.ro/dm_iasi/portal.nsf/pagini/consultare%2Bpublica%2Bplanul%2Bde%2Bmobilitate%2Burbana%2Bdurabila%2Bpentru%2Bpolul%2Bde%2Bcrestere%2Biasi%2Bpmud%2Biasi-0002E4D6?Open%3FOpen=</a:t>
            </a:r>
          </a:p>
          <a:p>
            <a:r>
              <a:t>PMUD este context, nu dovadă de adopție.</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4</a:t>
            </a:r>
          </a:p>
          <a:p>
            <a:r>
              <a:t>**Dovezi:** C02–C05. **Vizual:** flux editabil cu trei noduri; sub el delimitarea prezent/viitor, pe două rânduri deschise, fără panouri repetitive.</a:t>
            </a:r>
          </a:p>
          <a:p/>
          <a:p>
            <a:r>
              <a:t>**Verbal (15 s):** „Am implementat parcursul de interfață. Datele și alternativele din demo sunt predefinite; legătura cu analiza reală este etapa următoare.”</a:t>
            </a:r>
          </a:p>
          <a:p/>
          <a:p>
            <a:r>
              <a:t>**Tranziție:** demonstrație pe Podu Roș.</a:t>
            </a:r>
          </a:p>
          <a:p/>
          <a:p/>
          <a:p>
            <a:r>
              <a:t>Surse exacte și precizări:</a:t>
            </a:r>
          </a:p>
          <a:p>
            <a:r>
              <a:t>frontend/web/src/features/workspace/Workspace.tsx; frontend/shared/core/fixtures.ts. Scenariul schimbă starea React, nu rețeaua pe backend.</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5</a:t>
            </a:r>
          </a:p>
          <a:p>
            <a:r>
              <a:t>**Dovezi:** C02–C05; browser local și capturi în `assets/`. **Vizual:** captură autentică a comparației, dominantă (circa 65% din slide). Textul de avertizare trebuie să fie lizibil, independent de etichetele posibil excesive din UI. Captura nu este o reconstrucție inventată.</a:t>
            </a:r>
          </a:p>
          <a:p/>
          <a:p>
            <a:r>
              <a:t>**Verbal / demo (75 s):** alege Podu Roș, pornește previzualizarea, inspectează problema predefinită, deschide Scenarii, schimbă alternativa, mișcă un reglaj, aplică în UI și deschide Compară. „Aceste valori ilustrează interacțiunea. Nu sunt rezultate măsurate la Podu Roș.” Dacă live-ul nu este disponibil, se folosește captura; nu se declară că există înregistrare video. Site-ul public anterior nu se promovează fără verificare.</a:t>
            </a:r>
          </a:p>
          <a:p/>
          <a:p>
            <a:r>
              <a:t>**Tranziție:** ce componente susțin prototipul și ce lipsește.</a:t>
            </a:r>
          </a:p>
          <a:p/>
          <a:p/>
          <a:p>
            <a:r>
              <a:t>Surse exacte și precizări:</a:t>
            </a:r>
          </a:p>
          <a:p>
            <a:r>
              <a:t>frontend/web/src/features/comparison/ComparisonPanel.tsx. Valorile sunt fixtures și euristici locale; etichetele din UI nu constituie validare. Captură ca Plan B, fără video existent.</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6</a:t>
            </a:r>
          </a:p>
          <a:p>
            <a:r>
              <a:t>**Dovezi:** C06–C11, C15. **Vizual:** diagramă editabilă cu exact trei componente principale, provider AI separat ca dependență viitoare. Săgeți frontend→backend→sim întrerupte pentru fluxul urban neintegrat; o etichetă separată precizează că clientul `/analyze` există în non-demo.</a:t>
            </a:r>
          </a:p>
          <a:p/>
          <a:p>
            <a:r>
              <a:t>**Verbal (30 s):** „Prototipul web lucrează în principal local. FastAPI are health; serverul demonstrativ e separat și contractele trebuie unificate. Sim are un test sintetic și utilitar TraCI. Integrarea LLM este planificată: modelul va propune, calculele independente vor evalua.” Autorii decid arhitectura; ponderea codului generat de AI nu este stabilită.</a:t>
            </a:r>
          </a:p>
          <a:p/>
          <a:p>
            <a:r>
              <a:t>**Tranziție:** cine ar cumpăra această experiență dacă nevoia se confirmă.</a:t>
            </a:r>
          </a:p>
          <a:p/>
          <a:p/>
          <a:p>
            <a:r>
              <a:t>Surse exacte și precizări:</a:t>
            </a:r>
          </a:p>
          <a:p>
            <a:r>
              <a:t>backend/main.py; backend/server.py; sim/smoke_test.py; sim/sumo_support.py; frontend/shared/core/api.ts. Clientul /analyze există în non-demo, fluxul urban complet nu este integrat.</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7</a:t>
            </a:r>
          </a:p>
          <a:p>
            <a:r>
              <a:t>**Dovezi:** C16; cercetare §17. **Vizual:** preț tipografic mare și o coloană de argumente scurte, fără grafic de venituri sau marjă.</a:t>
            </a:r>
          </a:p>
          <a:p/>
          <a:p>
            <a:r>
              <a:t>**Verbal (30 s):** prețul este punct de plecare pentru interviuri, nu tarif probat. Primul pilot validează utilitatea înainte de vânzare. Nu se promit proceduri juridice, fonduri sau achiziție rapidă.</a:t>
            </a:r>
          </a:p>
          <a:p/>
          <a:p>
            <a:r>
              <a:t>**Tranziție:** cum se testează cererea de jos în sus.</a:t>
            </a:r>
          </a:p>
          <a:p/>
          <a:p/>
          <a:p>
            <a:r>
              <a:t>Surse exacte și precizări:</a:t>
            </a:r>
          </a:p>
          <a:p>
            <a:r>
              <a:t>Template-Pitch-Hackathon.pre-audit.pptx. Preț nevalidat; fără cost de serving măsurat, marjă, prag juridic sau clienți confirmați.</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8</a:t>
            </a:r>
          </a:p>
          <a:p>
            <a:r>
              <a:t>**Dovezi:** C16 și lipsurile declarate în cercetare §17. **Vizual:** progresie geografică textuală Iași→interviuri→replicare; calcul nativ într-un singur rând, fără TAM global inventat.</a:t>
            </a:r>
          </a:p>
          <a:p/>
          <a:p>
            <a:r>
              <a:t>**Verbal (20 s):** „Primăria și CTP Iași sunt posibile interlocutoare, nu parteneri confirmați. Lista de zece organizații trebuie construită. Calculul arată numai mecanica abonamentului dacă toate cele zece ar cumpăra.” Pentru trei minute se sare acest slide, conform ghidului.</a:t>
            </a:r>
          </a:p>
          <a:p/>
          <a:p>
            <a:r>
              <a:t>**Tranziție:** cine a construit baza vizibilă.</a:t>
            </a:r>
          </a:p>
          <a:p/>
          <a:p/>
          <a:p>
            <a:r>
              <a:t>Surse exacte și precizări:</a:t>
            </a:r>
          </a:p>
          <a:p>
            <a:r>
              <a:t>18000=12×1500; 180000=10×18000 numai dacă toate organizațiile ar cumpăra. Nu există o listă verificată de zece organizații. Nu este TAM/SAM sau ARR realizat.</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9</a:t>
            </a:r>
          </a:p>
          <a:p>
            <a:r>
              <a:t>**Dovezi:** C17; commit `66b6d19` de Iustin și `0494ccf`/`0078251` de Alex; numele complet al lui Alex păstrat din deck. **Vizual:** două coloane editoriale, fiecare nume asociat unei descrieri de contribuție; fără fotografii inventate sau locuri goale pentru „advisory”.</a:t>
            </a:r>
          </a:p>
          <a:p/>
          <a:p>
            <a:r>
              <a:t>**Verbal (20 s):** „Baza noastră combină experiența web cu infrastructura de dezvoltare și simulare. Următoarea etapă are nevoie de un partener de domeniu.” Roster-ul complet, rolurile de scenă și continuarea după eveniment rămân de confirmat; README spune trei dezvoltatori. Nu se declară exclusivitate pe module sau disponibilitate full-time.</a:t>
            </a:r>
          </a:p>
          <a:p/>
          <a:p>
            <a:r>
              <a:t>**Tranziție:** pasul concret și cererea către juriu.</a:t>
            </a:r>
          </a:p>
          <a:p/>
          <a:p/>
          <a:p>
            <a:r>
              <a:t>Surse exacte și precizări:</a:t>
            </a:r>
          </a:p>
          <a:p>
            <a:r>
              <a:t>Git: 66b6d19 Iustin (frontend); 0494ccf și 0078251 Alex (bootstrap/verificări). Numele complete păstrate din deck. README spune trei dezvoltatori: roster-ul final și rolurile de scenă trebuie confirmate. Fără promisiune full-time.</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10</a:t>
            </a:r>
          </a:p>
          <a:p>
            <a:r>
              <a:t>**Dovezi:** roadmap și criterii recomandate, nu un angajament semnat. **Vizual:** roadmap editabil cu criterii de ieșire și o cerere dominantă. Fără deadline arbitrar sau reducere de trafic țintă prezentată ca validată.</a:t>
            </a:r>
          </a:p>
          <a:p/>
          <a:p>
            <a:r>
              <a:t>**Verbal (25 s):** „Vom unifica API-ul, documenta o zonă și calcula un indicator reproductibil. Cu un specialist vom măsura cât durează pregătirea comparației și dacă rezultatul se poate verifica. Căutăm introducerea și datele pentru acest prim caz.” După cerere, prezentarea se oprește.</a:t>
            </a:r>
          </a:p>
          <a:p/>
          <a:p>
            <a:r>
              <a:t>**Tranziție:** numai la întrebări, către anexe.</a:t>
            </a:r>
          </a:p>
          <a:p/>
          <a:p/>
          <a:p>
            <a:r>
              <a:t>Surse exacte și precizări:</a:t>
            </a:r>
          </a:p>
          <a:p>
            <a:r>
              <a:t>docs/ROADMAP.md și PROJECT_RESEARCH_FULL.md §19. Plan propus, fără acord de pilot. Oprirea pitch-ului aici; anexele se deschid doar la întrebare.</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11</a:t>
            </a:r>
          </a:p>
          <a:p>
            <a:r>
              <a:t>**Dovezi:** C12–C14, §14. **Vizual:** cifra mare 5/5, două rânduri de rezultate și un rând clar de limite. **Verbal:** testele Node folosesc fetch mock și nu validează contractul serverului alternativ; smoke SUMO nu este o simulare de oraș. **Tranziție:** rolul AI.</a:t>
            </a:r>
          </a:p>
          <a:p/>
          <a:p/>
          <a:p>
            <a:r>
              <a:t>Surse exacte și precizări:</a:t>
            </a:r>
          </a:p>
          <a:p>
            <a:r>
              <a:t>frontend/shared/tests/api.test.ts: 5 passed, fetch mock. npm run typecheck și npm run build au trecut. Testele Python/SUMO nereexecutate: runtime fără dependențele proiectului. Niciun procent code coverage măsurat.</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12</a:t>
            </a:r>
          </a:p>
          <a:p>
            <a:r>
              <a:t>**Dovezi:** C08, C15. **Vizual:** patru pași nativi cu toate legăturile viitoare întrerupte. **Verbal:** validarea de schemă este necesară, dar nu suficientă; sunt necesare reguli spațiale și calcule independente. Nu se cuantifică autorie AI a codului. **Tranziție:** metodologia de validare.</a:t>
            </a:r>
          </a:p>
          <a:p/>
          <a:p/>
          <a:p>
            <a:r>
              <a:t>Surse exacte și precizări:</a:t>
            </a:r>
          </a:p>
          <a:p>
            <a:r>
              <a:t>docs/ARCHITECTURE.md; backend/server.py: rule-catalog-v1, tokeni zero, validation=True constant. Flux viitor, fără provider LLM implementat. Autoría AI a codului nu este cuantificabilă.</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ARTERIA — 13</a:t>
            </a:r>
          </a:p>
          <a:p>
            <a:r>
              <a:t>**Dovezi:** C15, C19; SUMO Calibrator și arhitectură. **Vizual:** tabel nativ „intrare / condiție de acceptare”, cu etichete textuale în loc de procente. **Verbal:** diferența între observed/calculated/estimated/unknown; etichetele singure nu probează proveniența. Auth, jobs, persistență și Android sunt etape viitoare. **Tranziție:** revenire la cererea de pe slide-ul 10.</a:t>
            </a:r>
          </a:p>
          <a:p/>
          <a:p>
            <a:r>
              <a:t>## Reguli de folosire și repetiție</a:t>
            </a:r>
          </a:p>
          <a:p/>
          <a:p>
            <a:r>
              <a:t>Buget de cinci minute: 5+40+40+15+75+30+30+20+20+25 = 300 s. Acestea sunt ținte; se repetă și se scurtează verbal dacă nu încap. Anexele nu intră în pitch. Pentru trei minute se folosește ordinea ghidului cu slide-ul de piață sărit; nu se mută business/echipa înaintea demo-ului.</a:t>
            </a:r>
          </a:p>
          <a:p/>
          <a:p>
            <a:r>
              <a:t>Fiecare slide include note editabile cu explicația, sursele exacte și limitele. Sursele externe sunt link-uri în note și surse scurte pe slide-ul 3. Fără citate fictive, statistici de trafic, logo-uri instituționale, URL public neverificat, QR inventat sau promisiune de pilot semnat. Aspectele de confirmat din cercetare rămân în QA, fără a bloca livrarea deck-ului demonstrativ.</a:t>
            </a:r>
          </a:p>
          <a:p/>
          <a:p/>
          <a:p>
            <a:r>
              <a:t>Surse exacte și precizări:</a:t>
            </a:r>
          </a:p>
          <a:p>
            <a:r>
              <a:t>docs/ARCHITECTURE.md; docs/API_CONTRACT.md; sim/sumo_support.py. https://sumo.dlr.de/docs/Simulation/Calibrator.html. Literalul observed nu dovedește achiziția datelor. Fără efect de trafic validat.</a:t>
            </a:r>
          </a:p>
          <a:p/>
          <a:p>
            <a:r>
              <a:t>Sursa de adevăr: docs/ppt/PROJECT_RESEARCH_FULL.md. Structură adaptată din template-ul de Andrei Margelatu, ordinea păstrată.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TITLU"/>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8BC9ED"/>
                </a:solidFill>
                <a:latin typeface="Calibri"/>
              </a:rPr>
              <a:t>ARTERIA / TITLU</a:t>
            </a:r>
          </a:p>
        </p:txBody>
      </p:sp>
      <p:sp>
        <p:nvSpPr>
          <p:cNvPr id="3" name="Text: 01"/>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A8BAC9"/>
                </a:solidFill>
                <a:latin typeface="Calibri"/>
              </a:rPr>
              <a:t>01</a:t>
            </a:r>
          </a:p>
        </p:txBody>
      </p:sp>
      <p:sp>
        <p:nvSpPr>
          <p:cNvPr id="4" name="Text: ARTERIA"/>
          <p:cNvSpPr txBox="1"/>
          <p:nvPr/>
        </p:nvSpPr>
        <p:spPr>
          <a:xfrm>
            <a:off x="594360" y="1389888"/>
            <a:ext cx="6035040" cy="1005840"/>
          </a:xfrm>
          <a:prstGeom prst="rect">
            <a:avLst/>
          </a:prstGeom>
          <a:noFill/>
        </p:spPr>
        <p:txBody>
          <a:bodyPr wrap="square" lIns="0" rIns="0" tIns="0" bIns="0" anchor="t">
            <a:spAutoFit/>
          </a:bodyPr>
          <a:lstStyle/>
          <a:p>
            <a:pPr>
              <a:lnSpc>
                <a:spcPct val="106000"/>
              </a:lnSpc>
              <a:spcAft>
                <a:spcPts val="700"/>
              </a:spcAft>
            </a:pPr>
            <a:r>
              <a:rPr sz="6400" b="1">
                <a:solidFill>
                  <a:srgbClr val="EDF2F6"/>
                </a:solidFill>
                <a:latin typeface="Calibri"/>
              </a:rPr>
              <a:t>ARTERIA</a:t>
            </a:r>
          </a:p>
        </p:txBody>
      </p:sp>
      <p:sp>
        <p:nvSpPr>
          <p:cNvPr id="5" name="Text: Planificare urbană pentru&#10;echipele de mobi"/>
          <p:cNvSpPr txBox="1"/>
          <p:nvPr/>
        </p:nvSpPr>
        <p:spPr>
          <a:xfrm>
            <a:off x="621792" y="2615184"/>
            <a:ext cx="5623560" cy="1143000"/>
          </a:xfrm>
          <a:prstGeom prst="rect">
            <a:avLst/>
          </a:prstGeom>
          <a:noFill/>
        </p:spPr>
        <p:txBody>
          <a:bodyPr wrap="square" lIns="0" rIns="0" tIns="0" bIns="0" anchor="t">
            <a:spAutoFit/>
          </a:bodyPr>
          <a:lstStyle/>
          <a:p>
            <a:pPr>
              <a:lnSpc>
                <a:spcPct val="106000"/>
              </a:lnSpc>
              <a:spcAft>
                <a:spcPts val="700"/>
              </a:spcAft>
            </a:pPr>
            <a:r>
              <a:rPr sz="2800" b="0">
                <a:solidFill>
                  <a:srgbClr val="EDF2F6"/>
                </a:solidFill>
                <a:latin typeface="Calibri"/>
              </a:rPr>
              <a:t>Planificare urbană pentru</a:t>
            </a:r>
          </a:p>
          <a:p>
            <a:pPr>
              <a:lnSpc>
                <a:spcPct val="106000"/>
              </a:lnSpc>
              <a:spcAft>
                <a:spcPts val="700"/>
              </a:spcAft>
            </a:pPr>
            <a:r>
              <a:rPr sz="2800" b="0">
                <a:solidFill>
                  <a:srgbClr val="EDF2F6"/>
                </a:solidFill>
                <a:latin typeface="Calibri"/>
              </a:rPr>
              <a:t>echipele de mobilitate</a:t>
            </a:r>
          </a:p>
        </p:txBody>
      </p:sp>
      <p:sp>
        <p:nvSpPr>
          <p:cNvPr id="6" name="Text: Compararea intervențiilor,&#10;înainte de impl"/>
          <p:cNvSpPr txBox="1"/>
          <p:nvPr/>
        </p:nvSpPr>
        <p:spPr>
          <a:xfrm>
            <a:off x="621792" y="4096512"/>
            <a:ext cx="5486400" cy="914400"/>
          </a:xfrm>
          <a:prstGeom prst="rect">
            <a:avLst/>
          </a:prstGeom>
          <a:noFill/>
        </p:spPr>
        <p:txBody>
          <a:bodyPr wrap="square" lIns="0" rIns="0" tIns="0" bIns="0" anchor="t">
            <a:spAutoFit/>
          </a:bodyPr>
          <a:lstStyle/>
          <a:p>
            <a:pPr>
              <a:lnSpc>
                <a:spcPct val="106000"/>
              </a:lnSpc>
              <a:spcAft>
                <a:spcPts val="700"/>
              </a:spcAft>
            </a:pPr>
            <a:r>
              <a:rPr sz="2300" b="0">
                <a:solidFill>
                  <a:srgbClr val="8BC9ED"/>
                </a:solidFill>
                <a:latin typeface="Calibri"/>
              </a:rPr>
              <a:t>Compararea intervențiilor,</a:t>
            </a:r>
          </a:p>
          <a:p>
            <a:pPr>
              <a:lnSpc>
                <a:spcPct val="106000"/>
              </a:lnSpc>
              <a:spcAft>
                <a:spcPts val="700"/>
              </a:spcAft>
            </a:pPr>
            <a:r>
              <a:rPr sz="2300" b="0">
                <a:solidFill>
                  <a:srgbClr val="8BC9ED"/>
                </a:solidFill>
                <a:latin typeface="Calibri"/>
              </a:rPr>
              <a:t>înainte de implementare</a:t>
            </a:r>
          </a:p>
        </p:txBody>
      </p:sp>
      <p:sp>
        <p:nvSpPr>
          <p:cNvPr id="7" name="Text: ARION · Hackathon AI Iași 2026"/>
          <p:cNvSpPr txBox="1"/>
          <p:nvPr/>
        </p:nvSpPr>
        <p:spPr>
          <a:xfrm>
            <a:off x="621792" y="5532120"/>
            <a:ext cx="5669280" cy="411480"/>
          </a:xfrm>
          <a:prstGeom prst="rect">
            <a:avLst/>
          </a:prstGeom>
          <a:noFill/>
        </p:spPr>
        <p:txBody>
          <a:bodyPr wrap="square" lIns="0" rIns="0" tIns="0" bIns="0" anchor="t">
            <a:spAutoFit/>
          </a:bodyPr>
          <a:lstStyle/>
          <a:p>
            <a:pPr>
              <a:lnSpc>
                <a:spcPct val="106000"/>
              </a:lnSpc>
              <a:spcAft>
                <a:spcPts val="700"/>
              </a:spcAft>
            </a:pPr>
            <a:r>
              <a:rPr sz="1700" b="0">
                <a:solidFill>
                  <a:srgbClr val="EDF2F6"/>
                </a:solidFill>
                <a:latin typeface="Calibri"/>
              </a:rPr>
              <a:t>ARION · Hackathon AI Iași 2026</a:t>
            </a:r>
          </a:p>
        </p:txBody>
      </p:sp>
      <p:sp>
        <p:nvSpPr>
          <p:cNvPr id="8" name="Text: Prototip demonstrativ"/>
          <p:cNvSpPr txBox="1"/>
          <p:nvPr/>
        </p:nvSpPr>
        <p:spPr>
          <a:xfrm>
            <a:off x="621792" y="6007608"/>
            <a:ext cx="5486400" cy="320040"/>
          </a:xfrm>
          <a:prstGeom prst="rect">
            <a:avLst/>
          </a:prstGeom>
          <a:noFill/>
        </p:spPr>
        <p:txBody>
          <a:bodyPr wrap="square" lIns="0" rIns="0" tIns="0" bIns="0" anchor="t">
            <a:spAutoFit/>
          </a:bodyPr>
          <a:lstStyle/>
          <a:p>
            <a:pPr>
              <a:lnSpc>
                <a:spcPct val="106000"/>
              </a:lnSpc>
              <a:spcAft>
                <a:spcPts val="700"/>
              </a:spcAft>
            </a:pPr>
            <a:r>
              <a:rPr sz="1500" b="0">
                <a:solidFill>
                  <a:srgbClr val="EFC47C"/>
                </a:solidFill>
                <a:latin typeface="Calibri"/>
              </a:rPr>
              <a:t>Prototip demonstrativ</a:t>
            </a:r>
          </a:p>
        </p:txBody>
      </p:sp>
      <p:pic>
        <p:nvPicPr>
          <p:cNvPr id="9" name="Picture 8" descr="workspace-demo.png"/>
          <p:cNvPicPr>
            <a:picLocks noChangeAspect="1"/>
          </p:cNvPicPr>
          <p:nvPr/>
        </p:nvPicPr>
        <p:blipFill>
          <a:blip r:embed="rId2"/>
          <a:stretch>
            <a:fillRect/>
          </a:stretch>
        </p:blipFill>
        <p:spPr>
          <a:xfrm>
            <a:off x="6629400" y="1391649"/>
            <a:ext cx="4956048" cy="4303300"/>
          </a:xfrm>
          <a:prstGeom prst="rect">
            <a:avLst/>
          </a:prstGeom>
        </p:spPr>
      </p:pic>
      <p:sp>
        <p:nvSpPr>
          <p:cNvPr id="10" name="Text: Captură din aplicație · © contributori Ope"/>
          <p:cNvSpPr txBox="1"/>
          <p:nvPr/>
        </p:nvSpPr>
        <p:spPr>
          <a:xfrm>
            <a:off x="6629400" y="5943600"/>
            <a:ext cx="4956048" cy="365760"/>
          </a:xfrm>
          <a:prstGeom prst="rect">
            <a:avLst/>
          </a:prstGeom>
          <a:noFill/>
        </p:spPr>
        <p:txBody>
          <a:bodyPr wrap="square" lIns="0" rIns="0" tIns="0" bIns="0" anchor="t">
            <a:spAutoFit/>
          </a:bodyPr>
          <a:lstStyle/>
          <a:p>
            <a:pPr>
              <a:lnSpc>
                <a:spcPct val="106000"/>
              </a:lnSpc>
              <a:spcAft>
                <a:spcPts val="700"/>
              </a:spcAft>
            </a:pPr>
            <a:r>
              <a:rPr sz="1100" b="0">
                <a:solidFill>
                  <a:srgbClr val="A8BAC9"/>
                </a:solidFill>
                <a:latin typeface="Calibri"/>
              </a:rPr>
              <a:t>Captură din aplicație · © contributori OpenStreetMap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P / PROBLEMA"/>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486476"/>
                </a:solidFill>
                <a:latin typeface="Calibri"/>
              </a:rPr>
              <a:t>ARTERIA / P / PROBLEMA</a:t>
            </a:r>
          </a:p>
        </p:txBody>
      </p:sp>
      <p:sp>
        <p:nvSpPr>
          <p:cNvPr id="3" name="Text: 02"/>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486476"/>
                </a:solidFill>
                <a:latin typeface="Calibri"/>
              </a:rPr>
              <a:t>02</a:t>
            </a:r>
          </a:p>
        </p:txBody>
      </p:sp>
      <p:sp>
        <p:nvSpPr>
          <p:cNvPr id="4" name="Text: O intervenție. Mai multe efecte."/>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101820"/>
                </a:solidFill>
                <a:latin typeface="Calibri"/>
              </a:rPr>
              <a:t>O intervenție. Mai multe efecte.</a:t>
            </a:r>
          </a:p>
        </p:txBody>
      </p:sp>
      <p:sp>
        <p:nvSpPr>
          <p:cNvPr id="5" name="Text: Situație propusă · README.md și docs/ARCHI"/>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486476"/>
                </a:solidFill>
                <a:latin typeface="Calibri"/>
              </a:rPr>
              <a:t>Situație propusă · README.md și docs/ARCHITECTURE.md, audit 2026</a:t>
            </a:r>
          </a:p>
        </p:txBody>
      </p:sp>
      <p:sp>
        <p:nvSpPr>
          <p:cNvPr id="6" name="Text: Utilizator vizat: specialistul în mobilita"/>
          <p:cNvSpPr txBox="1"/>
          <p:nvPr/>
        </p:nvSpPr>
        <p:spPr>
          <a:xfrm>
            <a:off x="594360" y="1938528"/>
            <a:ext cx="10972800" cy="548640"/>
          </a:xfrm>
          <a:prstGeom prst="rect">
            <a:avLst/>
          </a:prstGeom>
          <a:noFill/>
        </p:spPr>
        <p:txBody>
          <a:bodyPr wrap="square" lIns="0" rIns="0" tIns="0" bIns="0" anchor="t">
            <a:spAutoFit/>
          </a:bodyPr>
          <a:lstStyle/>
          <a:p>
            <a:pPr>
              <a:lnSpc>
                <a:spcPct val="106000"/>
              </a:lnSpc>
              <a:spcAft>
                <a:spcPts val="700"/>
              </a:spcAft>
            </a:pPr>
            <a:r>
              <a:rPr sz="2500" b="1">
                <a:solidFill>
                  <a:srgbClr val="101820"/>
                </a:solidFill>
                <a:latin typeface="Calibri"/>
              </a:rPr>
              <a:t>Utilizator vizat: specialistul în mobilitate</a:t>
            </a:r>
          </a:p>
        </p:txBody>
      </p:sp>
      <p:sp>
        <p:nvSpPr>
          <p:cNvPr id="7" name="Text: Reconfigurarea unei străzi cere o comparaț"/>
          <p:cNvSpPr txBox="1"/>
          <p:nvPr/>
        </p:nvSpPr>
        <p:spPr>
          <a:xfrm>
            <a:off x="594360" y="2615184"/>
            <a:ext cx="10972800" cy="594360"/>
          </a:xfrm>
          <a:prstGeom prst="rect">
            <a:avLst/>
          </a:prstGeom>
          <a:noFill/>
        </p:spPr>
        <p:txBody>
          <a:bodyPr wrap="square" lIns="0" rIns="0" tIns="0" bIns="0" anchor="t">
            <a:spAutoFit/>
          </a:bodyPr>
          <a:lstStyle/>
          <a:p>
            <a:pPr>
              <a:lnSpc>
                <a:spcPct val="106000"/>
              </a:lnSpc>
              <a:spcAft>
                <a:spcPts val="700"/>
              </a:spcAft>
            </a:pPr>
            <a:r>
              <a:rPr sz="2300" b="0">
                <a:solidFill>
                  <a:srgbClr val="101820"/>
                </a:solidFill>
                <a:latin typeface="Calibri"/>
              </a:rPr>
              <a:t>Reconfigurarea unei străzi cere o comparație explicabilă.</a:t>
            </a:r>
          </a:p>
        </p:txBody>
      </p:sp>
      <p:sp>
        <p:nvSpPr>
          <p:cNvPr id="8" name="Rectangle 7"/>
          <p:cNvSpPr/>
          <p:nvPr/>
        </p:nvSpPr>
        <p:spPr>
          <a:xfrm>
            <a:off x="4526280" y="3538728"/>
            <a:ext cx="3063240" cy="77724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Intervenție"/>
          <p:cNvSpPr txBox="1"/>
          <p:nvPr/>
        </p:nvSpPr>
        <p:spPr>
          <a:xfrm>
            <a:off x="4709160" y="3703320"/>
            <a:ext cx="2697480" cy="502920"/>
          </a:xfrm>
          <a:prstGeom prst="rect">
            <a:avLst/>
          </a:prstGeom>
          <a:noFill/>
        </p:spPr>
        <p:txBody>
          <a:bodyPr wrap="square" lIns="0" rIns="0" tIns="0" bIns="0" anchor="t">
            <a:spAutoFit/>
          </a:bodyPr>
          <a:lstStyle/>
          <a:p>
            <a:pPr>
              <a:lnSpc>
                <a:spcPct val="106000"/>
              </a:lnSpc>
              <a:spcAft>
                <a:spcPts val="700"/>
              </a:spcAft>
            </a:pPr>
            <a:r>
              <a:rPr sz="2400" b="1">
                <a:solidFill>
                  <a:srgbClr val="101820"/>
                </a:solidFill>
                <a:latin typeface="Calibri"/>
              </a:rPr>
              <a:t>Intervenție</a:t>
            </a:r>
          </a:p>
        </p:txBody>
      </p:sp>
      <p:cxnSp>
        <p:nvCxnSpPr>
          <p:cNvPr id="10" name="Connector 9"/>
          <p:cNvCxnSpPr/>
          <p:nvPr/>
        </p:nvCxnSpPr>
        <p:spPr>
          <a:xfrm flipH="1">
            <a:off x="1828800" y="4315968"/>
            <a:ext cx="4229100" cy="457200"/>
          </a:xfrm>
          <a:prstGeom prst="line">
            <a:avLst/>
          </a:prstGeom>
          <a:ln w="22860">
            <a:solidFill>
              <a:srgbClr val="718C9C"/>
            </a:solidFill>
          </a:ln>
        </p:spPr>
        <p:style>
          <a:lnRef idx="2">
            <a:schemeClr val="accent1"/>
          </a:lnRef>
          <a:fillRef idx="0">
            <a:schemeClr val="accent1"/>
          </a:fillRef>
          <a:effectRef idx="1">
            <a:schemeClr val="accent1"/>
          </a:effectRef>
          <a:fontRef idx="minor">
            <a:schemeClr val="tx1"/>
          </a:fontRef>
        </p:style>
      </p:cxnSp>
      <p:sp>
        <p:nvSpPr>
          <p:cNvPr id="11" name="Text: Transport public"/>
          <p:cNvSpPr txBox="1"/>
          <p:nvPr/>
        </p:nvSpPr>
        <p:spPr>
          <a:xfrm>
            <a:off x="594360" y="4983480"/>
            <a:ext cx="2468880" cy="502920"/>
          </a:xfrm>
          <a:prstGeom prst="rect">
            <a:avLst/>
          </a:prstGeom>
          <a:noFill/>
        </p:spPr>
        <p:txBody>
          <a:bodyPr wrap="square" lIns="0" rIns="0" tIns="0" bIns="0" anchor="t">
            <a:spAutoFit/>
          </a:bodyPr>
          <a:lstStyle/>
          <a:p>
            <a:pPr algn="ctr">
              <a:lnSpc>
                <a:spcPct val="106000"/>
              </a:lnSpc>
              <a:spcAft>
                <a:spcPts val="700"/>
              </a:spcAft>
            </a:pPr>
            <a:r>
              <a:rPr sz="2200" b="1">
                <a:solidFill>
                  <a:srgbClr val="101820"/>
                </a:solidFill>
                <a:latin typeface="Calibri"/>
              </a:rPr>
              <a:t>Transport public</a:t>
            </a:r>
          </a:p>
        </p:txBody>
      </p:sp>
      <p:cxnSp>
        <p:nvCxnSpPr>
          <p:cNvPr id="12" name="Connector 11"/>
          <p:cNvCxnSpPr/>
          <p:nvPr/>
        </p:nvCxnSpPr>
        <p:spPr>
          <a:xfrm flipH="1">
            <a:off x="4663440" y="4315968"/>
            <a:ext cx="1394460" cy="457200"/>
          </a:xfrm>
          <a:prstGeom prst="line">
            <a:avLst/>
          </a:prstGeom>
          <a:ln w="22860">
            <a:solidFill>
              <a:srgbClr val="718C9C"/>
            </a:solidFill>
          </a:ln>
        </p:spPr>
        <p:style>
          <a:lnRef idx="2">
            <a:schemeClr val="accent1"/>
          </a:lnRef>
          <a:fillRef idx="0">
            <a:schemeClr val="accent1"/>
          </a:fillRef>
          <a:effectRef idx="1">
            <a:schemeClr val="accent1"/>
          </a:effectRef>
          <a:fontRef idx="minor">
            <a:schemeClr val="tx1"/>
          </a:fontRef>
        </p:style>
      </p:cxnSp>
      <p:sp>
        <p:nvSpPr>
          <p:cNvPr id="13" name="Text: Pietoni"/>
          <p:cNvSpPr txBox="1"/>
          <p:nvPr/>
        </p:nvSpPr>
        <p:spPr>
          <a:xfrm>
            <a:off x="3429000" y="4983480"/>
            <a:ext cx="2468880" cy="502920"/>
          </a:xfrm>
          <a:prstGeom prst="rect">
            <a:avLst/>
          </a:prstGeom>
          <a:noFill/>
        </p:spPr>
        <p:txBody>
          <a:bodyPr wrap="square" lIns="0" rIns="0" tIns="0" bIns="0" anchor="t">
            <a:spAutoFit/>
          </a:bodyPr>
          <a:lstStyle/>
          <a:p>
            <a:pPr algn="ctr">
              <a:lnSpc>
                <a:spcPct val="106000"/>
              </a:lnSpc>
              <a:spcAft>
                <a:spcPts val="700"/>
              </a:spcAft>
            </a:pPr>
            <a:r>
              <a:rPr sz="2200" b="1">
                <a:solidFill>
                  <a:srgbClr val="101820"/>
                </a:solidFill>
                <a:latin typeface="Calibri"/>
              </a:rPr>
              <a:t>Pietoni</a:t>
            </a:r>
          </a:p>
        </p:txBody>
      </p:sp>
      <p:cxnSp>
        <p:nvCxnSpPr>
          <p:cNvPr id="14" name="Connector 13"/>
          <p:cNvCxnSpPr/>
          <p:nvPr/>
        </p:nvCxnSpPr>
        <p:spPr>
          <a:xfrm>
            <a:off x="6057900" y="4315968"/>
            <a:ext cx="1440179" cy="457200"/>
          </a:xfrm>
          <a:prstGeom prst="line">
            <a:avLst/>
          </a:prstGeom>
          <a:ln w="22860">
            <a:solidFill>
              <a:srgbClr val="718C9C"/>
            </a:solidFill>
          </a:ln>
        </p:spPr>
        <p:style>
          <a:lnRef idx="2">
            <a:schemeClr val="accent1"/>
          </a:lnRef>
          <a:fillRef idx="0">
            <a:schemeClr val="accent1"/>
          </a:fillRef>
          <a:effectRef idx="1">
            <a:schemeClr val="accent1"/>
          </a:effectRef>
          <a:fontRef idx="minor">
            <a:schemeClr val="tx1"/>
          </a:fontRef>
        </p:style>
      </p:cxnSp>
      <p:sp>
        <p:nvSpPr>
          <p:cNvPr id="15" name="Text: Biciclete"/>
          <p:cNvSpPr txBox="1"/>
          <p:nvPr/>
        </p:nvSpPr>
        <p:spPr>
          <a:xfrm>
            <a:off x="6263640" y="4983480"/>
            <a:ext cx="2468880" cy="502920"/>
          </a:xfrm>
          <a:prstGeom prst="rect">
            <a:avLst/>
          </a:prstGeom>
          <a:noFill/>
        </p:spPr>
        <p:txBody>
          <a:bodyPr wrap="square" lIns="0" rIns="0" tIns="0" bIns="0" anchor="t">
            <a:spAutoFit/>
          </a:bodyPr>
          <a:lstStyle/>
          <a:p>
            <a:pPr algn="ctr">
              <a:lnSpc>
                <a:spcPct val="106000"/>
              </a:lnSpc>
              <a:spcAft>
                <a:spcPts val="700"/>
              </a:spcAft>
            </a:pPr>
            <a:r>
              <a:rPr sz="2200" b="1">
                <a:solidFill>
                  <a:srgbClr val="101820"/>
                </a:solidFill>
                <a:latin typeface="Calibri"/>
              </a:rPr>
              <a:t>Biciclete</a:t>
            </a:r>
          </a:p>
        </p:txBody>
      </p:sp>
      <p:cxnSp>
        <p:nvCxnSpPr>
          <p:cNvPr id="16" name="Connector 15"/>
          <p:cNvCxnSpPr/>
          <p:nvPr/>
        </p:nvCxnSpPr>
        <p:spPr>
          <a:xfrm>
            <a:off x="6057900" y="4315968"/>
            <a:ext cx="4274819" cy="457200"/>
          </a:xfrm>
          <a:prstGeom prst="line">
            <a:avLst/>
          </a:prstGeom>
          <a:ln w="22860">
            <a:solidFill>
              <a:srgbClr val="718C9C"/>
            </a:solidFill>
          </a:ln>
        </p:spPr>
        <p:style>
          <a:lnRef idx="2">
            <a:schemeClr val="accent1"/>
          </a:lnRef>
          <a:fillRef idx="0">
            <a:schemeClr val="accent1"/>
          </a:fillRef>
          <a:effectRef idx="1">
            <a:schemeClr val="accent1"/>
          </a:effectRef>
          <a:fontRef idx="minor">
            <a:schemeClr val="tx1"/>
          </a:fontRef>
        </p:style>
      </p:cxnSp>
      <p:sp>
        <p:nvSpPr>
          <p:cNvPr id="17" name="Text: Trafic auto"/>
          <p:cNvSpPr txBox="1"/>
          <p:nvPr/>
        </p:nvSpPr>
        <p:spPr>
          <a:xfrm>
            <a:off x="9098280" y="4983480"/>
            <a:ext cx="2468880" cy="502920"/>
          </a:xfrm>
          <a:prstGeom prst="rect">
            <a:avLst/>
          </a:prstGeom>
          <a:noFill/>
        </p:spPr>
        <p:txBody>
          <a:bodyPr wrap="square" lIns="0" rIns="0" tIns="0" bIns="0" anchor="t">
            <a:spAutoFit/>
          </a:bodyPr>
          <a:lstStyle/>
          <a:p>
            <a:pPr algn="ctr">
              <a:lnSpc>
                <a:spcPct val="106000"/>
              </a:lnSpc>
              <a:spcAft>
                <a:spcPts val="700"/>
              </a:spcAft>
            </a:pPr>
            <a:r>
              <a:rPr sz="2200" b="1">
                <a:solidFill>
                  <a:srgbClr val="101820"/>
                </a:solidFill>
                <a:latin typeface="Calibri"/>
              </a:rPr>
              <a:t>Trafic auto</a:t>
            </a:r>
          </a:p>
        </p:txBody>
      </p:sp>
      <p:sp>
        <p:nvSpPr>
          <p:cNvPr id="18" name="Text: Ce se schimbă? Pe ce date ne bazăm?"/>
          <p:cNvSpPr txBox="1"/>
          <p:nvPr/>
        </p:nvSpPr>
        <p:spPr>
          <a:xfrm>
            <a:off x="594360" y="5660136"/>
            <a:ext cx="10972800" cy="502920"/>
          </a:xfrm>
          <a:prstGeom prst="rect">
            <a:avLst/>
          </a:prstGeom>
          <a:noFill/>
        </p:spPr>
        <p:txBody>
          <a:bodyPr wrap="square" lIns="0" rIns="0" tIns="0" bIns="0" anchor="t">
            <a:spAutoFit/>
          </a:bodyPr>
          <a:lstStyle/>
          <a:p>
            <a:pPr>
              <a:lnSpc>
                <a:spcPct val="106000"/>
              </a:lnSpc>
              <a:spcAft>
                <a:spcPts val="700"/>
              </a:spcAft>
            </a:pPr>
            <a:r>
              <a:rPr sz="2500" b="0">
                <a:solidFill>
                  <a:srgbClr val="101820"/>
                </a:solidFill>
                <a:latin typeface="Calibri"/>
              </a:rPr>
              <a:t>Ce se schimbă? Pe ce date ne bazăm?</a:t>
            </a:r>
          </a:p>
        </p:txBody>
      </p:sp>
      <p:sp>
        <p:nvSpPr>
          <p:cNvPr id="19" name="Text: Nevoie propusă; interviurile cu utilizator"/>
          <p:cNvSpPr txBox="1"/>
          <p:nvPr/>
        </p:nvSpPr>
        <p:spPr>
          <a:xfrm>
            <a:off x="594360" y="6144768"/>
            <a:ext cx="10972800" cy="274320"/>
          </a:xfrm>
          <a:prstGeom prst="rect">
            <a:avLst/>
          </a:prstGeom>
          <a:noFill/>
        </p:spPr>
        <p:txBody>
          <a:bodyPr wrap="square" lIns="0" rIns="0" tIns="0" bIns="0" anchor="t">
            <a:spAutoFit/>
          </a:bodyPr>
          <a:lstStyle/>
          <a:p>
            <a:pPr>
              <a:lnSpc>
                <a:spcPct val="106000"/>
              </a:lnSpc>
              <a:spcAft>
                <a:spcPts val="700"/>
              </a:spcAft>
            </a:pPr>
            <a:r>
              <a:rPr sz="1400" b="0">
                <a:solidFill>
                  <a:srgbClr val="486476"/>
                </a:solidFill>
                <a:latin typeface="Calibri"/>
              </a:rPr>
              <a:t>Nevoie propusă; interviurile cu utilizatori urmează.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ALTERNATIVE"/>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486476"/>
                </a:solidFill>
                <a:latin typeface="Calibri"/>
              </a:rPr>
              <a:t>ARTERIA / R / ALTERNATIVE</a:t>
            </a:r>
          </a:p>
        </p:txBody>
      </p:sp>
      <p:sp>
        <p:nvSpPr>
          <p:cNvPr id="3" name="Text: 03"/>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486476"/>
                </a:solidFill>
                <a:latin typeface="Calibri"/>
              </a:rPr>
              <a:t>03</a:t>
            </a:r>
          </a:p>
        </p:txBody>
      </p:sp>
      <p:sp>
        <p:nvSpPr>
          <p:cNvPr id="4" name="Text: Instrumentele există"/>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101820"/>
                </a:solidFill>
                <a:latin typeface="Calibri"/>
              </a:rPr>
              <a:t>Instrumentele există</a:t>
            </a:r>
          </a:p>
        </p:txBody>
      </p:sp>
      <p:sp>
        <p:nvSpPr>
          <p:cNvPr id="5" name="Text: Surse: qgis.org · sumo.dlr.de · Primăria I"/>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486476"/>
                </a:solidFill>
                <a:latin typeface="Calibri"/>
              </a:rPr>
              <a:t>Surse: qgis.org · sumo.dlr.de · Primăria Iași; consultate 2026</a:t>
            </a:r>
          </a:p>
        </p:txBody>
      </p:sp>
      <p:graphicFrame>
        <p:nvGraphicFramePr>
          <p:cNvPr id="6" name="Table 5"/>
          <p:cNvGraphicFramePr>
            <a:graphicFrameLocks noGrp="1"/>
          </p:cNvGraphicFramePr>
          <p:nvPr/>
        </p:nvGraphicFramePr>
        <p:xfrm>
          <a:off x="594360" y="2011680"/>
          <a:ext cx="11000231" cy="2523744"/>
        </p:xfrm>
        <a:graphic>
          <a:graphicData uri="http://schemas.openxmlformats.org/drawingml/2006/table">
            <a:tbl>
              <a:tblPr>
                <a:tableStyleId>{5C22544A-7EE6-4342-B048-85BDC9FD1C3A}</a:tableStyleId>
              </a:tblPr>
              <a:tblGrid>
                <a:gridCol w="2743200"/>
                <a:gridCol w="8257031"/>
              </a:tblGrid>
              <a:tr h="841248">
                <a:tc>
                  <a:txBody>
                    <a:bodyPr/>
                    <a:lstStyle/>
                    <a:p>
                      <a:pPr>
                        <a:spcAft>
                          <a:spcPts val="0"/>
                        </a:spcAft>
                      </a:pPr>
                      <a:r>
                        <a:rPr sz="2100" b="1">
                          <a:solidFill>
                            <a:srgbClr val="101820"/>
                          </a:solidFill>
                          <a:latin typeface="Calibri"/>
                        </a:rPr>
                        <a:t>QGIS</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Date și analiză geografică</a:t>
                      </a:r>
                    </a:p>
                  </a:txBody>
                  <a:tcPr marL="182880" marR="137160" marT="109728" marB="91440" anchor="ctr">
                    <a:solidFill>
                      <a:srgbClr val="EFF4F7"/>
                    </a:solidFill>
                  </a:tcPr>
                </a:tc>
              </a:tr>
              <a:tr h="841248">
                <a:tc>
                  <a:txBody>
                    <a:bodyPr/>
                    <a:lstStyle/>
                    <a:p>
                      <a:pPr>
                        <a:spcAft>
                          <a:spcPts val="0"/>
                        </a:spcAft>
                      </a:pPr>
                      <a:r>
                        <a:rPr sz="2100" b="1">
                          <a:solidFill>
                            <a:srgbClr val="101820"/>
                          </a:solidFill>
                          <a:latin typeface="Calibri"/>
                        </a:rPr>
                        <a:t>SUMO</a:t>
                      </a:r>
                    </a:p>
                  </a:txBody>
                  <a:tcPr marL="182880" marR="137160" marT="109728" marB="91440" anchor="ctr">
                    <a:solidFill>
                      <a:srgbClr val="FFFFFF"/>
                    </a:solidFill>
                  </a:tcPr>
                </a:tc>
                <a:tc>
                  <a:txBody>
                    <a:bodyPr/>
                    <a:lstStyle/>
                    <a:p>
                      <a:pPr>
                        <a:spcAft>
                          <a:spcPts val="0"/>
                        </a:spcAft>
                      </a:pPr>
                      <a:r>
                        <a:rPr sz="2100" b="0">
                          <a:solidFill>
                            <a:srgbClr val="101820"/>
                          </a:solidFill>
                          <a:latin typeface="Calibri"/>
                        </a:rPr>
                        <a:t>Simulare microscopică de trafic</a:t>
                      </a:r>
                    </a:p>
                  </a:txBody>
                  <a:tcPr marL="182880" marR="137160" marT="109728" marB="91440" anchor="ctr">
                    <a:solidFill>
                      <a:srgbClr val="FFFFFF"/>
                    </a:solidFill>
                  </a:tcPr>
                </a:tc>
              </a:tr>
              <a:tr h="841248">
                <a:tc>
                  <a:txBody>
                    <a:bodyPr/>
                    <a:lstStyle/>
                    <a:p>
                      <a:pPr>
                        <a:spcAft>
                          <a:spcPts val="0"/>
                        </a:spcAft>
                      </a:pPr>
                      <a:r>
                        <a:rPr sz="2100" b="1">
                          <a:solidFill>
                            <a:srgbClr val="101820"/>
                          </a:solidFill>
                          <a:latin typeface="Calibri"/>
                        </a:rPr>
                        <a:t>PMUD Iași</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Context de planificare locală</a:t>
                      </a:r>
                    </a:p>
                  </a:txBody>
                  <a:tcPr marL="182880" marR="137160" marT="109728" marB="91440" anchor="ctr">
                    <a:solidFill>
                      <a:srgbClr val="EFF4F7"/>
                    </a:solidFill>
                  </a:tcPr>
                </a:tc>
              </a:tr>
            </a:tbl>
          </a:graphicData>
        </a:graphic>
      </p:graphicFrame>
      <p:sp>
        <p:nvSpPr>
          <p:cNvPr id="7" name="Text: ARTERIA propune un parcurs comun:"/>
          <p:cNvSpPr txBox="1"/>
          <p:nvPr/>
        </p:nvSpPr>
        <p:spPr>
          <a:xfrm>
            <a:off x="594360" y="4892040"/>
            <a:ext cx="10972800" cy="457200"/>
          </a:xfrm>
          <a:prstGeom prst="rect">
            <a:avLst/>
          </a:prstGeom>
          <a:noFill/>
        </p:spPr>
        <p:txBody>
          <a:bodyPr wrap="square" lIns="0" rIns="0" tIns="0" bIns="0" anchor="t">
            <a:spAutoFit/>
          </a:bodyPr>
          <a:lstStyle/>
          <a:p>
            <a:pPr>
              <a:lnSpc>
                <a:spcPct val="106000"/>
              </a:lnSpc>
              <a:spcAft>
                <a:spcPts val="700"/>
              </a:spcAft>
            </a:pPr>
            <a:r>
              <a:rPr sz="2500" b="1">
                <a:solidFill>
                  <a:srgbClr val="101820"/>
                </a:solidFill>
                <a:latin typeface="Calibri"/>
              </a:rPr>
              <a:t>ARTERIA propune un parcurs comun:</a:t>
            </a:r>
          </a:p>
        </p:txBody>
      </p:sp>
      <p:sp>
        <p:nvSpPr>
          <p:cNvPr id="8" name="Text: zonă → alternative → comparație"/>
          <p:cNvSpPr txBox="1"/>
          <p:nvPr/>
        </p:nvSpPr>
        <p:spPr>
          <a:xfrm>
            <a:off x="594360" y="5477256"/>
            <a:ext cx="10972800" cy="457200"/>
          </a:xfrm>
          <a:prstGeom prst="rect">
            <a:avLst/>
          </a:prstGeom>
          <a:noFill/>
        </p:spPr>
        <p:txBody>
          <a:bodyPr wrap="square" lIns="0" rIns="0" tIns="0" bIns="0" anchor="t">
            <a:spAutoFit/>
          </a:bodyPr>
          <a:lstStyle/>
          <a:p>
            <a:pPr>
              <a:lnSpc>
                <a:spcPct val="106000"/>
              </a:lnSpc>
              <a:spcAft>
                <a:spcPts val="700"/>
              </a:spcAft>
            </a:pPr>
            <a:r>
              <a:rPr sz="2800" b="0">
                <a:solidFill>
                  <a:srgbClr val="315B70"/>
                </a:solidFill>
                <a:latin typeface="Calibri"/>
              </a:rPr>
              <a:t>zonă → alternative → comparație</a:t>
            </a:r>
          </a:p>
        </p:txBody>
      </p:sp>
      <p:sp>
        <p:nvSpPr>
          <p:cNvPr id="9" name="Text: Avantajul de utilizare trebuie validat cu "/>
          <p:cNvSpPr txBox="1"/>
          <p:nvPr/>
        </p:nvSpPr>
        <p:spPr>
          <a:xfrm>
            <a:off x="594360" y="6053328"/>
            <a:ext cx="10972800" cy="320040"/>
          </a:xfrm>
          <a:prstGeom prst="rect">
            <a:avLst/>
          </a:prstGeom>
          <a:noFill/>
        </p:spPr>
        <p:txBody>
          <a:bodyPr wrap="square" lIns="0" rIns="0" tIns="0" bIns="0" anchor="t">
            <a:spAutoFit/>
          </a:bodyPr>
          <a:lstStyle/>
          <a:p>
            <a:pPr>
              <a:lnSpc>
                <a:spcPct val="106000"/>
              </a:lnSpc>
              <a:spcAft>
                <a:spcPts val="700"/>
              </a:spcAft>
            </a:pPr>
            <a:r>
              <a:rPr sz="1600" b="0">
                <a:solidFill>
                  <a:srgbClr val="486476"/>
                </a:solidFill>
                <a:latin typeface="Calibri"/>
              </a:rPr>
              <a:t>Avantajul de utilizare trebuie validat cu specialiști.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B / SOLUȚIA"/>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8BC9ED"/>
                </a:solidFill>
                <a:latin typeface="Calibri"/>
              </a:rPr>
              <a:t>ARTERIA / B / SOLUȚIA</a:t>
            </a:r>
          </a:p>
        </p:txBody>
      </p:sp>
      <p:sp>
        <p:nvSpPr>
          <p:cNvPr id="3" name="Text: 04"/>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A8BAC9"/>
                </a:solidFill>
                <a:latin typeface="Calibri"/>
              </a:rPr>
              <a:t>04</a:t>
            </a:r>
          </a:p>
        </p:txBody>
      </p:sp>
      <p:sp>
        <p:nvSpPr>
          <p:cNvPr id="4" name="Text: Parcursul unei comparații"/>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EDF2F6"/>
                </a:solidFill>
                <a:latin typeface="Calibri"/>
              </a:rPr>
              <a:t>Parcursul unei comparații</a:t>
            </a:r>
          </a:p>
        </p:txBody>
      </p:sp>
      <p:sp>
        <p:nvSpPr>
          <p:cNvPr id="5" name="Text: 01"/>
          <p:cNvSpPr txBox="1"/>
          <p:nvPr/>
        </p:nvSpPr>
        <p:spPr>
          <a:xfrm>
            <a:off x="594360" y="2240280"/>
            <a:ext cx="3246120" cy="777240"/>
          </a:xfrm>
          <a:prstGeom prst="rect">
            <a:avLst/>
          </a:prstGeom>
          <a:noFill/>
        </p:spPr>
        <p:txBody>
          <a:bodyPr wrap="square" lIns="0" rIns="0" tIns="0" bIns="0" anchor="t">
            <a:spAutoFit/>
          </a:bodyPr>
          <a:lstStyle/>
          <a:p>
            <a:pPr>
              <a:lnSpc>
                <a:spcPct val="106000"/>
              </a:lnSpc>
              <a:spcAft>
                <a:spcPts val="700"/>
              </a:spcAft>
            </a:pPr>
            <a:r>
              <a:rPr sz="4800" b="1">
                <a:solidFill>
                  <a:srgbClr val="8BC9ED"/>
                </a:solidFill>
                <a:latin typeface="Calibri"/>
              </a:rPr>
              <a:t>01</a:t>
            </a:r>
          </a:p>
        </p:txBody>
      </p:sp>
      <p:sp>
        <p:nvSpPr>
          <p:cNvPr id="6" name="Text: Alege zona"/>
          <p:cNvSpPr txBox="1"/>
          <p:nvPr/>
        </p:nvSpPr>
        <p:spPr>
          <a:xfrm>
            <a:off x="594360" y="3200400"/>
            <a:ext cx="3246120" cy="1143000"/>
          </a:xfrm>
          <a:prstGeom prst="rect">
            <a:avLst/>
          </a:prstGeom>
          <a:noFill/>
        </p:spPr>
        <p:txBody>
          <a:bodyPr wrap="square" lIns="0" rIns="0" tIns="0" bIns="0" anchor="t">
            <a:spAutoFit/>
          </a:bodyPr>
          <a:lstStyle/>
          <a:p>
            <a:pPr>
              <a:lnSpc>
                <a:spcPct val="106000"/>
              </a:lnSpc>
              <a:spcAft>
                <a:spcPts val="700"/>
              </a:spcAft>
            </a:pPr>
            <a:r>
              <a:rPr sz="2700" b="1">
                <a:solidFill>
                  <a:srgbClr val="EDF2F6"/>
                </a:solidFill>
                <a:latin typeface="Calibri"/>
              </a:rPr>
              <a:t>Alege zona</a:t>
            </a:r>
          </a:p>
        </p:txBody>
      </p:sp>
      <p:sp>
        <p:nvSpPr>
          <p:cNvPr id="7" name="Text: 02"/>
          <p:cNvSpPr txBox="1"/>
          <p:nvPr/>
        </p:nvSpPr>
        <p:spPr>
          <a:xfrm>
            <a:off x="4416552" y="2240280"/>
            <a:ext cx="3246120" cy="777240"/>
          </a:xfrm>
          <a:prstGeom prst="rect">
            <a:avLst/>
          </a:prstGeom>
          <a:noFill/>
        </p:spPr>
        <p:txBody>
          <a:bodyPr wrap="square" lIns="0" rIns="0" tIns="0" bIns="0" anchor="t">
            <a:spAutoFit/>
          </a:bodyPr>
          <a:lstStyle/>
          <a:p>
            <a:pPr>
              <a:lnSpc>
                <a:spcPct val="106000"/>
              </a:lnSpc>
              <a:spcAft>
                <a:spcPts val="700"/>
              </a:spcAft>
            </a:pPr>
            <a:r>
              <a:rPr sz="4800" b="1">
                <a:solidFill>
                  <a:srgbClr val="8BC9ED"/>
                </a:solidFill>
                <a:latin typeface="Calibri"/>
              </a:rPr>
              <a:t>02</a:t>
            </a:r>
          </a:p>
        </p:txBody>
      </p:sp>
      <p:sp>
        <p:nvSpPr>
          <p:cNvPr id="8" name="Text: Examinează&#10;alternativele"/>
          <p:cNvSpPr txBox="1"/>
          <p:nvPr/>
        </p:nvSpPr>
        <p:spPr>
          <a:xfrm>
            <a:off x="4416552" y="3200400"/>
            <a:ext cx="3246120" cy="1143000"/>
          </a:xfrm>
          <a:prstGeom prst="rect">
            <a:avLst/>
          </a:prstGeom>
          <a:noFill/>
        </p:spPr>
        <p:txBody>
          <a:bodyPr wrap="square" lIns="0" rIns="0" tIns="0" bIns="0" anchor="t">
            <a:spAutoFit/>
          </a:bodyPr>
          <a:lstStyle/>
          <a:p>
            <a:pPr>
              <a:lnSpc>
                <a:spcPct val="106000"/>
              </a:lnSpc>
              <a:spcAft>
                <a:spcPts val="700"/>
              </a:spcAft>
            </a:pPr>
            <a:r>
              <a:rPr sz="2700" b="1">
                <a:solidFill>
                  <a:srgbClr val="EDF2F6"/>
                </a:solidFill>
                <a:latin typeface="Calibri"/>
              </a:rPr>
              <a:t>Examinează</a:t>
            </a:r>
          </a:p>
          <a:p>
            <a:pPr>
              <a:lnSpc>
                <a:spcPct val="106000"/>
              </a:lnSpc>
              <a:spcAft>
                <a:spcPts val="700"/>
              </a:spcAft>
            </a:pPr>
            <a:r>
              <a:rPr sz="2700" b="1">
                <a:solidFill>
                  <a:srgbClr val="EDF2F6"/>
                </a:solidFill>
                <a:latin typeface="Calibri"/>
              </a:rPr>
              <a:t>alternativele</a:t>
            </a:r>
          </a:p>
        </p:txBody>
      </p:sp>
      <p:sp>
        <p:nvSpPr>
          <p:cNvPr id="9" name="Text: 03"/>
          <p:cNvSpPr txBox="1"/>
          <p:nvPr/>
        </p:nvSpPr>
        <p:spPr>
          <a:xfrm>
            <a:off x="8238744" y="2240280"/>
            <a:ext cx="3246120" cy="777240"/>
          </a:xfrm>
          <a:prstGeom prst="rect">
            <a:avLst/>
          </a:prstGeom>
          <a:noFill/>
        </p:spPr>
        <p:txBody>
          <a:bodyPr wrap="square" lIns="0" rIns="0" tIns="0" bIns="0" anchor="t">
            <a:spAutoFit/>
          </a:bodyPr>
          <a:lstStyle/>
          <a:p>
            <a:pPr>
              <a:lnSpc>
                <a:spcPct val="106000"/>
              </a:lnSpc>
              <a:spcAft>
                <a:spcPts val="700"/>
              </a:spcAft>
            </a:pPr>
            <a:r>
              <a:rPr sz="4800" b="1">
                <a:solidFill>
                  <a:srgbClr val="8BC9ED"/>
                </a:solidFill>
                <a:latin typeface="Calibri"/>
              </a:rPr>
              <a:t>03</a:t>
            </a:r>
          </a:p>
        </p:txBody>
      </p:sp>
      <p:sp>
        <p:nvSpPr>
          <p:cNvPr id="10" name="Text: Compară&#10;scenariul"/>
          <p:cNvSpPr txBox="1"/>
          <p:nvPr/>
        </p:nvSpPr>
        <p:spPr>
          <a:xfrm>
            <a:off x="8238744" y="3200400"/>
            <a:ext cx="3246120" cy="1143000"/>
          </a:xfrm>
          <a:prstGeom prst="rect">
            <a:avLst/>
          </a:prstGeom>
          <a:noFill/>
        </p:spPr>
        <p:txBody>
          <a:bodyPr wrap="square" lIns="0" rIns="0" tIns="0" bIns="0" anchor="t">
            <a:spAutoFit/>
          </a:bodyPr>
          <a:lstStyle/>
          <a:p>
            <a:pPr>
              <a:lnSpc>
                <a:spcPct val="106000"/>
              </a:lnSpc>
              <a:spcAft>
                <a:spcPts val="700"/>
              </a:spcAft>
            </a:pPr>
            <a:r>
              <a:rPr sz="2700" b="1">
                <a:solidFill>
                  <a:srgbClr val="EDF2F6"/>
                </a:solidFill>
                <a:latin typeface="Calibri"/>
              </a:rPr>
              <a:t>Compară</a:t>
            </a:r>
          </a:p>
          <a:p>
            <a:pPr>
              <a:lnSpc>
                <a:spcPct val="106000"/>
              </a:lnSpc>
              <a:spcAft>
                <a:spcPts val="700"/>
              </a:spcAft>
            </a:pPr>
            <a:r>
              <a:rPr sz="2700" b="1">
                <a:solidFill>
                  <a:srgbClr val="EDF2F6"/>
                </a:solidFill>
                <a:latin typeface="Calibri"/>
              </a:rPr>
              <a:t>scenariul</a:t>
            </a:r>
          </a:p>
        </p:txBody>
      </p:sp>
      <p:cxnSp>
        <p:nvCxnSpPr>
          <p:cNvPr id="11" name="Connector 10"/>
          <p:cNvCxnSpPr/>
          <p:nvPr/>
        </p:nvCxnSpPr>
        <p:spPr>
          <a:xfrm>
            <a:off x="3474720" y="2743200"/>
            <a:ext cx="548640" cy="0"/>
          </a:xfrm>
          <a:prstGeom prst="line">
            <a:avLst/>
          </a:prstGeom>
          <a:ln w="22860">
            <a:solidFill>
              <a:srgbClr val="8BC9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06056" y="2743200"/>
            <a:ext cx="539496" cy="0"/>
          </a:xfrm>
          <a:prstGeom prst="line">
            <a:avLst/>
          </a:prstGeom>
          <a:ln w="22860">
            <a:solidFill>
              <a:srgbClr val="8BC9ED"/>
            </a:solidFill>
          </a:ln>
        </p:spPr>
        <p:style>
          <a:lnRef idx="2">
            <a:schemeClr val="accent1"/>
          </a:lnRef>
          <a:fillRef idx="0">
            <a:schemeClr val="accent1"/>
          </a:fillRef>
          <a:effectRef idx="1">
            <a:schemeClr val="accent1"/>
          </a:effectRef>
          <a:fontRef idx="minor">
            <a:schemeClr val="tx1"/>
          </a:fontRef>
        </p:style>
      </p:cxnSp>
      <p:sp>
        <p:nvSpPr>
          <p:cNvPr id="13" name="Text: Astăzi: interfață și scenarii demonstrativ"/>
          <p:cNvSpPr txBox="1"/>
          <p:nvPr/>
        </p:nvSpPr>
        <p:spPr>
          <a:xfrm>
            <a:off x="594360" y="4983480"/>
            <a:ext cx="10972800" cy="548640"/>
          </a:xfrm>
          <a:prstGeom prst="rect">
            <a:avLst/>
          </a:prstGeom>
          <a:noFill/>
        </p:spPr>
        <p:txBody>
          <a:bodyPr wrap="square" lIns="0" rIns="0" tIns="0" bIns="0" anchor="t">
            <a:spAutoFit/>
          </a:bodyPr>
          <a:lstStyle/>
          <a:p>
            <a:pPr>
              <a:lnSpc>
                <a:spcPct val="106000"/>
              </a:lnSpc>
              <a:spcAft>
                <a:spcPts val="700"/>
              </a:spcAft>
            </a:pPr>
            <a:r>
              <a:rPr sz="2400" b="0">
                <a:solidFill>
                  <a:srgbClr val="EFC47C"/>
                </a:solidFill>
                <a:latin typeface="Calibri"/>
              </a:rPr>
              <a:t>Astăzi: interfață și scenarii demonstrative</a:t>
            </a:r>
          </a:p>
        </p:txBody>
      </p:sp>
      <p:sp>
        <p:nvSpPr>
          <p:cNvPr id="14" name="Text: Urmează: date verificate și evaluare repro"/>
          <p:cNvSpPr txBox="1"/>
          <p:nvPr/>
        </p:nvSpPr>
        <p:spPr>
          <a:xfrm>
            <a:off x="594360" y="5669280"/>
            <a:ext cx="10972800" cy="548640"/>
          </a:xfrm>
          <a:prstGeom prst="rect">
            <a:avLst/>
          </a:prstGeom>
          <a:noFill/>
        </p:spPr>
        <p:txBody>
          <a:bodyPr wrap="square" lIns="0" rIns="0" tIns="0" bIns="0" anchor="t">
            <a:spAutoFit/>
          </a:bodyPr>
          <a:lstStyle/>
          <a:p>
            <a:pPr>
              <a:lnSpc>
                <a:spcPct val="106000"/>
              </a:lnSpc>
              <a:spcAft>
                <a:spcPts val="700"/>
              </a:spcAft>
            </a:pPr>
            <a:r>
              <a:rPr sz="2400" b="0">
                <a:solidFill>
                  <a:srgbClr val="EDF2F6"/>
                </a:solidFill>
                <a:latin typeface="Calibri"/>
              </a:rPr>
              <a:t>Urmează: date verificate și evaluare reproductibilă</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DEMO"/>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8BC9ED"/>
                </a:solidFill>
                <a:latin typeface="Calibri"/>
              </a:rPr>
              <a:t>ARTERIA / A / DEMO</a:t>
            </a:r>
          </a:p>
        </p:txBody>
      </p:sp>
      <p:sp>
        <p:nvSpPr>
          <p:cNvPr id="3" name="Text: 05"/>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A8BAC9"/>
                </a:solidFill>
                <a:latin typeface="Calibri"/>
              </a:rPr>
              <a:t>05</a:t>
            </a:r>
          </a:p>
        </p:txBody>
      </p:sp>
      <p:sp>
        <p:nvSpPr>
          <p:cNvPr id="4" name="Text: Podu Roș, în prototip"/>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EDF2F6"/>
                </a:solidFill>
                <a:latin typeface="Calibri"/>
              </a:rPr>
              <a:t>Podu Roș, în prototip</a:t>
            </a:r>
          </a:p>
        </p:txBody>
      </p:sp>
      <p:sp>
        <p:nvSpPr>
          <p:cNvPr id="5" name="Text: Selectează reperul&#10;↓&#10;Alege o alternativă&#10;↓"/>
          <p:cNvSpPr txBox="1"/>
          <p:nvPr/>
        </p:nvSpPr>
        <p:spPr>
          <a:xfrm>
            <a:off x="594360" y="2057400"/>
            <a:ext cx="3703320" cy="2606040"/>
          </a:xfrm>
          <a:prstGeom prst="rect">
            <a:avLst/>
          </a:prstGeom>
          <a:noFill/>
        </p:spPr>
        <p:txBody>
          <a:bodyPr wrap="square" lIns="0" rIns="0" tIns="0" bIns="0" anchor="t">
            <a:spAutoFit/>
          </a:bodyPr>
          <a:lstStyle/>
          <a:p>
            <a:pPr>
              <a:lnSpc>
                <a:spcPct val="106000"/>
              </a:lnSpc>
              <a:spcAft>
                <a:spcPts val="700"/>
              </a:spcAft>
            </a:pPr>
            <a:r>
              <a:rPr sz="2300" b="1">
                <a:solidFill>
                  <a:srgbClr val="EDF2F6"/>
                </a:solidFill>
                <a:latin typeface="Calibri"/>
              </a:rPr>
              <a:t>Selectează reperul</a:t>
            </a:r>
          </a:p>
          <a:p>
            <a:pPr>
              <a:lnSpc>
                <a:spcPct val="106000"/>
              </a:lnSpc>
              <a:spcAft>
                <a:spcPts val="700"/>
              </a:spcAft>
            </a:pPr>
            <a:r>
              <a:rPr sz="2300" b="1">
                <a:solidFill>
                  <a:srgbClr val="EDF2F6"/>
                </a:solidFill>
                <a:latin typeface="Calibri"/>
              </a:rPr>
              <a:t>↓</a:t>
            </a:r>
          </a:p>
          <a:p>
            <a:pPr>
              <a:lnSpc>
                <a:spcPct val="106000"/>
              </a:lnSpc>
              <a:spcAft>
                <a:spcPts val="700"/>
              </a:spcAft>
            </a:pPr>
            <a:r>
              <a:rPr sz="2300" b="1">
                <a:solidFill>
                  <a:srgbClr val="EDF2F6"/>
                </a:solidFill>
                <a:latin typeface="Calibri"/>
              </a:rPr>
              <a:t>Alege o alternativă</a:t>
            </a:r>
          </a:p>
          <a:p>
            <a:pPr>
              <a:lnSpc>
                <a:spcPct val="106000"/>
              </a:lnSpc>
              <a:spcAft>
                <a:spcPts val="700"/>
              </a:spcAft>
            </a:pPr>
            <a:r>
              <a:rPr sz="2300" b="1">
                <a:solidFill>
                  <a:srgbClr val="EDF2F6"/>
                </a:solidFill>
                <a:latin typeface="Calibri"/>
              </a:rPr>
              <a:t>↓</a:t>
            </a:r>
          </a:p>
          <a:p>
            <a:pPr>
              <a:lnSpc>
                <a:spcPct val="106000"/>
              </a:lnSpc>
              <a:spcAft>
                <a:spcPts val="700"/>
              </a:spcAft>
            </a:pPr>
            <a:r>
              <a:rPr sz="2300" b="1">
                <a:solidFill>
                  <a:srgbClr val="EDF2F6"/>
                </a:solidFill>
                <a:latin typeface="Calibri"/>
              </a:rPr>
              <a:t>Deschide comparația</a:t>
            </a:r>
          </a:p>
        </p:txBody>
      </p:sp>
      <p:sp>
        <p:nvSpPr>
          <p:cNvPr id="6" name="Text: DEMO: date predefinite&#10;și ajustări locale"/>
          <p:cNvSpPr txBox="1"/>
          <p:nvPr/>
        </p:nvSpPr>
        <p:spPr>
          <a:xfrm>
            <a:off x="594360" y="4754880"/>
            <a:ext cx="3749039" cy="868680"/>
          </a:xfrm>
          <a:prstGeom prst="rect">
            <a:avLst/>
          </a:prstGeom>
          <a:noFill/>
        </p:spPr>
        <p:txBody>
          <a:bodyPr wrap="square" lIns="0" rIns="0" tIns="0" bIns="0" anchor="t">
            <a:spAutoFit/>
          </a:bodyPr>
          <a:lstStyle/>
          <a:p>
            <a:pPr>
              <a:lnSpc>
                <a:spcPct val="106000"/>
              </a:lnSpc>
              <a:spcAft>
                <a:spcPts val="700"/>
              </a:spcAft>
            </a:pPr>
            <a:r>
              <a:rPr sz="2200" b="1">
                <a:solidFill>
                  <a:srgbClr val="EFC47C"/>
                </a:solidFill>
                <a:latin typeface="Calibri"/>
              </a:rPr>
              <a:t>DEMO: date predefinite</a:t>
            </a:r>
          </a:p>
          <a:p>
            <a:pPr>
              <a:lnSpc>
                <a:spcPct val="106000"/>
              </a:lnSpc>
              <a:spcAft>
                <a:spcPts val="700"/>
              </a:spcAft>
            </a:pPr>
            <a:r>
              <a:rPr sz="2200" b="1">
                <a:solidFill>
                  <a:srgbClr val="EFC47C"/>
                </a:solidFill>
                <a:latin typeface="Calibri"/>
              </a:rPr>
              <a:t>și ajustări locale</a:t>
            </a:r>
          </a:p>
        </p:txBody>
      </p:sp>
      <p:sp>
        <p:nvSpPr>
          <p:cNvPr id="7" name="Text: Fără analiză urbană sau&#10;rulare SUMO din in"/>
          <p:cNvSpPr txBox="1"/>
          <p:nvPr/>
        </p:nvSpPr>
        <p:spPr>
          <a:xfrm>
            <a:off x="594360" y="5705856"/>
            <a:ext cx="3749039" cy="594360"/>
          </a:xfrm>
          <a:prstGeom prst="rect">
            <a:avLst/>
          </a:prstGeom>
          <a:noFill/>
        </p:spPr>
        <p:txBody>
          <a:bodyPr wrap="square" lIns="0" rIns="0" tIns="0" bIns="0" anchor="t">
            <a:spAutoFit/>
          </a:bodyPr>
          <a:lstStyle/>
          <a:p>
            <a:pPr>
              <a:lnSpc>
                <a:spcPct val="106000"/>
              </a:lnSpc>
              <a:spcAft>
                <a:spcPts val="700"/>
              </a:spcAft>
            </a:pPr>
            <a:r>
              <a:rPr sz="1600" b="0">
                <a:solidFill>
                  <a:srgbClr val="EDF2F6"/>
                </a:solidFill>
                <a:latin typeface="Calibri"/>
              </a:rPr>
              <a:t>Fără analiză urbană sau</a:t>
            </a:r>
          </a:p>
          <a:p>
            <a:pPr>
              <a:lnSpc>
                <a:spcPct val="106000"/>
              </a:lnSpc>
              <a:spcAft>
                <a:spcPts val="700"/>
              </a:spcAft>
            </a:pPr>
            <a:r>
              <a:rPr sz="1600" b="0">
                <a:solidFill>
                  <a:srgbClr val="EDF2F6"/>
                </a:solidFill>
                <a:latin typeface="Calibri"/>
              </a:rPr>
              <a:t>rulare SUMO din interfață</a:t>
            </a:r>
          </a:p>
        </p:txBody>
      </p:sp>
      <p:pic>
        <p:nvPicPr>
          <p:cNvPr id="8" name="Picture 7" descr="comparison-demo.png"/>
          <p:cNvPicPr>
            <a:picLocks noChangeAspect="1"/>
          </p:cNvPicPr>
          <p:nvPr/>
        </p:nvPicPr>
        <p:blipFill>
          <a:blip r:embed="rId2"/>
          <a:stretch>
            <a:fillRect/>
          </a:stretch>
        </p:blipFill>
        <p:spPr>
          <a:xfrm>
            <a:off x="5653123" y="1874519"/>
            <a:ext cx="4896920" cy="4251960"/>
          </a:xfrm>
          <a:prstGeom prst="rect">
            <a:avLst/>
          </a:prstGeom>
        </p:spPr>
      </p:pic>
      <p:sp>
        <p:nvSpPr>
          <p:cNvPr id="9" name="Text: Demo local: localhost:3000/app · Captură d"/>
          <p:cNvSpPr txBox="1"/>
          <p:nvPr/>
        </p:nvSpPr>
        <p:spPr>
          <a:xfrm>
            <a:off x="4617720" y="6227064"/>
            <a:ext cx="6967728" cy="320040"/>
          </a:xfrm>
          <a:prstGeom prst="rect">
            <a:avLst/>
          </a:prstGeom>
          <a:noFill/>
        </p:spPr>
        <p:txBody>
          <a:bodyPr wrap="square" lIns="0" rIns="0" tIns="0" bIns="0" anchor="t">
            <a:spAutoFit/>
          </a:bodyPr>
          <a:lstStyle/>
          <a:p>
            <a:pPr>
              <a:lnSpc>
                <a:spcPct val="106000"/>
              </a:lnSpc>
              <a:spcAft>
                <a:spcPts val="700"/>
              </a:spcAft>
            </a:pPr>
            <a:r>
              <a:rPr sz="1200" b="0">
                <a:solidFill>
                  <a:srgbClr val="A8BAC9"/>
                </a:solidFill>
                <a:latin typeface="Calibri"/>
              </a:rPr>
              <a:t>Demo local: localhost:3000/app · Captură din aplicația existentă</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 / CONSTRUCȚIE"/>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486476"/>
                </a:solidFill>
                <a:latin typeface="Calibri"/>
              </a:rPr>
              <a:t>ARTERIA / B / CONSTRUCȚIE</a:t>
            </a:r>
          </a:p>
        </p:txBody>
      </p:sp>
      <p:sp>
        <p:nvSpPr>
          <p:cNvPr id="3" name="Text: 06"/>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486476"/>
                </a:solidFill>
                <a:latin typeface="Calibri"/>
              </a:rPr>
              <a:t>06</a:t>
            </a:r>
          </a:p>
        </p:txBody>
      </p:sp>
      <p:sp>
        <p:nvSpPr>
          <p:cNvPr id="4" name="Text: Frontend · Backend · Sim"/>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101820"/>
                </a:solidFill>
                <a:latin typeface="Calibri"/>
              </a:rPr>
              <a:t>Frontend · Backend · Sim</a:t>
            </a:r>
          </a:p>
        </p:txBody>
      </p:sp>
      <p:sp>
        <p:nvSpPr>
          <p:cNvPr id="5" name="Text: Cod repository, audit 2026 · Linii întreru"/>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486476"/>
                </a:solidFill>
                <a:latin typeface="Calibri"/>
              </a:rPr>
              <a:t>Cod repository, audit 2026 · Linii întrerupte: integrări de construit</a:t>
            </a:r>
          </a:p>
        </p:txBody>
      </p:sp>
      <p:sp>
        <p:nvSpPr>
          <p:cNvPr id="6" name="Rectangle 5"/>
          <p:cNvSpPr/>
          <p:nvPr/>
        </p:nvSpPr>
        <p:spPr>
          <a:xfrm>
            <a:off x="594360" y="2084831"/>
            <a:ext cx="3337560" cy="1874519"/>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Frontend"/>
          <p:cNvSpPr txBox="1"/>
          <p:nvPr/>
        </p:nvSpPr>
        <p:spPr>
          <a:xfrm>
            <a:off x="777240" y="2249424"/>
            <a:ext cx="2971800" cy="502920"/>
          </a:xfrm>
          <a:prstGeom prst="rect">
            <a:avLst/>
          </a:prstGeom>
          <a:noFill/>
        </p:spPr>
        <p:txBody>
          <a:bodyPr wrap="square" lIns="0" rIns="0" tIns="0" bIns="0" anchor="t">
            <a:spAutoFit/>
          </a:bodyPr>
          <a:lstStyle/>
          <a:p>
            <a:pPr>
              <a:lnSpc>
                <a:spcPct val="106000"/>
              </a:lnSpc>
              <a:spcAft>
                <a:spcPts val="700"/>
              </a:spcAft>
            </a:pPr>
            <a:r>
              <a:rPr sz="2400" b="1">
                <a:solidFill>
                  <a:srgbClr val="101820"/>
                </a:solidFill>
                <a:latin typeface="Calibri"/>
              </a:rPr>
              <a:t>Frontend</a:t>
            </a:r>
          </a:p>
        </p:txBody>
      </p:sp>
      <p:sp>
        <p:nvSpPr>
          <p:cNvPr id="8" name="Text: Next.js / MapLibre&#10;Fixtures locale"/>
          <p:cNvSpPr txBox="1"/>
          <p:nvPr/>
        </p:nvSpPr>
        <p:spPr>
          <a:xfrm>
            <a:off x="777240" y="2880360"/>
            <a:ext cx="2971800" cy="987551"/>
          </a:xfrm>
          <a:prstGeom prst="rect">
            <a:avLst/>
          </a:prstGeom>
          <a:noFill/>
        </p:spPr>
        <p:txBody>
          <a:bodyPr wrap="square" lIns="0" rIns="0" tIns="0" bIns="0" anchor="t">
            <a:spAutoFit/>
          </a:bodyPr>
          <a:lstStyle/>
          <a:p>
            <a:pPr>
              <a:lnSpc>
                <a:spcPct val="106000"/>
              </a:lnSpc>
              <a:spcAft>
                <a:spcPts val="700"/>
              </a:spcAft>
            </a:pPr>
            <a:r>
              <a:rPr sz="2100" b="0">
                <a:solidFill>
                  <a:srgbClr val="101820"/>
                </a:solidFill>
                <a:latin typeface="Calibri"/>
              </a:rPr>
              <a:t>Next.js / MapLibre</a:t>
            </a:r>
          </a:p>
          <a:p>
            <a:pPr>
              <a:lnSpc>
                <a:spcPct val="106000"/>
              </a:lnSpc>
              <a:spcAft>
                <a:spcPts val="700"/>
              </a:spcAft>
            </a:pPr>
            <a:r>
              <a:rPr sz="2100" b="0">
                <a:solidFill>
                  <a:srgbClr val="101820"/>
                </a:solidFill>
                <a:latin typeface="Calibri"/>
              </a:rPr>
              <a:t>Fixtures locale</a:t>
            </a:r>
          </a:p>
        </p:txBody>
      </p:sp>
      <p:sp>
        <p:nvSpPr>
          <p:cNvPr id="9" name="Rectangle 8"/>
          <p:cNvSpPr/>
          <p:nvPr/>
        </p:nvSpPr>
        <p:spPr>
          <a:xfrm>
            <a:off x="4416552" y="2084831"/>
            <a:ext cx="3337560" cy="1874519"/>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Backend"/>
          <p:cNvSpPr txBox="1"/>
          <p:nvPr/>
        </p:nvSpPr>
        <p:spPr>
          <a:xfrm>
            <a:off x="4599432" y="2249424"/>
            <a:ext cx="2971800" cy="502920"/>
          </a:xfrm>
          <a:prstGeom prst="rect">
            <a:avLst/>
          </a:prstGeom>
          <a:noFill/>
        </p:spPr>
        <p:txBody>
          <a:bodyPr wrap="square" lIns="0" rIns="0" tIns="0" bIns="0" anchor="t">
            <a:spAutoFit/>
          </a:bodyPr>
          <a:lstStyle/>
          <a:p>
            <a:pPr>
              <a:lnSpc>
                <a:spcPct val="106000"/>
              </a:lnSpc>
              <a:spcAft>
                <a:spcPts val="700"/>
              </a:spcAft>
            </a:pPr>
            <a:r>
              <a:rPr sz="2400" b="1">
                <a:solidFill>
                  <a:srgbClr val="101820"/>
                </a:solidFill>
                <a:latin typeface="Calibri"/>
              </a:rPr>
              <a:t>Backend</a:t>
            </a:r>
          </a:p>
        </p:txBody>
      </p:sp>
      <p:sp>
        <p:nvSpPr>
          <p:cNvPr id="11" name="Text: FastAPI: /health&#10;Server demo separat"/>
          <p:cNvSpPr txBox="1"/>
          <p:nvPr/>
        </p:nvSpPr>
        <p:spPr>
          <a:xfrm>
            <a:off x="4599432" y="2880360"/>
            <a:ext cx="2971800" cy="987551"/>
          </a:xfrm>
          <a:prstGeom prst="rect">
            <a:avLst/>
          </a:prstGeom>
          <a:noFill/>
        </p:spPr>
        <p:txBody>
          <a:bodyPr wrap="square" lIns="0" rIns="0" tIns="0" bIns="0" anchor="t">
            <a:spAutoFit/>
          </a:bodyPr>
          <a:lstStyle/>
          <a:p>
            <a:pPr>
              <a:lnSpc>
                <a:spcPct val="106000"/>
              </a:lnSpc>
              <a:spcAft>
                <a:spcPts val="700"/>
              </a:spcAft>
            </a:pPr>
            <a:r>
              <a:rPr sz="2100" b="0">
                <a:solidFill>
                  <a:srgbClr val="101820"/>
                </a:solidFill>
                <a:latin typeface="Calibri"/>
              </a:rPr>
              <a:t>FastAPI: /health</a:t>
            </a:r>
          </a:p>
          <a:p>
            <a:pPr>
              <a:lnSpc>
                <a:spcPct val="106000"/>
              </a:lnSpc>
              <a:spcAft>
                <a:spcPts val="700"/>
              </a:spcAft>
            </a:pPr>
            <a:r>
              <a:rPr sz="2100" b="0">
                <a:solidFill>
                  <a:srgbClr val="101820"/>
                </a:solidFill>
                <a:latin typeface="Calibri"/>
              </a:rPr>
              <a:t>Server demo separat</a:t>
            </a:r>
          </a:p>
        </p:txBody>
      </p:sp>
      <p:sp>
        <p:nvSpPr>
          <p:cNvPr id="12" name="Rectangle 11"/>
          <p:cNvSpPr/>
          <p:nvPr/>
        </p:nvSpPr>
        <p:spPr>
          <a:xfrm>
            <a:off x="8238744" y="2084831"/>
            <a:ext cx="3337560" cy="1874519"/>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Sim"/>
          <p:cNvSpPr txBox="1"/>
          <p:nvPr/>
        </p:nvSpPr>
        <p:spPr>
          <a:xfrm>
            <a:off x="8421624" y="2249424"/>
            <a:ext cx="2971800" cy="502920"/>
          </a:xfrm>
          <a:prstGeom prst="rect">
            <a:avLst/>
          </a:prstGeom>
          <a:noFill/>
        </p:spPr>
        <p:txBody>
          <a:bodyPr wrap="square" lIns="0" rIns="0" tIns="0" bIns="0" anchor="t">
            <a:spAutoFit/>
          </a:bodyPr>
          <a:lstStyle/>
          <a:p>
            <a:pPr>
              <a:lnSpc>
                <a:spcPct val="106000"/>
              </a:lnSpc>
              <a:spcAft>
                <a:spcPts val="700"/>
              </a:spcAft>
            </a:pPr>
            <a:r>
              <a:rPr sz="2400" b="1">
                <a:solidFill>
                  <a:srgbClr val="101820"/>
                </a:solidFill>
                <a:latin typeface="Calibri"/>
              </a:rPr>
              <a:t>Sim</a:t>
            </a:r>
          </a:p>
        </p:txBody>
      </p:sp>
      <p:sp>
        <p:nvSpPr>
          <p:cNvPr id="14" name="Text: NetworkX sintetic&#10;Utilitar smoke SUMO"/>
          <p:cNvSpPr txBox="1"/>
          <p:nvPr/>
        </p:nvSpPr>
        <p:spPr>
          <a:xfrm>
            <a:off x="8421624" y="2880360"/>
            <a:ext cx="2971800" cy="987551"/>
          </a:xfrm>
          <a:prstGeom prst="rect">
            <a:avLst/>
          </a:prstGeom>
          <a:noFill/>
        </p:spPr>
        <p:txBody>
          <a:bodyPr wrap="square" lIns="0" rIns="0" tIns="0" bIns="0" anchor="t">
            <a:spAutoFit/>
          </a:bodyPr>
          <a:lstStyle/>
          <a:p>
            <a:pPr>
              <a:lnSpc>
                <a:spcPct val="106000"/>
              </a:lnSpc>
              <a:spcAft>
                <a:spcPts val="700"/>
              </a:spcAft>
            </a:pPr>
            <a:r>
              <a:rPr sz="2100" b="0">
                <a:solidFill>
                  <a:srgbClr val="101820"/>
                </a:solidFill>
                <a:latin typeface="Calibri"/>
              </a:rPr>
              <a:t>NetworkX sintetic</a:t>
            </a:r>
          </a:p>
          <a:p>
            <a:pPr>
              <a:lnSpc>
                <a:spcPct val="106000"/>
              </a:lnSpc>
              <a:spcAft>
                <a:spcPts val="700"/>
              </a:spcAft>
            </a:pPr>
            <a:r>
              <a:rPr sz="2100" b="0">
                <a:solidFill>
                  <a:srgbClr val="101820"/>
                </a:solidFill>
                <a:latin typeface="Calibri"/>
              </a:rPr>
              <a:t>Utilitar smoke SUMO</a:t>
            </a:r>
          </a:p>
        </p:txBody>
      </p:sp>
      <p:cxnSp>
        <p:nvCxnSpPr>
          <p:cNvPr id="15" name="Connector 14"/>
          <p:cNvCxnSpPr/>
          <p:nvPr/>
        </p:nvCxnSpPr>
        <p:spPr>
          <a:xfrm>
            <a:off x="3931920" y="3017520"/>
            <a:ext cx="457200" cy="0"/>
          </a:xfrm>
          <a:prstGeom prst="line">
            <a:avLst/>
          </a:prstGeom>
          <a:ln w="22860">
            <a:solidFill>
              <a:srgbClr val="607B8B"/>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54112" y="3017520"/>
            <a:ext cx="457200" cy="0"/>
          </a:xfrm>
          <a:prstGeom prst="line">
            <a:avLst/>
          </a:prstGeom>
          <a:ln w="22860">
            <a:solidFill>
              <a:srgbClr val="607B8B"/>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80760" y="3959352"/>
            <a:ext cx="0" cy="475488"/>
          </a:xfrm>
          <a:prstGeom prst="line">
            <a:avLst/>
          </a:prstGeom>
          <a:ln w="22860">
            <a:solidFill>
              <a:srgbClr val="607B8B"/>
            </a:solidFill>
            <a:prstDash val="dash"/>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788920" y="4462272"/>
            <a:ext cx="6629400" cy="146304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AI planificat"/>
          <p:cNvSpPr txBox="1"/>
          <p:nvPr/>
        </p:nvSpPr>
        <p:spPr>
          <a:xfrm>
            <a:off x="2971800" y="4626864"/>
            <a:ext cx="6263640" cy="502920"/>
          </a:xfrm>
          <a:prstGeom prst="rect">
            <a:avLst/>
          </a:prstGeom>
          <a:noFill/>
        </p:spPr>
        <p:txBody>
          <a:bodyPr wrap="square" lIns="0" rIns="0" tIns="0" bIns="0" anchor="t">
            <a:spAutoFit/>
          </a:bodyPr>
          <a:lstStyle/>
          <a:p>
            <a:pPr>
              <a:lnSpc>
                <a:spcPct val="106000"/>
              </a:lnSpc>
              <a:spcAft>
                <a:spcPts val="700"/>
              </a:spcAft>
            </a:pPr>
            <a:r>
              <a:rPr sz="2400" b="1">
                <a:solidFill>
                  <a:srgbClr val="101820"/>
                </a:solidFill>
                <a:latin typeface="Calibri"/>
              </a:rPr>
              <a:t>AI planificat</a:t>
            </a:r>
          </a:p>
        </p:txBody>
      </p:sp>
      <p:sp>
        <p:nvSpPr>
          <p:cNvPr id="20" name="Text: Alternative structurate, validate înainte "/>
          <p:cNvSpPr txBox="1"/>
          <p:nvPr/>
        </p:nvSpPr>
        <p:spPr>
          <a:xfrm>
            <a:off x="2971800" y="5257800"/>
            <a:ext cx="6263640" cy="576072"/>
          </a:xfrm>
          <a:prstGeom prst="rect">
            <a:avLst/>
          </a:prstGeom>
          <a:noFill/>
        </p:spPr>
        <p:txBody>
          <a:bodyPr wrap="square" lIns="0" rIns="0" tIns="0" bIns="0" anchor="t">
            <a:spAutoFit/>
          </a:bodyPr>
          <a:lstStyle/>
          <a:p>
            <a:pPr>
              <a:lnSpc>
                <a:spcPct val="106000"/>
              </a:lnSpc>
              <a:spcAft>
                <a:spcPts val="700"/>
              </a:spcAft>
            </a:pPr>
            <a:r>
              <a:rPr sz="2000" b="0">
                <a:solidFill>
                  <a:srgbClr val="101820"/>
                </a:solidFill>
                <a:latin typeface="Calibri"/>
              </a:rPr>
              <a:t>Alternative structurate, validate înainte de evaluare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USINESS / CINE PLĂTEȘTE"/>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486476"/>
                </a:solidFill>
                <a:latin typeface="Calibri"/>
              </a:rPr>
              <a:t>ARTERIA / BUSINESS / CINE PLĂTEȘTE</a:t>
            </a:r>
          </a:p>
        </p:txBody>
      </p:sp>
      <p:sp>
        <p:nvSpPr>
          <p:cNvPr id="3" name="Text: 07"/>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486476"/>
                </a:solidFill>
                <a:latin typeface="Calibri"/>
              </a:rPr>
              <a:t>07</a:t>
            </a:r>
          </a:p>
        </p:txBody>
      </p:sp>
      <p:sp>
        <p:nvSpPr>
          <p:cNvPr id="4" name="Text: Model economic de testat"/>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101820"/>
                </a:solidFill>
                <a:latin typeface="Calibri"/>
              </a:rPr>
              <a:t>Model economic de testat</a:t>
            </a:r>
          </a:p>
        </p:txBody>
      </p:sp>
      <p:sp>
        <p:nvSpPr>
          <p:cNvPr id="5" name="Text: Sursă preț: ipoteza din pitch-ul anterior,"/>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486476"/>
                </a:solidFill>
                <a:latin typeface="Calibri"/>
              </a:rPr>
              <a:t>Sursă preț: ipoteza din pitch-ul anterior, 2026</a:t>
            </a:r>
          </a:p>
        </p:txBody>
      </p:sp>
      <p:sp>
        <p:nvSpPr>
          <p:cNvPr id="6" name="Text: 1.500 €"/>
          <p:cNvSpPr txBox="1"/>
          <p:nvPr/>
        </p:nvSpPr>
        <p:spPr>
          <a:xfrm>
            <a:off x="594360" y="2423160"/>
            <a:ext cx="4754880" cy="1005840"/>
          </a:xfrm>
          <a:prstGeom prst="rect">
            <a:avLst/>
          </a:prstGeom>
          <a:noFill/>
        </p:spPr>
        <p:txBody>
          <a:bodyPr wrap="square" lIns="0" rIns="0" tIns="0" bIns="0" anchor="t">
            <a:spAutoFit/>
          </a:bodyPr>
          <a:lstStyle/>
          <a:p>
            <a:pPr>
              <a:lnSpc>
                <a:spcPct val="106000"/>
              </a:lnSpc>
              <a:spcAft>
                <a:spcPts val="700"/>
              </a:spcAft>
            </a:pPr>
            <a:r>
              <a:rPr sz="5800" b="1">
                <a:solidFill>
                  <a:srgbClr val="101820"/>
                </a:solidFill>
                <a:latin typeface="Calibri"/>
              </a:rPr>
              <a:t>1.500 €</a:t>
            </a:r>
          </a:p>
        </p:txBody>
      </p:sp>
      <p:sp>
        <p:nvSpPr>
          <p:cNvPr id="7" name="Text: / lună"/>
          <p:cNvSpPr txBox="1"/>
          <p:nvPr/>
        </p:nvSpPr>
        <p:spPr>
          <a:xfrm>
            <a:off x="621792" y="3520440"/>
            <a:ext cx="4480560" cy="502920"/>
          </a:xfrm>
          <a:prstGeom prst="rect">
            <a:avLst/>
          </a:prstGeom>
          <a:noFill/>
        </p:spPr>
        <p:txBody>
          <a:bodyPr wrap="square" lIns="0" rIns="0" tIns="0" bIns="0" anchor="t">
            <a:spAutoFit/>
          </a:bodyPr>
          <a:lstStyle/>
          <a:p>
            <a:pPr>
              <a:lnSpc>
                <a:spcPct val="106000"/>
              </a:lnSpc>
              <a:spcAft>
                <a:spcPts val="700"/>
              </a:spcAft>
            </a:pPr>
            <a:r>
              <a:rPr sz="2800" b="0">
                <a:solidFill>
                  <a:srgbClr val="315B70"/>
                </a:solidFill>
                <a:latin typeface="Calibri"/>
              </a:rPr>
              <a:t>/ lună</a:t>
            </a:r>
          </a:p>
        </p:txBody>
      </p:sp>
      <p:sp>
        <p:nvSpPr>
          <p:cNvPr id="8" name="Text: Ipoteză de abonament,&#10;nevalidată"/>
          <p:cNvSpPr txBox="1"/>
          <p:nvPr/>
        </p:nvSpPr>
        <p:spPr>
          <a:xfrm>
            <a:off x="621792" y="4270248"/>
            <a:ext cx="4480560" cy="960120"/>
          </a:xfrm>
          <a:prstGeom prst="rect">
            <a:avLst/>
          </a:prstGeom>
          <a:noFill/>
        </p:spPr>
        <p:txBody>
          <a:bodyPr wrap="square" lIns="0" rIns="0" tIns="0" bIns="0" anchor="t">
            <a:spAutoFit/>
          </a:bodyPr>
          <a:lstStyle/>
          <a:p>
            <a:pPr>
              <a:lnSpc>
                <a:spcPct val="106000"/>
              </a:lnSpc>
              <a:spcAft>
                <a:spcPts val="700"/>
              </a:spcAft>
            </a:pPr>
            <a:r>
              <a:rPr sz="2500" b="1">
                <a:solidFill>
                  <a:srgbClr val="101820"/>
                </a:solidFill>
                <a:latin typeface="Calibri"/>
              </a:rPr>
              <a:t>Ipoteză de abonament,</a:t>
            </a:r>
          </a:p>
          <a:p>
            <a:pPr>
              <a:lnSpc>
                <a:spcPct val="106000"/>
              </a:lnSpc>
              <a:spcAft>
                <a:spcPts val="700"/>
              </a:spcAft>
            </a:pPr>
            <a:r>
              <a:rPr sz="2500" b="1">
                <a:solidFill>
                  <a:srgbClr val="101820"/>
                </a:solidFill>
                <a:latin typeface="Calibri"/>
              </a:rPr>
              <a:t>nevalidată</a:t>
            </a:r>
          </a:p>
        </p:txBody>
      </p:sp>
      <p:sp>
        <p:nvSpPr>
          <p:cNvPr id="9" name="Text: Cumpărător vizat"/>
          <p:cNvSpPr txBox="1"/>
          <p:nvPr/>
        </p:nvSpPr>
        <p:spPr>
          <a:xfrm>
            <a:off x="5669280" y="2011680"/>
            <a:ext cx="5897880" cy="365760"/>
          </a:xfrm>
          <a:prstGeom prst="rect">
            <a:avLst/>
          </a:prstGeom>
          <a:noFill/>
        </p:spPr>
        <p:txBody>
          <a:bodyPr wrap="square" lIns="0" rIns="0" tIns="0" bIns="0" anchor="t">
            <a:spAutoFit/>
          </a:bodyPr>
          <a:lstStyle/>
          <a:p>
            <a:pPr>
              <a:lnSpc>
                <a:spcPct val="106000"/>
              </a:lnSpc>
              <a:spcAft>
                <a:spcPts val="700"/>
              </a:spcAft>
            </a:pPr>
            <a:r>
              <a:rPr sz="1800" b="1">
                <a:solidFill>
                  <a:srgbClr val="486476"/>
                </a:solidFill>
                <a:latin typeface="Calibri"/>
              </a:rPr>
              <a:t>Cumpărător vizat</a:t>
            </a:r>
          </a:p>
        </p:txBody>
      </p:sp>
      <p:sp>
        <p:nvSpPr>
          <p:cNvPr id="10" name="Text: Administrație locală /&#10;consultanță de mobi"/>
          <p:cNvSpPr txBox="1"/>
          <p:nvPr/>
        </p:nvSpPr>
        <p:spPr>
          <a:xfrm>
            <a:off x="5669280" y="2487168"/>
            <a:ext cx="5897880" cy="960120"/>
          </a:xfrm>
          <a:prstGeom prst="rect">
            <a:avLst/>
          </a:prstGeom>
          <a:noFill/>
        </p:spPr>
        <p:txBody>
          <a:bodyPr wrap="square" lIns="0" rIns="0" tIns="0" bIns="0" anchor="t">
            <a:spAutoFit/>
          </a:bodyPr>
          <a:lstStyle/>
          <a:p>
            <a:pPr>
              <a:lnSpc>
                <a:spcPct val="106000"/>
              </a:lnSpc>
              <a:spcAft>
                <a:spcPts val="700"/>
              </a:spcAft>
            </a:pPr>
            <a:r>
              <a:rPr sz="2500" b="1">
                <a:solidFill>
                  <a:srgbClr val="101820"/>
                </a:solidFill>
                <a:latin typeface="Calibri"/>
              </a:rPr>
              <a:t>Administrație locală /</a:t>
            </a:r>
          </a:p>
          <a:p>
            <a:pPr>
              <a:lnSpc>
                <a:spcPct val="106000"/>
              </a:lnSpc>
              <a:spcAft>
                <a:spcPts val="700"/>
              </a:spcAft>
            </a:pPr>
            <a:r>
              <a:rPr sz="2500" b="1">
                <a:solidFill>
                  <a:srgbClr val="101820"/>
                </a:solidFill>
                <a:latin typeface="Calibri"/>
              </a:rPr>
              <a:t>consultanță de mobilitate</a:t>
            </a:r>
          </a:p>
        </p:txBody>
      </p:sp>
      <p:sp>
        <p:nvSpPr>
          <p:cNvPr id="11" name="Text: Valoare de verificat: timpul&#10;pregătirii un"/>
          <p:cNvSpPr txBox="1"/>
          <p:nvPr/>
        </p:nvSpPr>
        <p:spPr>
          <a:xfrm>
            <a:off x="5669280" y="3749039"/>
            <a:ext cx="5897880" cy="868680"/>
          </a:xfrm>
          <a:prstGeom prst="rect">
            <a:avLst/>
          </a:prstGeom>
          <a:noFill/>
        </p:spPr>
        <p:txBody>
          <a:bodyPr wrap="square" lIns="0" rIns="0" tIns="0" bIns="0" anchor="t">
            <a:spAutoFit/>
          </a:bodyPr>
          <a:lstStyle/>
          <a:p>
            <a:pPr>
              <a:lnSpc>
                <a:spcPct val="106000"/>
              </a:lnSpc>
              <a:spcAft>
                <a:spcPts val="700"/>
              </a:spcAft>
            </a:pPr>
            <a:r>
              <a:rPr sz="2300" b="0">
                <a:solidFill>
                  <a:srgbClr val="101820"/>
                </a:solidFill>
                <a:latin typeface="Calibri"/>
              </a:rPr>
              <a:t>Valoare de verificat: timpul</a:t>
            </a:r>
          </a:p>
          <a:p>
            <a:pPr>
              <a:lnSpc>
                <a:spcPct val="106000"/>
              </a:lnSpc>
              <a:spcAft>
                <a:spcPts val="700"/>
              </a:spcAft>
            </a:pPr>
            <a:r>
              <a:rPr sz="2300" b="0">
                <a:solidFill>
                  <a:srgbClr val="101820"/>
                </a:solidFill>
                <a:latin typeface="Calibri"/>
              </a:rPr>
              <a:t>pregătirii unei comparații</a:t>
            </a:r>
          </a:p>
        </p:txBody>
      </p:sp>
      <p:sp>
        <p:nvSpPr>
          <p:cNvPr id="12" name="Text: Costuri de măsurat:&#10;date, calcul și suport"/>
          <p:cNvSpPr txBox="1"/>
          <p:nvPr/>
        </p:nvSpPr>
        <p:spPr>
          <a:xfrm>
            <a:off x="5669280" y="4956048"/>
            <a:ext cx="5897880" cy="822960"/>
          </a:xfrm>
          <a:prstGeom prst="rect">
            <a:avLst/>
          </a:prstGeom>
          <a:noFill/>
        </p:spPr>
        <p:txBody>
          <a:bodyPr wrap="square" lIns="0" rIns="0" tIns="0" bIns="0" anchor="t">
            <a:spAutoFit/>
          </a:bodyPr>
          <a:lstStyle/>
          <a:p>
            <a:pPr>
              <a:lnSpc>
                <a:spcPct val="106000"/>
              </a:lnSpc>
              <a:spcAft>
                <a:spcPts val="700"/>
              </a:spcAft>
            </a:pPr>
            <a:r>
              <a:rPr sz="2300" b="0">
                <a:solidFill>
                  <a:srgbClr val="101820"/>
                </a:solidFill>
                <a:latin typeface="Calibri"/>
              </a:rPr>
              <a:t>Costuri de măsurat:</a:t>
            </a:r>
          </a:p>
          <a:p>
            <a:pPr>
              <a:lnSpc>
                <a:spcPct val="106000"/>
              </a:lnSpc>
              <a:spcAft>
                <a:spcPts val="700"/>
              </a:spcAft>
            </a:pPr>
            <a:r>
              <a:rPr sz="2300" b="0">
                <a:solidFill>
                  <a:srgbClr val="101820"/>
                </a:solidFill>
                <a:latin typeface="Calibri"/>
              </a:rPr>
              <a:t>date, calcul și suport</a:t>
            </a:r>
          </a:p>
        </p:txBody>
      </p:sp>
      <p:sp>
        <p:nvSpPr>
          <p:cNvPr id="13" name="Text: Niciun client plătitor confirmat"/>
          <p:cNvSpPr txBox="1"/>
          <p:nvPr/>
        </p:nvSpPr>
        <p:spPr>
          <a:xfrm>
            <a:off x="594360" y="5943600"/>
            <a:ext cx="10972800" cy="411480"/>
          </a:xfrm>
          <a:prstGeom prst="rect">
            <a:avLst/>
          </a:prstGeom>
          <a:noFill/>
        </p:spPr>
        <p:txBody>
          <a:bodyPr wrap="square" lIns="0" rIns="0" tIns="0" bIns="0" anchor="t">
            <a:spAutoFit/>
          </a:bodyPr>
          <a:lstStyle/>
          <a:p>
            <a:pPr>
              <a:lnSpc>
                <a:spcPct val="106000"/>
              </a:lnSpc>
              <a:spcAft>
                <a:spcPts val="700"/>
              </a:spcAft>
            </a:pPr>
            <a:r>
              <a:rPr sz="1800" b="0">
                <a:solidFill>
                  <a:srgbClr val="486476"/>
                </a:solidFill>
                <a:latin typeface="Calibri"/>
              </a:rPr>
              <a:t>Niciun client plătitor confirmat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PIAȚA"/>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486476"/>
                </a:solidFill>
                <a:latin typeface="Calibri"/>
              </a:rPr>
              <a:t>ARTERIA / R / PIAȚA</a:t>
            </a:r>
          </a:p>
        </p:txBody>
      </p:sp>
      <p:sp>
        <p:nvSpPr>
          <p:cNvPr id="3" name="Text: 08"/>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486476"/>
                </a:solidFill>
                <a:latin typeface="Calibri"/>
              </a:rPr>
              <a:t>08</a:t>
            </a:r>
          </a:p>
        </p:txBody>
      </p:sp>
      <p:sp>
        <p:nvSpPr>
          <p:cNvPr id="4" name="Text: Primii utilizatori, înainte de extindere"/>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101820"/>
                </a:solidFill>
                <a:latin typeface="Calibri"/>
              </a:rPr>
              <a:t>Primii utilizatori, înainte de extindere</a:t>
            </a:r>
          </a:p>
        </p:txBody>
      </p:sp>
      <p:sp>
        <p:nvSpPr>
          <p:cNvPr id="5" name="Text: Ipoteze de lucru, 2026 · Nu reprezintă ven"/>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486476"/>
                </a:solidFill>
                <a:latin typeface="Calibri"/>
              </a:rPr>
              <a:t>Ipoteze de lucru, 2026 · Nu reprezintă venit sau piață măsurată</a:t>
            </a:r>
          </a:p>
        </p:txBody>
      </p:sp>
      <p:sp>
        <p:nvSpPr>
          <p:cNvPr id="6" name="Text: Iași: primul specialist și un caz de lucru"/>
          <p:cNvSpPr txBox="1"/>
          <p:nvPr/>
        </p:nvSpPr>
        <p:spPr>
          <a:xfrm>
            <a:off x="594360" y="2011680"/>
            <a:ext cx="10972800" cy="777240"/>
          </a:xfrm>
          <a:prstGeom prst="rect">
            <a:avLst/>
          </a:prstGeom>
          <a:noFill/>
        </p:spPr>
        <p:txBody>
          <a:bodyPr wrap="square" lIns="0" rIns="0" tIns="0" bIns="0" anchor="t">
            <a:spAutoFit/>
          </a:bodyPr>
          <a:lstStyle/>
          <a:p>
            <a:pPr>
              <a:lnSpc>
                <a:spcPct val="106000"/>
              </a:lnSpc>
              <a:spcAft>
                <a:spcPts val="700"/>
              </a:spcAft>
            </a:pPr>
            <a:r>
              <a:rPr sz="2700" b="1">
                <a:solidFill>
                  <a:srgbClr val="101820"/>
                </a:solidFill>
                <a:latin typeface="Calibri"/>
              </a:rPr>
              <a:t>Iași: primul specialist și un caz de lucru</a:t>
            </a:r>
          </a:p>
        </p:txBody>
      </p:sp>
      <p:sp>
        <p:nvSpPr>
          <p:cNvPr id="7" name="Text: Apoi: listă de 10 organizații de interviev"/>
          <p:cNvSpPr txBox="1"/>
          <p:nvPr/>
        </p:nvSpPr>
        <p:spPr>
          <a:xfrm>
            <a:off x="594360" y="2816352"/>
            <a:ext cx="10972800" cy="777240"/>
          </a:xfrm>
          <a:prstGeom prst="rect">
            <a:avLst/>
          </a:prstGeom>
          <a:noFill/>
        </p:spPr>
        <p:txBody>
          <a:bodyPr wrap="square" lIns="0" rIns="0" tIns="0" bIns="0" anchor="t">
            <a:spAutoFit/>
          </a:bodyPr>
          <a:lstStyle/>
          <a:p>
            <a:pPr>
              <a:lnSpc>
                <a:spcPct val="106000"/>
              </a:lnSpc>
              <a:spcAft>
                <a:spcPts val="700"/>
              </a:spcAft>
            </a:pPr>
            <a:r>
              <a:rPr sz="2400" b="0">
                <a:solidFill>
                  <a:srgbClr val="101820"/>
                </a:solidFill>
                <a:latin typeface="Calibri"/>
              </a:rPr>
              <a:t>Apoi: listă de 10 organizații de intervievat</a:t>
            </a:r>
          </a:p>
        </p:txBody>
      </p:sp>
      <p:sp>
        <p:nvSpPr>
          <p:cNvPr id="8" name="Text: Canal propus: introduceri prin mentori și "/>
          <p:cNvSpPr txBox="1"/>
          <p:nvPr/>
        </p:nvSpPr>
        <p:spPr>
          <a:xfrm>
            <a:off x="594360" y="3611880"/>
            <a:ext cx="10972800" cy="777240"/>
          </a:xfrm>
          <a:prstGeom prst="rect">
            <a:avLst/>
          </a:prstGeom>
          <a:noFill/>
        </p:spPr>
        <p:txBody>
          <a:bodyPr wrap="square" lIns="0" rIns="0" tIns="0" bIns="0" anchor="t">
            <a:spAutoFit/>
          </a:bodyPr>
          <a:lstStyle/>
          <a:p>
            <a:pPr>
              <a:lnSpc>
                <a:spcPct val="106000"/>
              </a:lnSpc>
              <a:spcAft>
                <a:spcPts val="700"/>
              </a:spcAft>
            </a:pPr>
            <a:r>
              <a:rPr sz="2200" b="0">
                <a:solidFill>
                  <a:srgbClr val="101820"/>
                </a:solidFill>
                <a:latin typeface="Calibri"/>
              </a:rPr>
              <a:t>Canal propus: introduceri prin mentori și comunități de mobilitate</a:t>
            </a:r>
          </a:p>
        </p:txBody>
      </p:sp>
      <p:sp>
        <p:nvSpPr>
          <p:cNvPr id="9" name="Text: Exercițiu comercial"/>
          <p:cNvSpPr txBox="1"/>
          <p:nvPr/>
        </p:nvSpPr>
        <p:spPr>
          <a:xfrm>
            <a:off x="594360" y="4617720"/>
            <a:ext cx="10972800" cy="365760"/>
          </a:xfrm>
          <a:prstGeom prst="rect">
            <a:avLst/>
          </a:prstGeom>
          <a:noFill/>
        </p:spPr>
        <p:txBody>
          <a:bodyPr wrap="square" lIns="0" rIns="0" tIns="0" bIns="0" anchor="t">
            <a:spAutoFit/>
          </a:bodyPr>
          <a:lstStyle/>
          <a:p>
            <a:pPr>
              <a:lnSpc>
                <a:spcPct val="106000"/>
              </a:lnSpc>
              <a:spcAft>
                <a:spcPts val="700"/>
              </a:spcAft>
            </a:pPr>
            <a:r>
              <a:rPr sz="1800" b="0">
                <a:solidFill>
                  <a:srgbClr val="486476"/>
                </a:solidFill>
                <a:latin typeface="Calibri"/>
              </a:rPr>
              <a:t>Exercițiu comercial</a:t>
            </a:r>
          </a:p>
        </p:txBody>
      </p:sp>
      <p:sp>
        <p:nvSpPr>
          <p:cNvPr id="10" name="Text: 10 × 18.000 € = 180.000 € / an"/>
          <p:cNvSpPr txBox="1"/>
          <p:nvPr/>
        </p:nvSpPr>
        <p:spPr>
          <a:xfrm>
            <a:off x="594360" y="5093208"/>
            <a:ext cx="10972800" cy="667512"/>
          </a:xfrm>
          <a:prstGeom prst="rect">
            <a:avLst/>
          </a:prstGeom>
          <a:noFill/>
        </p:spPr>
        <p:txBody>
          <a:bodyPr wrap="square" lIns="0" rIns="0" tIns="0" bIns="0" anchor="t">
            <a:spAutoFit/>
          </a:bodyPr>
          <a:lstStyle/>
          <a:p>
            <a:pPr>
              <a:lnSpc>
                <a:spcPct val="106000"/>
              </a:lnSpc>
              <a:spcAft>
                <a:spcPts val="700"/>
              </a:spcAft>
            </a:pPr>
            <a:r>
              <a:rPr sz="3500" b="1">
                <a:solidFill>
                  <a:srgbClr val="101820"/>
                </a:solidFill>
                <a:latin typeface="Calibri"/>
              </a:rPr>
              <a:t>10 × 18.000 € = 180.000 € / an</a:t>
            </a:r>
          </a:p>
        </p:txBody>
      </p:sp>
      <p:sp>
        <p:nvSpPr>
          <p:cNvPr id="11" name="Text: Scenariu ipotetic; organizațiile și conver"/>
          <p:cNvSpPr txBox="1"/>
          <p:nvPr/>
        </p:nvSpPr>
        <p:spPr>
          <a:xfrm>
            <a:off x="594360" y="5897880"/>
            <a:ext cx="10972800" cy="411480"/>
          </a:xfrm>
          <a:prstGeom prst="rect">
            <a:avLst/>
          </a:prstGeom>
          <a:noFill/>
        </p:spPr>
        <p:txBody>
          <a:bodyPr wrap="square" lIns="0" rIns="0" tIns="0" bIns="0" anchor="t">
            <a:spAutoFit/>
          </a:bodyPr>
          <a:lstStyle/>
          <a:p>
            <a:pPr>
              <a:lnSpc>
                <a:spcPct val="106000"/>
              </a:lnSpc>
              <a:spcAft>
                <a:spcPts val="700"/>
              </a:spcAft>
            </a:pPr>
            <a:r>
              <a:rPr sz="1800" b="0">
                <a:solidFill>
                  <a:srgbClr val="486476"/>
                </a:solidFill>
                <a:latin typeface="Calibri"/>
              </a:rPr>
              <a:t>Scenariu ipotetic; organizațiile și conversia nu sunt validate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O / ECHIPA"/>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8BC9ED"/>
                </a:solidFill>
                <a:latin typeface="Calibri"/>
              </a:rPr>
              <a:t>ARTERIA / O / ECHIPA</a:t>
            </a:r>
          </a:p>
        </p:txBody>
      </p:sp>
      <p:sp>
        <p:nvSpPr>
          <p:cNvPr id="3" name="Text: 09"/>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A8BAC9"/>
                </a:solidFill>
                <a:latin typeface="Calibri"/>
              </a:rPr>
              <a:t>09</a:t>
            </a:r>
          </a:p>
        </p:txBody>
      </p:sp>
      <p:sp>
        <p:nvSpPr>
          <p:cNvPr id="4" name="Text: ARION"/>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EDF2F6"/>
                </a:solidFill>
                <a:latin typeface="Calibri"/>
              </a:rPr>
              <a:t>ARION</a:t>
            </a:r>
          </a:p>
        </p:txBody>
      </p:sp>
      <p:sp>
        <p:nvSpPr>
          <p:cNvPr id="5" name="Text: Contribuții vizibile în istoricul reposito"/>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A8BAC9"/>
                </a:solidFill>
                <a:latin typeface="Calibri"/>
              </a:rPr>
              <a:t>Contribuții vizibile în istoricul repository-ului · Audit 2026</a:t>
            </a:r>
          </a:p>
        </p:txBody>
      </p:sp>
      <p:sp>
        <p:nvSpPr>
          <p:cNvPr id="6" name="Text: Iustin Fagateanu"/>
          <p:cNvSpPr txBox="1"/>
          <p:nvPr/>
        </p:nvSpPr>
        <p:spPr>
          <a:xfrm>
            <a:off x="594360" y="2441448"/>
            <a:ext cx="5120640" cy="640080"/>
          </a:xfrm>
          <a:prstGeom prst="rect">
            <a:avLst/>
          </a:prstGeom>
          <a:noFill/>
        </p:spPr>
        <p:txBody>
          <a:bodyPr wrap="square" lIns="0" rIns="0" tIns="0" bIns="0" anchor="t">
            <a:spAutoFit/>
          </a:bodyPr>
          <a:lstStyle/>
          <a:p>
            <a:pPr>
              <a:lnSpc>
                <a:spcPct val="106000"/>
              </a:lnSpc>
              <a:spcAft>
                <a:spcPts val="700"/>
              </a:spcAft>
            </a:pPr>
            <a:r>
              <a:rPr sz="3300" b="1">
                <a:solidFill>
                  <a:srgbClr val="EDF2F6"/>
                </a:solidFill>
                <a:latin typeface="Calibri"/>
              </a:rPr>
              <a:t>Iustin Fagateanu</a:t>
            </a:r>
          </a:p>
        </p:txBody>
      </p:sp>
      <p:sp>
        <p:nvSpPr>
          <p:cNvPr id="7" name="Text: Frontend și&#10;experiența web"/>
          <p:cNvSpPr txBox="1"/>
          <p:nvPr/>
        </p:nvSpPr>
        <p:spPr>
          <a:xfrm>
            <a:off x="594360" y="3337560"/>
            <a:ext cx="5120640" cy="1143000"/>
          </a:xfrm>
          <a:prstGeom prst="rect">
            <a:avLst/>
          </a:prstGeom>
          <a:noFill/>
        </p:spPr>
        <p:txBody>
          <a:bodyPr wrap="square" lIns="0" rIns="0" tIns="0" bIns="0" anchor="t">
            <a:spAutoFit/>
          </a:bodyPr>
          <a:lstStyle/>
          <a:p>
            <a:pPr>
              <a:lnSpc>
                <a:spcPct val="106000"/>
              </a:lnSpc>
              <a:spcAft>
                <a:spcPts val="700"/>
              </a:spcAft>
            </a:pPr>
            <a:r>
              <a:rPr sz="2700" b="0">
                <a:solidFill>
                  <a:srgbClr val="8BC9ED"/>
                </a:solidFill>
                <a:latin typeface="Calibri"/>
              </a:rPr>
              <a:t>Frontend și</a:t>
            </a:r>
          </a:p>
          <a:p>
            <a:pPr>
              <a:lnSpc>
                <a:spcPct val="106000"/>
              </a:lnSpc>
              <a:spcAft>
                <a:spcPts val="700"/>
              </a:spcAft>
            </a:pPr>
            <a:r>
              <a:rPr sz="2700" b="0">
                <a:solidFill>
                  <a:srgbClr val="8BC9ED"/>
                </a:solidFill>
                <a:latin typeface="Calibri"/>
              </a:rPr>
              <a:t>experiența web</a:t>
            </a:r>
          </a:p>
        </p:txBody>
      </p:sp>
      <p:sp>
        <p:nvSpPr>
          <p:cNvPr id="8" name="Text: Alex Pintilie"/>
          <p:cNvSpPr txBox="1"/>
          <p:nvPr/>
        </p:nvSpPr>
        <p:spPr>
          <a:xfrm>
            <a:off x="6446520" y="2441448"/>
            <a:ext cx="5120640" cy="640080"/>
          </a:xfrm>
          <a:prstGeom prst="rect">
            <a:avLst/>
          </a:prstGeom>
          <a:noFill/>
        </p:spPr>
        <p:txBody>
          <a:bodyPr wrap="square" lIns="0" rIns="0" tIns="0" bIns="0" anchor="t">
            <a:spAutoFit/>
          </a:bodyPr>
          <a:lstStyle/>
          <a:p>
            <a:pPr>
              <a:lnSpc>
                <a:spcPct val="106000"/>
              </a:lnSpc>
              <a:spcAft>
                <a:spcPts val="700"/>
              </a:spcAft>
            </a:pPr>
            <a:r>
              <a:rPr sz="3300" b="1">
                <a:solidFill>
                  <a:srgbClr val="EDF2F6"/>
                </a:solidFill>
                <a:latin typeface="Calibri"/>
              </a:rPr>
              <a:t>Alex Pintilie</a:t>
            </a:r>
          </a:p>
        </p:txBody>
      </p:sp>
      <p:sp>
        <p:nvSpPr>
          <p:cNvPr id="9" name="Text: Bootstrap și&#10;baza de simulare"/>
          <p:cNvSpPr txBox="1"/>
          <p:nvPr/>
        </p:nvSpPr>
        <p:spPr>
          <a:xfrm>
            <a:off x="6446520" y="3337560"/>
            <a:ext cx="5120640" cy="1143000"/>
          </a:xfrm>
          <a:prstGeom prst="rect">
            <a:avLst/>
          </a:prstGeom>
          <a:noFill/>
        </p:spPr>
        <p:txBody>
          <a:bodyPr wrap="square" lIns="0" rIns="0" tIns="0" bIns="0" anchor="t">
            <a:spAutoFit/>
          </a:bodyPr>
          <a:lstStyle/>
          <a:p>
            <a:pPr>
              <a:lnSpc>
                <a:spcPct val="106000"/>
              </a:lnSpc>
              <a:spcAft>
                <a:spcPts val="700"/>
              </a:spcAft>
            </a:pPr>
            <a:r>
              <a:rPr sz="2700" b="0">
                <a:solidFill>
                  <a:srgbClr val="8BC9ED"/>
                </a:solidFill>
                <a:latin typeface="Calibri"/>
              </a:rPr>
              <a:t>Bootstrap și</a:t>
            </a:r>
          </a:p>
          <a:p>
            <a:pPr>
              <a:lnSpc>
                <a:spcPct val="106000"/>
              </a:lnSpc>
              <a:spcAft>
                <a:spcPts val="700"/>
              </a:spcAft>
            </a:pPr>
            <a:r>
              <a:rPr sz="2700" b="0">
                <a:solidFill>
                  <a:srgbClr val="8BC9ED"/>
                </a:solidFill>
                <a:latin typeface="Calibri"/>
              </a:rPr>
              <a:t>baza de simulare</a:t>
            </a:r>
          </a:p>
        </p:txBody>
      </p:sp>
      <p:sp>
        <p:nvSpPr>
          <p:cNvPr id="10" name="Text: Următoarea nevoie: validare cu un speciali"/>
          <p:cNvSpPr txBox="1"/>
          <p:nvPr/>
        </p:nvSpPr>
        <p:spPr>
          <a:xfrm>
            <a:off x="594360" y="5394960"/>
            <a:ext cx="10972800" cy="731520"/>
          </a:xfrm>
          <a:prstGeom prst="rect">
            <a:avLst/>
          </a:prstGeom>
          <a:noFill/>
        </p:spPr>
        <p:txBody>
          <a:bodyPr wrap="square" lIns="0" rIns="0" tIns="0" bIns="0" anchor="t">
            <a:spAutoFit/>
          </a:bodyPr>
          <a:lstStyle/>
          <a:p>
            <a:pPr>
              <a:lnSpc>
                <a:spcPct val="106000"/>
              </a:lnSpc>
              <a:spcAft>
                <a:spcPts val="700"/>
              </a:spcAft>
            </a:pPr>
            <a:r>
              <a:rPr sz="2400" b="0">
                <a:solidFill>
                  <a:srgbClr val="EDF2F6"/>
                </a:solidFill>
                <a:latin typeface="Calibri"/>
              </a:rPr>
              <a:t>Următoarea nevoie: validare cu un specialist în mobilitate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CE URMEAZĂ"/>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8BC9ED"/>
                </a:solidFill>
                <a:latin typeface="Calibri"/>
              </a:rPr>
              <a:t>ARTERIA / A / CE URMEAZĂ</a:t>
            </a:r>
          </a:p>
        </p:txBody>
      </p:sp>
      <p:sp>
        <p:nvSpPr>
          <p:cNvPr id="3" name="Text: 10"/>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A8BAC9"/>
                </a:solidFill>
                <a:latin typeface="Calibri"/>
              </a:rPr>
              <a:t>10</a:t>
            </a:r>
          </a:p>
        </p:txBody>
      </p:sp>
      <p:sp>
        <p:nvSpPr>
          <p:cNvPr id="4" name="Text: Prima comparație pe date verificate"/>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EDF2F6"/>
                </a:solidFill>
                <a:latin typeface="Calibri"/>
              </a:rPr>
              <a:t>Prima comparație pe date verificate</a:t>
            </a:r>
          </a:p>
        </p:txBody>
      </p:sp>
      <p:sp>
        <p:nvSpPr>
          <p:cNvPr id="5" name="Text: Date și"/>
          <p:cNvSpPr txBox="1"/>
          <p:nvPr/>
        </p:nvSpPr>
        <p:spPr>
          <a:xfrm>
            <a:off x="594360" y="2029968"/>
            <a:ext cx="3337560" cy="457200"/>
          </a:xfrm>
          <a:prstGeom prst="rect">
            <a:avLst/>
          </a:prstGeom>
          <a:noFill/>
        </p:spPr>
        <p:txBody>
          <a:bodyPr wrap="square" lIns="0" rIns="0" tIns="0" bIns="0" anchor="t">
            <a:spAutoFit/>
          </a:bodyPr>
          <a:lstStyle/>
          <a:p>
            <a:pPr>
              <a:lnSpc>
                <a:spcPct val="106000"/>
              </a:lnSpc>
              <a:spcAft>
                <a:spcPts val="700"/>
              </a:spcAft>
            </a:pPr>
            <a:r>
              <a:rPr sz="2300" b="1">
                <a:solidFill>
                  <a:srgbClr val="8BC9ED"/>
                </a:solidFill>
                <a:latin typeface="Calibri"/>
              </a:rPr>
              <a:t>Date și</a:t>
            </a:r>
          </a:p>
        </p:txBody>
      </p:sp>
      <p:sp>
        <p:nvSpPr>
          <p:cNvPr id="6" name="Text: contract unic"/>
          <p:cNvSpPr txBox="1"/>
          <p:nvPr/>
        </p:nvSpPr>
        <p:spPr>
          <a:xfrm>
            <a:off x="594360" y="2587752"/>
            <a:ext cx="3337560" cy="548640"/>
          </a:xfrm>
          <a:prstGeom prst="rect">
            <a:avLst/>
          </a:prstGeom>
          <a:noFill/>
        </p:spPr>
        <p:txBody>
          <a:bodyPr wrap="square" lIns="0" rIns="0" tIns="0" bIns="0" anchor="t">
            <a:spAutoFit/>
          </a:bodyPr>
          <a:lstStyle/>
          <a:p>
            <a:pPr>
              <a:lnSpc>
                <a:spcPct val="106000"/>
              </a:lnSpc>
              <a:spcAft>
                <a:spcPts val="700"/>
              </a:spcAft>
            </a:pPr>
            <a:r>
              <a:rPr sz="2300" b="0">
                <a:solidFill>
                  <a:srgbClr val="EDF2F6"/>
                </a:solidFill>
                <a:latin typeface="Calibri"/>
              </a:rPr>
              <a:t>contract unic</a:t>
            </a:r>
          </a:p>
        </p:txBody>
      </p:sp>
      <p:sp>
        <p:nvSpPr>
          <p:cNvPr id="7" name="Text: Un indicator"/>
          <p:cNvSpPr txBox="1"/>
          <p:nvPr/>
        </p:nvSpPr>
        <p:spPr>
          <a:xfrm>
            <a:off x="4416552" y="2029968"/>
            <a:ext cx="3337560" cy="457200"/>
          </a:xfrm>
          <a:prstGeom prst="rect">
            <a:avLst/>
          </a:prstGeom>
          <a:noFill/>
        </p:spPr>
        <p:txBody>
          <a:bodyPr wrap="square" lIns="0" rIns="0" tIns="0" bIns="0" anchor="t">
            <a:spAutoFit/>
          </a:bodyPr>
          <a:lstStyle/>
          <a:p>
            <a:pPr>
              <a:lnSpc>
                <a:spcPct val="106000"/>
              </a:lnSpc>
              <a:spcAft>
                <a:spcPts val="700"/>
              </a:spcAft>
            </a:pPr>
            <a:r>
              <a:rPr sz="2300" b="1">
                <a:solidFill>
                  <a:srgbClr val="8BC9ED"/>
                </a:solidFill>
                <a:latin typeface="Calibri"/>
              </a:rPr>
              <a:t>Un indicator</a:t>
            </a:r>
          </a:p>
        </p:txBody>
      </p:sp>
      <p:sp>
        <p:nvSpPr>
          <p:cNvPr id="8" name="Text: reproductibil"/>
          <p:cNvSpPr txBox="1"/>
          <p:nvPr/>
        </p:nvSpPr>
        <p:spPr>
          <a:xfrm>
            <a:off x="4416552" y="2587752"/>
            <a:ext cx="3337560" cy="548640"/>
          </a:xfrm>
          <a:prstGeom prst="rect">
            <a:avLst/>
          </a:prstGeom>
          <a:noFill/>
        </p:spPr>
        <p:txBody>
          <a:bodyPr wrap="square" lIns="0" rIns="0" tIns="0" bIns="0" anchor="t">
            <a:spAutoFit/>
          </a:bodyPr>
          <a:lstStyle/>
          <a:p>
            <a:pPr>
              <a:lnSpc>
                <a:spcPct val="106000"/>
              </a:lnSpc>
              <a:spcAft>
                <a:spcPts val="700"/>
              </a:spcAft>
            </a:pPr>
            <a:r>
              <a:rPr sz="2300" b="0">
                <a:solidFill>
                  <a:srgbClr val="EDF2F6"/>
                </a:solidFill>
                <a:latin typeface="Calibri"/>
              </a:rPr>
              <a:t>reproductibil</a:t>
            </a:r>
          </a:p>
        </p:txBody>
      </p:sp>
      <p:sp>
        <p:nvSpPr>
          <p:cNvPr id="9" name="Text: Test cu"/>
          <p:cNvSpPr txBox="1"/>
          <p:nvPr/>
        </p:nvSpPr>
        <p:spPr>
          <a:xfrm>
            <a:off x="8238744" y="2029968"/>
            <a:ext cx="3337560" cy="457200"/>
          </a:xfrm>
          <a:prstGeom prst="rect">
            <a:avLst/>
          </a:prstGeom>
          <a:noFill/>
        </p:spPr>
        <p:txBody>
          <a:bodyPr wrap="square" lIns="0" rIns="0" tIns="0" bIns="0" anchor="t">
            <a:spAutoFit/>
          </a:bodyPr>
          <a:lstStyle/>
          <a:p>
            <a:pPr>
              <a:lnSpc>
                <a:spcPct val="106000"/>
              </a:lnSpc>
              <a:spcAft>
                <a:spcPts val="700"/>
              </a:spcAft>
            </a:pPr>
            <a:r>
              <a:rPr sz="2300" b="1">
                <a:solidFill>
                  <a:srgbClr val="8BC9ED"/>
                </a:solidFill>
                <a:latin typeface="Calibri"/>
              </a:rPr>
              <a:t>Test cu</a:t>
            </a:r>
          </a:p>
        </p:txBody>
      </p:sp>
      <p:sp>
        <p:nvSpPr>
          <p:cNvPr id="10" name="Text: un specialist"/>
          <p:cNvSpPr txBox="1"/>
          <p:nvPr/>
        </p:nvSpPr>
        <p:spPr>
          <a:xfrm>
            <a:off x="8238744" y="2587752"/>
            <a:ext cx="3337560" cy="548640"/>
          </a:xfrm>
          <a:prstGeom prst="rect">
            <a:avLst/>
          </a:prstGeom>
          <a:noFill/>
        </p:spPr>
        <p:txBody>
          <a:bodyPr wrap="square" lIns="0" rIns="0" tIns="0" bIns="0" anchor="t">
            <a:spAutoFit/>
          </a:bodyPr>
          <a:lstStyle/>
          <a:p>
            <a:pPr>
              <a:lnSpc>
                <a:spcPct val="106000"/>
              </a:lnSpc>
              <a:spcAft>
                <a:spcPts val="700"/>
              </a:spcAft>
            </a:pPr>
            <a:r>
              <a:rPr sz="2300" b="0">
                <a:solidFill>
                  <a:srgbClr val="EDF2F6"/>
                </a:solidFill>
                <a:latin typeface="Calibri"/>
              </a:rPr>
              <a:t>un specialist</a:t>
            </a:r>
          </a:p>
        </p:txBody>
      </p:sp>
      <p:cxnSp>
        <p:nvCxnSpPr>
          <p:cNvPr id="11" name="Connector 10"/>
          <p:cNvCxnSpPr/>
          <p:nvPr/>
        </p:nvCxnSpPr>
        <p:spPr>
          <a:xfrm>
            <a:off x="3429000" y="2423160"/>
            <a:ext cx="594360" cy="0"/>
          </a:xfrm>
          <a:prstGeom prst="line">
            <a:avLst/>
          </a:prstGeom>
          <a:ln w="22860">
            <a:solidFill>
              <a:srgbClr val="8BC9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96912" y="2423160"/>
            <a:ext cx="566928" cy="0"/>
          </a:xfrm>
          <a:prstGeom prst="line">
            <a:avLst/>
          </a:prstGeom>
          <a:ln w="22860">
            <a:solidFill>
              <a:srgbClr val="8BC9ED"/>
            </a:solidFill>
          </a:ln>
        </p:spPr>
        <p:style>
          <a:lnRef idx="2">
            <a:schemeClr val="accent1"/>
          </a:lnRef>
          <a:fillRef idx="0">
            <a:schemeClr val="accent1"/>
          </a:fillRef>
          <a:effectRef idx="1">
            <a:schemeClr val="accent1"/>
          </a:effectRef>
          <a:fontRef idx="minor">
            <a:schemeClr val="tx1"/>
          </a:fontRef>
        </p:style>
      </p:cxnSp>
      <p:sp>
        <p:nvSpPr>
          <p:cNvPr id="13" name="Text: Măsurăm timpul pregătirii comparației și t"/>
          <p:cNvSpPr txBox="1"/>
          <p:nvPr/>
        </p:nvSpPr>
        <p:spPr>
          <a:xfrm>
            <a:off x="594360" y="3401568"/>
            <a:ext cx="10972800" cy="777240"/>
          </a:xfrm>
          <a:prstGeom prst="rect">
            <a:avLst/>
          </a:prstGeom>
          <a:noFill/>
        </p:spPr>
        <p:txBody>
          <a:bodyPr wrap="square" lIns="0" rIns="0" tIns="0" bIns="0" anchor="t">
            <a:spAutoFit/>
          </a:bodyPr>
          <a:lstStyle/>
          <a:p>
            <a:pPr>
              <a:lnSpc>
                <a:spcPct val="106000"/>
              </a:lnSpc>
              <a:spcAft>
                <a:spcPts val="700"/>
              </a:spcAft>
            </a:pPr>
            <a:r>
              <a:rPr sz="2200" b="0">
                <a:solidFill>
                  <a:srgbClr val="EDF2F6"/>
                </a:solidFill>
                <a:latin typeface="Calibri"/>
              </a:rPr>
              <a:t>Măsurăm timpul pregătirii comparației și trasabilitatea rezultatului.</a:t>
            </a:r>
          </a:p>
        </p:txBody>
      </p:sp>
      <p:sp>
        <p:nvSpPr>
          <p:cNvPr id="14" name="Text: Cererea noastră"/>
          <p:cNvSpPr txBox="1"/>
          <p:nvPr/>
        </p:nvSpPr>
        <p:spPr>
          <a:xfrm>
            <a:off x="594360" y="4343400"/>
            <a:ext cx="10972800" cy="365760"/>
          </a:xfrm>
          <a:prstGeom prst="rect">
            <a:avLst/>
          </a:prstGeom>
          <a:noFill/>
        </p:spPr>
        <p:txBody>
          <a:bodyPr wrap="square" lIns="0" rIns="0" tIns="0" bIns="0" anchor="t">
            <a:spAutoFit/>
          </a:bodyPr>
          <a:lstStyle/>
          <a:p>
            <a:pPr>
              <a:lnSpc>
                <a:spcPct val="106000"/>
              </a:lnSpc>
              <a:spcAft>
                <a:spcPts val="700"/>
              </a:spcAft>
            </a:pPr>
            <a:r>
              <a:rPr sz="1700" b="1">
                <a:solidFill>
                  <a:srgbClr val="8BC9ED"/>
                </a:solidFill>
                <a:latin typeface="Calibri"/>
              </a:rPr>
              <a:t>Cererea noastră</a:t>
            </a:r>
          </a:p>
        </p:txBody>
      </p:sp>
      <p:sp>
        <p:nvSpPr>
          <p:cNvPr id="15" name="Text: O introducere către un specialist&#10;și acces"/>
          <p:cNvSpPr txBox="1"/>
          <p:nvPr/>
        </p:nvSpPr>
        <p:spPr>
          <a:xfrm>
            <a:off x="594360" y="4773168"/>
            <a:ext cx="10972800" cy="1207008"/>
          </a:xfrm>
          <a:prstGeom prst="rect">
            <a:avLst/>
          </a:prstGeom>
          <a:noFill/>
        </p:spPr>
        <p:txBody>
          <a:bodyPr wrap="square" lIns="0" rIns="0" tIns="0" bIns="0" anchor="t">
            <a:spAutoFit/>
          </a:bodyPr>
          <a:lstStyle/>
          <a:p>
            <a:pPr>
              <a:lnSpc>
                <a:spcPct val="106000"/>
              </a:lnSpc>
              <a:spcAft>
                <a:spcPts val="700"/>
              </a:spcAft>
            </a:pPr>
            <a:r>
              <a:rPr sz="3200" b="1">
                <a:solidFill>
                  <a:srgbClr val="EDF2F6"/>
                </a:solidFill>
                <a:latin typeface="Calibri"/>
              </a:rPr>
              <a:t>O introducere către un specialist</a:t>
            </a:r>
          </a:p>
          <a:p>
            <a:pPr>
              <a:lnSpc>
                <a:spcPct val="106000"/>
              </a:lnSpc>
              <a:spcAft>
                <a:spcPts val="700"/>
              </a:spcAft>
            </a:pPr>
            <a:r>
              <a:rPr sz="3200" b="1">
                <a:solidFill>
                  <a:srgbClr val="EDF2F6"/>
                </a:solidFill>
                <a:latin typeface="Calibri"/>
              </a:rPr>
              <a:t>și acces la un set de date local.</a:t>
            </a:r>
          </a:p>
        </p:txBody>
      </p:sp>
      <p:sp>
        <p:nvSpPr>
          <p:cNvPr id="16" name="Text: Un caz verificabil. Apoi extindere."/>
          <p:cNvSpPr txBox="1"/>
          <p:nvPr/>
        </p:nvSpPr>
        <p:spPr>
          <a:xfrm>
            <a:off x="594360" y="6071616"/>
            <a:ext cx="10972800" cy="457200"/>
          </a:xfrm>
          <a:prstGeom prst="rect">
            <a:avLst/>
          </a:prstGeom>
          <a:noFill/>
        </p:spPr>
        <p:txBody>
          <a:bodyPr wrap="square" lIns="0" rIns="0" tIns="0" bIns="0" anchor="t">
            <a:spAutoFit/>
          </a:bodyPr>
          <a:lstStyle/>
          <a:p>
            <a:pPr>
              <a:lnSpc>
                <a:spcPct val="106000"/>
              </a:lnSpc>
              <a:spcAft>
                <a:spcPts val="700"/>
              </a:spcAft>
            </a:pPr>
            <a:r>
              <a:rPr sz="2200" b="0">
                <a:solidFill>
                  <a:srgbClr val="EFC47C"/>
                </a:solidFill>
                <a:latin typeface="Calibri"/>
              </a:rPr>
              <a:t>Un caz verificabil. Apoi extindere.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ANEXA A / DOVEZI"/>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486476"/>
                </a:solidFill>
                <a:latin typeface="Calibri"/>
              </a:rPr>
              <a:t>ARTERIA / ANEXA A / DOVEZI</a:t>
            </a:r>
          </a:p>
        </p:txBody>
      </p:sp>
      <p:sp>
        <p:nvSpPr>
          <p:cNvPr id="3" name="Text: 11"/>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486476"/>
                </a:solidFill>
                <a:latin typeface="Calibri"/>
              </a:rPr>
              <a:t>11</a:t>
            </a:r>
          </a:p>
        </p:txBody>
      </p:sp>
      <p:sp>
        <p:nvSpPr>
          <p:cNvPr id="4" name="Text: Ce este verificat astăzi"/>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101820"/>
                </a:solidFill>
                <a:latin typeface="Calibri"/>
              </a:rPr>
              <a:t>Ce este verificat astăzi</a:t>
            </a:r>
          </a:p>
        </p:txBody>
      </p:sp>
      <p:sp>
        <p:nvSpPr>
          <p:cNvPr id="5" name="Text: Sursă: verificări locale ale repository-ul"/>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486476"/>
                </a:solidFill>
                <a:latin typeface="Calibri"/>
              </a:rPr>
              <a:t>Sursă: verificări locale ale repository-ului, 2026</a:t>
            </a:r>
          </a:p>
        </p:txBody>
      </p:sp>
      <p:sp>
        <p:nvSpPr>
          <p:cNvPr id="6" name="Text: 5 / 5"/>
          <p:cNvSpPr txBox="1"/>
          <p:nvPr/>
        </p:nvSpPr>
        <p:spPr>
          <a:xfrm>
            <a:off x="594360" y="2084831"/>
            <a:ext cx="4389120" cy="1188720"/>
          </a:xfrm>
          <a:prstGeom prst="rect">
            <a:avLst/>
          </a:prstGeom>
          <a:noFill/>
        </p:spPr>
        <p:txBody>
          <a:bodyPr wrap="square" lIns="0" rIns="0" tIns="0" bIns="0" anchor="t">
            <a:spAutoFit/>
          </a:bodyPr>
          <a:lstStyle/>
          <a:p>
            <a:pPr>
              <a:lnSpc>
                <a:spcPct val="106000"/>
              </a:lnSpc>
              <a:spcAft>
                <a:spcPts val="700"/>
              </a:spcAft>
            </a:pPr>
            <a:r>
              <a:rPr sz="7200" b="1">
                <a:solidFill>
                  <a:srgbClr val="101820"/>
                </a:solidFill>
                <a:latin typeface="Calibri"/>
              </a:rPr>
              <a:t>5 / 5</a:t>
            </a:r>
          </a:p>
        </p:txBody>
      </p:sp>
      <p:sp>
        <p:nvSpPr>
          <p:cNvPr id="7" name="Text: teste ale clientului API"/>
          <p:cNvSpPr txBox="1"/>
          <p:nvPr/>
        </p:nvSpPr>
        <p:spPr>
          <a:xfrm>
            <a:off x="594360" y="3502152"/>
            <a:ext cx="4389120" cy="594360"/>
          </a:xfrm>
          <a:prstGeom prst="rect">
            <a:avLst/>
          </a:prstGeom>
          <a:noFill/>
        </p:spPr>
        <p:txBody>
          <a:bodyPr wrap="square" lIns="0" rIns="0" tIns="0" bIns="0" anchor="t">
            <a:spAutoFit/>
          </a:bodyPr>
          <a:lstStyle/>
          <a:p>
            <a:pPr>
              <a:lnSpc>
                <a:spcPct val="106000"/>
              </a:lnSpc>
              <a:spcAft>
                <a:spcPts val="700"/>
              </a:spcAft>
            </a:pPr>
            <a:r>
              <a:rPr sz="2500" b="0">
                <a:solidFill>
                  <a:srgbClr val="101820"/>
                </a:solidFill>
                <a:latin typeface="Calibri"/>
              </a:rPr>
              <a:t>teste ale clientului API</a:t>
            </a:r>
          </a:p>
        </p:txBody>
      </p:sp>
      <p:sp>
        <p:nvSpPr>
          <p:cNvPr id="8" name="Text: Typecheck&#10;web · mobile · shared"/>
          <p:cNvSpPr txBox="1"/>
          <p:nvPr/>
        </p:nvSpPr>
        <p:spPr>
          <a:xfrm>
            <a:off x="5669280" y="2148840"/>
            <a:ext cx="5897880" cy="1097280"/>
          </a:xfrm>
          <a:prstGeom prst="rect">
            <a:avLst/>
          </a:prstGeom>
          <a:noFill/>
        </p:spPr>
        <p:txBody>
          <a:bodyPr wrap="square" lIns="0" rIns="0" tIns="0" bIns="0" anchor="t">
            <a:spAutoFit/>
          </a:bodyPr>
          <a:lstStyle/>
          <a:p>
            <a:pPr>
              <a:lnSpc>
                <a:spcPct val="106000"/>
              </a:lnSpc>
              <a:spcAft>
                <a:spcPts val="700"/>
              </a:spcAft>
            </a:pPr>
            <a:r>
              <a:rPr sz="2600" b="1">
                <a:solidFill>
                  <a:srgbClr val="101820"/>
                </a:solidFill>
                <a:latin typeface="Calibri"/>
              </a:rPr>
              <a:t>Typecheck</a:t>
            </a:r>
          </a:p>
          <a:p>
            <a:pPr>
              <a:lnSpc>
                <a:spcPct val="106000"/>
              </a:lnSpc>
              <a:spcAft>
                <a:spcPts val="700"/>
              </a:spcAft>
            </a:pPr>
            <a:r>
              <a:rPr sz="2600" b="1">
                <a:solidFill>
                  <a:srgbClr val="101820"/>
                </a:solidFill>
                <a:latin typeface="Calibri"/>
              </a:rPr>
              <a:t>web · mobile · shared</a:t>
            </a:r>
          </a:p>
        </p:txBody>
      </p:sp>
      <p:sp>
        <p:nvSpPr>
          <p:cNvPr id="9" name="Text: Build web&#10;/ și /app"/>
          <p:cNvSpPr txBox="1"/>
          <p:nvPr/>
        </p:nvSpPr>
        <p:spPr>
          <a:xfrm>
            <a:off x="5669280" y="3657600"/>
            <a:ext cx="5897880" cy="1097280"/>
          </a:xfrm>
          <a:prstGeom prst="rect">
            <a:avLst/>
          </a:prstGeom>
          <a:noFill/>
        </p:spPr>
        <p:txBody>
          <a:bodyPr wrap="square" lIns="0" rIns="0" tIns="0" bIns="0" anchor="t">
            <a:spAutoFit/>
          </a:bodyPr>
          <a:lstStyle/>
          <a:p>
            <a:pPr>
              <a:lnSpc>
                <a:spcPct val="106000"/>
              </a:lnSpc>
              <a:spcAft>
                <a:spcPts val="700"/>
              </a:spcAft>
            </a:pPr>
            <a:r>
              <a:rPr sz="2600" b="1">
                <a:solidFill>
                  <a:srgbClr val="101820"/>
                </a:solidFill>
                <a:latin typeface="Calibri"/>
              </a:rPr>
              <a:t>Build web</a:t>
            </a:r>
          </a:p>
          <a:p>
            <a:pPr>
              <a:lnSpc>
                <a:spcPct val="106000"/>
              </a:lnSpc>
              <a:spcAft>
                <a:spcPts val="700"/>
              </a:spcAft>
            </a:pPr>
            <a:r>
              <a:rPr sz="2600" b="1">
                <a:solidFill>
                  <a:srgbClr val="101820"/>
                </a:solidFill>
                <a:latin typeface="Calibri"/>
              </a:rPr>
              <a:t>/ și /app</a:t>
            </a:r>
          </a:p>
        </p:txBody>
      </p:sp>
      <p:sp>
        <p:nvSpPr>
          <p:cNvPr id="10" name="Text: Date urbane reale / AI generativ / SUMO di"/>
          <p:cNvSpPr txBox="1"/>
          <p:nvPr/>
        </p:nvSpPr>
        <p:spPr>
          <a:xfrm>
            <a:off x="594360" y="5303520"/>
            <a:ext cx="10972800" cy="685800"/>
          </a:xfrm>
          <a:prstGeom prst="rect">
            <a:avLst/>
          </a:prstGeom>
          <a:noFill/>
        </p:spPr>
        <p:txBody>
          <a:bodyPr wrap="square" lIns="0" rIns="0" tIns="0" bIns="0" anchor="t">
            <a:spAutoFit/>
          </a:bodyPr>
          <a:lstStyle/>
          <a:p>
            <a:pPr>
              <a:lnSpc>
                <a:spcPct val="106000"/>
              </a:lnSpc>
              <a:spcAft>
                <a:spcPts val="700"/>
              </a:spcAft>
            </a:pPr>
            <a:r>
              <a:rPr sz="2100" b="1">
                <a:solidFill>
                  <a:srgbClr val="101820"/>
                </a:solidFill>
                <a:latin typeface="Calibri"/>
              </a:rPr>
              <a:t>Date urbane reale / AI generativ / SUMO din UI — neintegrate</a:t>
            </a:r>
          </a:p>
        </p:txBody>
      </p:sp>
      <p:sp>
        <p:nvSpPr>
          <p:cNvPr id="11" name="Text: Testele Python și SUMO nu au fost rerulate"/>
          <p:cNvSpPr txBox="1"/>
          <p:nvPr/>
        </p:nvSpPr>
        <p:spPr>
          <a:xfrm>
            <a:off x="594360" y="6025896"/>
            <a:ext cx="10972800" cy="411480"/>
          </a:xfrm>
          <a:prstGeom prst="rect">
            <a:avLst/>
          </a:prstGeom>
          <a:noFill/>
        </p:spPr>
        <p:txBody>
          <a:bodyPr wrap="square" lIns="0" rIns="0" tIns="0" bIns="0" anchor="t">
            <a:spAutoFit/>
          </a:bodyPr>
          <a:lstStyle/>
          <a:p>
            <a:pPr>
              <a:lnSpc>
                <a:spcPct val="106000"/>
              </a:lnSpc>
              <a:spcAft>
                <a:spcPts val="700"/>
              </a:spcAft>
            </a:pPr>
            <a:r>
              <a:rPr sz="1800" b="0">
                <a:solidFill>
                  <a:srgbClr val="486476"/>
                </a:solidFill>
                <a:latin typeface="Calibri"/>
              </a:rPr>
              <a:t>Testele Python și SUMO nu au fost rerulate în audit.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NEXA B / AI"/>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8BC9ED"/>
                </a:solidFill>
                <a:latin typeface="Calibri"/>
              </a:rPr>
              <a:t>ARTERIA / ANEXA B / AI</a:t>
            </a:r>
          </a:p>
        </p:txBody>
      </p:sp>
      <p:sp>
        <p:nvSpPr>
          <p:cNvPr id="3" name="Text: 12"/>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A8BAC9"/>
                </a:solidFill>
                <a:latin typeface="Calibri"/>
              </a:rPr>
              <a:t>12</a:t>
            </a:r>
          </a:p>
        </p:txBody>
      </p:sp>
      <p:sp>
        <p:nvSpPr>
          <p:cNvPr id="4" name="Text: Rolul AI în fluxul propus"/>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EDF2F6"/>
                </a:solidFill>
                <a:latin typeface="Calibri"/>
              </a:rPr>
              <a:t>Rolul AI în fluxul propus</a:t>
            </a:r>
          </a:p>
        </p:txBody>
      </p:sp>
      <p:sp>
        <p:nvSpPr>
          <p:cNvPr id="5" name="Text: Sursă: docs/ARCHITECTURE.md; stare verific"/>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A8BAC9"/>
                </a:solidFill>
                <a:latin typeface="Calibri"/>
              </a:rPr>
              <a:t>Sursă: docs/ARCHITECTURE.md; stare verificată în cod, 2026</a:t>
            </a:r>
          </a:p>
        </p:txBody>
      </p:sp>
      <p:sp>
        <p:nvSpPr>
          <p:cNvPr id="6" name="Rectangle 5"/>
          <p:cNvSpPr/>
          <p:nvPr/>
        </p:nvSpPr>
        <p:spPr>
          <a:xfrm>
            <a:off x="594360" y="2194560"/>
            <a:ext cx="2359152" cy="1645920"/>
          </a:xfrm>
          <a:prstGeom prst="rect">
            <a:avLst/>
          </a:prstGeom>
          <a:solidFill>
            <a:srgbClr val="1D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Dovezi"/>
          <p:cNvSpPr txBox="1"/>
          <p:nvPr/>
        </p:nvSpPr>
        <p:spPr>
          <a:xfrm>
            <a:off x="777240" y="2359152"/>
            <a:ext cx="1993392" cy="502920"/>
          </a:xfrm>
          <a:prstGeom prst="rect">
            <a:avLst/>
          </a:prstGeom>
          <a:noFill/>
        </p:spPr>
        <p:txBody>
          <a:bodyPr wrap="square" lIns="0" rIns="0" tIns="0" bIns="0" anchor="t">
            <a:spAutoFit/>
          </a:bodyPr>
          <a:lstStyle/>
          <a:p>
            <a:pPr>
              <a:lnSpc>
                <a:spcPct val="106000"/>
              </a:lnSpc>
              <a:spcAft>
                <a:spcPts val="700"/>
              </a:spcAft>
            </a:pPr>
            <a:r>
              <a:rPr sz="2400" b="1">
                <a:solidFill>
                  <a:srgbClr val="8BC9ED"/>
                </a:solidFill>
                <a:latin typeface="Calibri"/>
              </a:rPr>
              <a:t>Dovezi</a:t>
            </a:r>
          </a:p>
        </p:txBody>
      </p:sp>
      <p:sp>
        <p:nvSpPr>
          <p:cNvPr id="8" name="Text: și catalog"/>
          <p:cNvSpPr txBox="1"/>
          <p:nvPr/>
        </p:nvSpPr>
        <p:spPr>
          <a:xfrm>
            <a:off x="777240" y="2990088"/>
            <a:ext cx="1993392" cy="758952"/>
          </a:xfrm>
          <a:prstGeom prst="rect">
            <a:avLst/>
          </a:prstGeom>
          <a:noFill/>
        </p:spPr>
        <p:txBody>
          <a:bodyPr wrap="square" lIns="0" rIns="0" tIns="0" bIns="0" anchor="t">
            <a:spAutoFit/>
          </a:bodyPr>
          <a:lstStyle/>
          <a:p>
            <a:pPr>
              <a:lnSpc>
                <a:spcPct val="106000"/>
              </a:lnSpc>
              <a:spcAft>
                <a:spcPts val="700"/>
              </a:spcAft>
            </a:pPr>
            <a:r>
              <a:rPr sz="2000" b="0">
                <a:solidFill>
                  <a:srgbClr val="EDF2F6"/>
                </a:solidFill>
                <a:latin typeface="Calibri"/>
              </a:rPr>
              <a:t>și catalog</a:t>
            </a:r>
          </a:p>
        </p:txBody>
      </p:sp>
      <p:sp>
        <p:nvSpPr>
          <p:cNvPr id="9" name="Rectangle 8"/>
          <p:cNvSpPr/>
          <p:nvPr/>
        </p:nvSpPr>
        <p:spPr>
          <a:xfrm>
            <a:off x="3474720" y="2194560"/>
            <a:ext cx="2359152" cy="1645920"/>
          </a:xfrm>
          <a:prstGeom prst="rect">
            <a:avLst/>
          </a:prstGeom>
          <a:solidFill>
            <a:srgbClr val="1D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LLM"/>
          <p:cNvSpPr txBox="1"/>
          <p:nvPr/>
        </p:nvSpPr>
        <p:spPr>
          <a:xfrm>
            <a:off x="3657600" y="2359152"/>
            <a:ext cx="1993392" cy="502920"/>
          </a:xfrm>
          <a:prstGeom prst="rect">
            <a:avLst/>
          </a:prstGeom>
          <a:noFill/>
        </p:spPr>
        <p:txBody>
          <a:bodyPr wrap="square" lIns="0" rIns="0" tIns="0" bIns="0" anchor="t">
            <a:spAutoFit/>
          </a:bodyPr>
          <a:lstStyle/>
          <a:p>
            <a:pPr>
              <a:lnSpc>
                <a:spcPct val="106000"/>
              </a:lnSpc>
              <a:spcAft>
                <a:spcPts val="700"/>
              </a:spcAft>
            </a:pPr>
            <a:r>
              <a:rPr sz="2400" b="1">
                <a:solidFill>
                  <a:srgbClr val="8BC9ED"/>
                </a:solidFill>
                <a:latin typeface="Calibri"/>
              </a:rPr>
              <a:t>LLM</a:t>
            </a:r>
          </a:p>
        </p:txBody>
      </p:sp>
      <p:sp>
        <p:nvSpPr>
          <p:cNvPr id="11" name="Text: Alternative"/>
          <p:cNvSpPr txBox="1"/>
          <p:nvPr/>
        </p:nvSpPr>
        <p:spPr>
          <a:xfrm>
            <a:off x="3657600" y="2990088"/>
            <a:ext cx="1993392" cy="758952"/>
          </a:xfrm>
          <a:prstGeom prst="rect">
            <a:avLst/>
          </a:prstGeom>
          <a:noFill/>
        </p:spPr>
        <p:txBody>
          <a:bodyPr wrap="square" lIns="0" rIns="0" tIns="0" bIns="0" anchor="t">
            <a:spAutoFit/>
          </a:bodyPr>
          <a:lstStyle/>
          <a:p>
            <a:pPr>
              <a:lnSpc>
                <a:spcPct val="106000"/>
              </a:lnSpc>
              <a:spcAft>
                <a:spcPts val="700"/>
              </a:spcAft>
            </a:pPr>
            <a:r>
              <a:rPr sz="2000" b="0">
                <a:solidFill>
                  <a:srgbClr val="EDF2F6"/>
                </a:solidFill>
                <a:latin typeface="Calibri"/>
              </a:rPr>
              <a:t>Alternative</a:t>
            </a:r>
          </a:p>
        </p:txBody>
      </p:sp>
      <p:sp>
        <p:nvSpPr>
          <p:cNvPr id="12" name="Rectangle 11"/>
          <p:cNvSpPr/>
          <p:nvPr/>
        </p:nvSpPr>
        <p:spPr>
          <a:xfrm>
            <a:off x="6355080" y="2194560"/>
            <a:ext cx="2359152" cy="1645920"/>
          </a:xfrm>
          <a:prstGeom prst="rect">
            <a:avLst/>
          </a:prstGeom>
          <a:solidFill>
            <a:srgbClr val="1D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Reguli"/>
          <p:cNvSpPr txBox="1"/>
          <p:nvPr/>
        </p:nvSpPr>
        <p:spPr>
          <a:xfrm>
            <a:off x="6537960" y="2359152"/>
            <a:ext cx="1993392" cy="502920"/>
          </a:xfrm>
          <a:prstGeom prst="rect">
            <a:avLst/>
          </a:prstGeom>
          <a:noFill/>
        </p:spPr>
        <p:txBody>
          <a:bodyPr wrap="square" lIns="0" rIns="0" tIns="0" bIns="0" anchor="t">
            <a:spAutoFit/>
          </a:bodyPr>
          <a:lstStyle/>
          <a:p>
            <a:pPr>
              <a:lnSpc>
                <a:spcPct val="106000"/>
              </a:lnSpc>
              <a:spcAft>
                <a:spcPts val="700"/>
              </a:spcAft>
            </a:pPr>
            <a:r>
              <a:rPr sz="2400" b="1">
                <a:solidFill>
                  <a:srgbClr val="8BC9ED"/>
                </a:solidFill>
                <a:latin typeface="Calibri"/>
              </a:rPr>
              <a:t>Reguli</a:t>
            </a:r>
          </a:p>
        </p:txBody>
      </p:sp>
      <p:sp>
        <p:nvSpPr>
          <p:cNvPr id="14" name="Text: și geometrie"/>
          <p:cNvSpPr txBox="1"/>
          <p:nvPr/>
        </p:nvSpPr>
        <p:spPr>
          <a:xfrm>
            <a:off x="6537960" y="2990088"/>
            <a:ext cx="1993392" cy="758952"/>
          </a:xfrm>
          <a:prstGeom prst="rect">
            <a:avLst/>
          </a:prstGeom>
          <a:noFill/>
        </p:spPr>
        <p:txBody>
          <a:bodyPr wrap="square" lIns="0" rIns="0" tIns="0" bIns="0" anchor="t">
            <a:spAutoFit/>
          </a:bodyPr>
          <a:lstStyle/>
          <a:p>
            <a:pPr>
              <a:lnSpc>
                <a:spcPct val="106000"/>
              </a:lnSpc>
              <a:spcAft>
                <a:spcPts val="700"/>
              </a:spcAft>
            </a:pPr>
            <a:r>
              <a:rPr sz="2000" b="0">
                <a:solidFill>
                  <a:srgbClr val="EDF2F6"/>
                </a:solidFill>
                <a:latin typeface="Calibri"/>
              </a:rPr>
              <a:t>și geometrie</a:t>
            </a:r>
          </a:p>
        </p:txBody>
      </p:sp>
      <p:sp>
        <p:nvSpPr>
          <p:cNvPr id="15" name="Rectangle 14"/>
          <p:cNvSpPr/>
          <p:nvPr/>
        </p:nvSpPr>
        <p:spPr>
          <a:xfrm>
            <a:off x="9235440" y="2194560"/>
            <a:ext cx="2359152" cy="1645920"/>
          </a:xfrm>
          <a:prstGeom prst="rect">
            <a:avLst/>
          </a:prstGeom>
          <a:solidFill>
            <a:srgbClr val="1D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Evaluare"/>
          <p:cNvSpPr txBox="1"/>
          <p:nvPr/>
        </p:nvSpPr>
        <p:spPr>
          <a:xfrm>
            <a:off x="9418319" y="2359152"/>
            <a:ext cx="1993392" cy="502920"/>
          </a:xfrm>
          <a:prstGeom prst="rect">
            <a:avLst/>
          </a:prstGeom>
          <a:noFill/>
        </p:spPr>
        <p:txBody>
          <a:bodyPr wrap="square" lIns="0" rIns="0" tIns="0" bIns="0" anchor="t">
            <a:spAutoFit/>
          </a:bodyPr>
          <a:lstStyle/>
          <a:p>
            <a:pPr>
              <a:lnSpc>
                <a:spcPct val="106000"/>
              </a:lnSpc>
              <a:spcAft>
                <a:spcPts val="700"/>
              </a:spcAft>
            </a:pPr>
            <a:r>
              <a:rPr sz="2400" b="1">
                <a:solidFill>
                  <a:srgbClr val="8BC9ED"/>
                </a:solidFill>
                <a:latin typeface="Calibri"/>
              </a:rPr>
              <a:t>Evaluare</a:t>
            </a:r>
          </a:p>
        </p:txBody>
      </p:sp>
      <p:sp>
        <p:nvSpPr>
          <p:cNvPr id="17" name="Text: independentă"/>
          <p:cNvSpPr txBox="1"/>
          <p:nvPr/>
        </p:nvSpPr>
        <p:spPr>
          <a:xfrm>
            <a:off x="9418319" y="2990088"/>
            <a:ext cx="1993392" cy="758952"/>
          </a:xfrm>
          <a:prstGeom prst="rect">
            <a:avLst/>
          </a:prstGeom>
          <a:noFill/>
        </p:spPr>
        <p:txBody>
          <a:bodyPr wrap="square" lIns="0" rIns="0" tIns="0" bIns="0" anchor="t">
            <a:spAutoFit/>
          </a:bodyPr>
          <a:lstStyle/>
          <a:p>
            <a:pPr>
              <a:lnSpc>
                <a:spcPct val="106000"/>
              </a:lnSpc>
              <a:spcAft>
                <a:spcPts val="700"/>
              </a:spcAft>
            </a:pPr>
            <a:r>
              <a:rPr sz="2000" b="0">
                <a:solidFill>
                  <a:srgbClr val="EDF2F6"/>
                </a:solidFill>
                <a:latin typeface="Calibri"/>
              </a:rPr>
              <a:t>independentă</a:t>
            </a:r>
          </a:p>
        </p:txBody>
      </p:sp>
      <p:cxnSp>
        <p:nvCxnSpPr>
          <p:cNvPr id="18" name="Connector 17"/>
          <p:cNvCxnSpPr/>
          <p:nvPr/>
        </p:nvCxnSpPr>
        <p:spPr>
          <a:xfrm>
            <a:off x="2962656" y="3017520"/>
            <a:ext cx="457200" cy="0"/>
          </a:xfrm>
          <a:prstGeom prst="line">
            <a:avLst/>
          </a:prstGeom>
          <a:ln w="22860">
            <a:solidFill>
              <a:srgbClr val="8BC9ED"/>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43016" y="3017520"/>
            <a:ext cx="457200" cy="0"/>
          </a:xfrm>
          <a:prstGeom prst="line">
            <a:avLst/>
          </a:prstGeom>
          <a:ln w="22860">
            <a:solidFill>
              <a:srgbClr val="8BC9ED"/>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723376" y="3017520"/>
            <a:ext cx="457200" cy="0"/>
          </a:xfrm>
          <a:prstGeom prst="line">
            <a:avLst/>
          </a:prstGeom>
          <a:ln w="22860">
            <a:solidFill>
              <a:srgbClr val="8BC9ED"/>
            </a:solidFill>
            <a:prstDash val="dash"/>
          </a:ln>
        </p:spPr>
        <p:style>
          <a:lnRef idx="2">
            <a:schemeClr val="accent1"/>
          </a:lnRef>
          <a:fillRef idx="0">
            <a:schemeClr val="accent1"/>
          </a:fillRef>
          <a:effectRef idx="1">
            <a:schemeClr val="accent1"/>
          </a:effectRef>
          <a:fontRef idx="minor">
            <a:schemeClr val="tx1"/>
          </a:fontRef>
        </p:style>
      </p:cxnSp>
      <p:sp>
        <p:nvSpPr>
          <p:cNvPr id="21" name="Text: Astăzi: catalog fix, fără apel LLM"/>
          <p:cNvSpPr txBox="1"/>
          <p:nvPr/>
        </p:nvSpPr>
        <p:spPr>
          <a:xfrm>
            <a:off x="594360" y="4315968"/>
            <a:ext cx="10972800" cy="548640"/>
          </a:xfrm>
          <a:prstGeom prst="rect">
            <a:avLst/>
          </a:prstGeom>
          <a:noFill/>
        </p:spPr>
        <p:txBody>
          <a:bodyPr wrap="square" lIns="0" rIns="0" tIns="0" bIns="0" anchor="t">
            <a:spAutoFit/>
          </a:bodyPr>
          <a:lstStyle/>
          <a:p>
            <a:pPr>
              <a:lnSpc>
                <a:spcPct val="106000"/>
              </a:lnSpc>
              <a:spcAft>
                <a:spcPts val="700"/>
              </a:spcAft>
            </a:pPr>
            <a:r>
              <a:rPr sz="2700" b="1">
                <a:solidFill>
                  <a:srgbClr val="EFC47C"/>
                </a:solidFill>
                <a:latin typeface="Calibri"/>
              </a:rPr>
              <a:t>Astăzi: catalog fix, fără apel LLM</a:t>
            </a:r>
          </a:p>
        </p:txBody>
      </p:sp>
      <p:sp>
        <p:nvSpPr>
          <p:cNvPr id="22" name="Text: Planificat: validare pe server și aprobare"/>
          <p:cNvSpPr txBox="1"/>
          <p:nvPr/>
        </p:nvSpPr>
        <p:spPr>
          <a:xfrm>
            <a:off x="594360" y="5093208"/>
            <a:ext cx="10972800" cy="594360"/>
          </a:xfrm>
          <a:prstGeom prst="rect">
            <a:avLst/>
          </a:prstGeom>
          <a:noFill/>
        </p:spPr>
        <p:txBody>
          <a:bodyPr wrap="square" lIns="0" rIns="0" tIns="0" bIns="0" anchor="t">
            <a:spAutoFit/>
          </a:bodyPr>
          <a:lstStyle/>
          <a:p>
            <a:pPr>
              <a:lnSpc>
                <a:spcPct val="106000"/>
              </a:lnSpc>
              <a:spcAft>
                <a:spcPts val="700"/>
              </a:spcAft>
            </a:pPr>
            <a:r>
              <a:rPr sz="2300" b="0">
                <a:solidFill>
                  <a:srgbClr val="EDF2F6"/>
                </a:solidFill>
                <a:latin typeface="Calibri"/>
              </a:rPr>
              <a:t>Planificat: validare pe server și aprobare de către specialist</a:t>
            </a:r>
          </a:p>
        </p:txBody>
      </p:sp>
      <p:sp>
        <p:nvSpPr>
          <p:cNvPr id="23" name="Text: O recomandare nu constituie o măsurătoare."/>
          <p:cNvSpPr txBox="1"/>
          <p:nvPr/>
        </p:nvSpPr>
        <p:spPr>
          <a:xfrm>
            <a:off x="594360" y="5833872"/>
            <a:ext cx="10972800" cy="548640"/>
          </a:xfrm>
          <a:prstGeom prst="rect">
            <a:avLst/>
          </a:prstGeom>
          <a:noFill/>
        </p:spPr>
        <p:txBody>
          <a:bodyPr wrap="square" lIns="0" rIns="0" tIns="0" bIns="0" anchor="t">
            <a:spAutoFit/>
          </a:bodyPr>
          <a:lstStyle/>
          <a:p>
            <a:pPr>
              <a:lnSpc>
                <a:spcPct val="106000"/>
              </a:lnSpc>
              <a:spcAft>
                <a:spcPts val="700"/>
              </a:spcAft>
            </a:pPr>
            <a:r>
              <a:rPr sz="2500" b="0">
                <a:solidFill>
                  <a:srgbClr val="8BC9ED"/>
                </a:solidFill>
                <a:latin typeface="Calibri"/>
              </a:rPr>
              <a:t>O recomandare nu constituie o măsurătoare.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ANEXA C / METODĂ"/>
          <p:cNvSpPr txBox="1"/>
          <p:nvPr/>
        </p:nvSpPr>
        <p:spPr>
          <a:xfrm>
            <a:off x="594360" y="411480"/>
            <a:ext cx="9144000" cy="274320"/>
          </a:xfrm>
          <a:prstGeom prst="rect">
            <a:avLst/>
          </a:prstGeom>
          <a:noFill/>
        </p:spPr>
        <p:txBody>
          <a:bodyPr wrap="square" lIns="0" rIns="0" tIns="0" bIns="0" anchor="t">
            <a:spAutoFit/>
          </a:bodyPr>
          <a:lstStyle/>
          <a:p>
            <a:pPr>
              <a:lnSpc>
                <a:spcPct val="106000"/>
              </a:lnSpc>
              <a:spcAft>
                <a:spcPts val="700"/>
              </a:spcAft>
            </a:pPr>
            <a:r>
              <a:rPr sz="1300" b="1">
                <a:solidFill>
                  <a:srgbClr val="486476"/>
                </a:solidFill>
                <a:latin typeface="Calibri"/>
              </a:rPr>
              <a:t>ARTERIA / ANEXA C / METODĂ</a:t>
            </a:r>
          </a:p>
        </p:txBody>
      </p:sp>
      <p:sp>
        <p:nvSpPr>
          <p:cNvPr id="3" name="Text: 13"/>
          <p:cNvSpPr txBox="1"/>
          <p:nvPr/>
        </p:nvSpPr>
        <p:spPr>
          <a:xfrm>
            <a:off x="10881360" y="384048"/>
            <a:ext cx="704088" cy="320040"/>
          </a:xfrm>
          <a:prstGeom prst="rect">
            <a:avLst/>
          </a:prstGeom>
          <a:noFill/>
        </p:spPr>
        <p:txBody>
          <a:bodyPr wrap="square" lIns="0" rIns="0" tIns="0" bIns="0" anchor="t">
            <a:spAutoFit/>
          </a:bodyPr>
          <a:lstStyle/>
          <a:p>
            <a:pPr algn="r">
              <a:lnSpc>
                <a:spcPct val="106000"/>
              </a:lnSpc>
              <a:spcAft>
                <a:spcPts val="700"/>
              </a:spcAft>
            </a:pPr>
            <a:r>
              <a:rPr sz="1400" b="0">
                <a:solidFill>
                  <a:srgbClr val="486476"/>
                </a:solidFill>
                <a:latin typeface="Calibri"/>
              </a:rPr>
              <a:t>13</a:t>
            </a:r>
          </a:p>
        </p:txBody>
      </p:sp>
      <p:sp>
        <p:nvSpPr>
          <p:cNvPr id="4" name="Text: Condițiile unei evaluări credibile"/>
          <p:cNvSpPr txBox="1"/>
          <p:nvPr/>
        </p:nvSpPr>
        <p:spPr>
          <a:xfrm>
            <a:off x="594360" y="950976"/>
            <a:ext cx="10972800" cy="914400"/>
          </a:xfrm>
          <a:prstGeom prst="rect">
            <a:avLst/>
          </a:prstGeom>
          <a:noFill/>
        </p:spPr>
        <p:txBody>
          <a:bodyPr wrap="square" lIns="0" rIns="0" tIns="0" bIns="0" anchor="t">
            <a:spAutoFit/>
          </a:bodyPr>
          <a:lstStyle/>
          <a:p>
            <a:pPr>
              <a:lnSpc>
                <a:spcPct val="106000"/>
              </a:lnSpc>
              <a:spcAft>
                <a:spcPts val="700"/>
              </a:spcAft>
            </a:pPr>
            <a:r>
              <a:rPr sz="3600" b="1">
                <a:solidFill>
                  <a:srgbClr val="101820"/>
                </a:solidFill>
                <a:latin typeface="Calibri"/>
              </a:rPr>
              <a:t>Condițiile unei evaluări credibile</a:t>
            </a:r>
          </a:p>
        </p:txBody>
      </p:sp>
      <p:sp>
        <p:nvSpPr>
          <p:cNvPr id="5" name="Text: Surse: docs/ARCHITECTURE.md · SUMO Calibra"/>
          <p:cNvSpPr txBox="1"/>
          <p:nvPr/>
        </p:nvSpPr>
        <p:spPr>
          <a:xfrm>
            <a:off x="594360" y="6428232"/>
            <a:ext cx="10972800" cy="246888"/>
          </a:xfrm>
          <a:prstGeom prst="rect">
            <a:avLst/>
          </a:prstGeom>
          <a:noFill/>
        </p:spPr>
        <p:txBody>
          <a:bodyPr wrap="square" lIns="0" rIns="0" tIns="0" bIns="0" anchor="t">
            <a:spAutoFit/>
          </a:bodyPr>
          <a:lstStyle/>
          <a:p>
            <a:pPr>
              <a:lnSpc>
                <a:spcPct val="106000"/>
              </a:lnSpc>
              <a:spcAft>
                <a:spcPts val="700"/>
              </a:spcAft>
            </a:pPr>
            <a:r>
              <a:rPr sz="1100" b="0">
                <a:solidFill>
                  <a:srgbClr val="486476"/>
                </a:solidFill>
                <a:latin typeface="Calibri"/>
              </a:rPr>
              <a:t>Surse: docs/ARCHITECTURE.md · SUMO Calibrator · Audit repository, 2026</a:t>
            </a:r>
          </a:p>
        </p:txBody>
      </p:sp>
      <p:graphicFrame>
        <p:nvGraphicFramePr>
          <p:cNvPr id="6" name="Table 5"/>
          <p:cNvGraphicFramePr>
            <a:graphicFrameLocks noGrp="1"/>
          </p:cNvGraphicFramePr>
          <p:nvPr/>
        </p:nvGraphicFramePr>
        <p:xfrm>
          <a:off x="594360" y="1993392"/>
          <a:ext cx="11000232" cy="2688336"/>
        </p:xfrm>
        <a:graphic>
          <a:graphicData uri="http://schemas.openxmlformats.org/drawingml/2006/table">
            <a:tbl>
              <a:tblPr>
                <a:tableStyleId>{5C22544A-7EE6-4342-B048-85BDC9FD1C3A}</a:tableStyleId>
              </a:tblPr>
              <a:tblGrid>
                <a:gridCol w="2560320"/>
                <a:gridCol w="8439912"/>
              </a:tblGrid>
              <a:tr h="896112">
                <a:tc>
                  <a:txBody>
                    <a:bodyPr/>
                    <a:lstStyle/>
                    <a:p>
                      <a:pPr>
                        <a:spcAft>
                          <a:spcPts val="0"/>
                        </a:spcAft>
                      </a:pPr>
                      <a:r>
                        <a:rPr sz="2100" b="1">
                          <a:solidFill>
                            <a:srgbClr val="101820"/>
                          </a:solidFill>
                          <a:latin typeface="Calibri"/>
                        </a:rPr>
                        <a:t>Date</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Sursă, dată, acoperire, licență</a:t>
                      </a:r>
                    </a:p>
                  </a:txBody>
                  <a:tcPr marL="182880" marR="137160" marT="109728" marB="91440" anchor="ctr">
                    <a:solidFill>
                      <a:srgbClr val="EFF4F7"/>
                    </a:solidFill>
                  </a:tcPr>
                </a:tc>
              </a:tr>
              <a:tr h="896112">
                <a:tc>
                  <a:txBody>
                    <a:bodyPr/>
                    <a:lstStyle/>
                    <a:p>
                      <a:pPr>
                        <a:spcAft>
                          <a:spcPts val="0"/>
                        </a:spcAft>
                      </a:pPr>
                      <a:r>
                        <a:rPr sz="2100" b="1">
                          <a:solidFill>
                            <a:srgbClr val="101820"/>
                          </a:solidFill>
                          <a:latin typeface="Calibri"/>
                        </a:rPr>
                        <a:t>Comparație</a:t>
                      </a:r>
                    </a:p>
                  </a:txBody>
                  <a:tcPr marL="182880" marR="137160" marT="109728" marB="91440" anchor="ctr">
                    <a:solidFill>
                      <a:srgbClr val="FFFFFF"/>
                    </a:solidFill>
                  </a:tcPr>
                </a:tc>
                <a:tc>
                  <a:txBody>
                    <a:bodyPr/>
                    <a:lstStyle/>
                    <a:p>
                      <a:pPr>
                        <a:spcAft>
                          <a:spcPts val="0"/>
                        </a:spcAft>
                      </a:pPr>
                      <a:r>
                        <a:rPr sz="2100" b="0">
                          <a:solidFill>
                            <a:srgbClr val="101820"/>
                          </a:solidFill>
                          <a:latin typeface="Calibri"/>
                        </a:rPr>
                        <a:t>Aceeași zonă și aceeași metodă</a:t>
                      </a:r>
                    </a:p>
                  </a:txBody>
                  <a:tcPr marL="182880" marR="137160" marT="109728" marB="91440" anchor="ctr">
                    <a:solidFill>
                      <a:srgbClr val="FFFFFF"/>
                    </a:solidFill>
                  </a:tcPr>
                </a:tc>
              </a:tr>
              <a:tr h="896112">
                <a:tc>
                  <a:txBody>
                    <a:bodyPr/>
                    <a:lstStyle/>
                    <a:p>
                      <a:pPr>
                        <a:spcAft>
                          <a:spcPts val="0"/>
                        </a:spcAft>
                      </a:pPr>
                      <a:r>
                        <a:rPr sz="2100" b="1">
                          <a:solidFill>
                            <a:srgbClr val="101820"/>
                          </a:solidFill>
                          <a:latin typeface="Calibri"/>
                        </a:rPr>
                        <a:t>Simulare</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Cerere documentată, versiune, seed și rezultate păstrate</a:t>
                      </a:r>
                    </a:p>
                  </a:txBody>
                  <a:tcPr marL="182880" marR="137160" marT="109728" marB="91440" anchor="ctr">
                    <a:solidFill>
                      <a:srgbClr val="EFF4F7"/>
                    </a:solidFill>
                  </a:tcPr>
                </a:tc>
              </a:tr>
            </a:tbl>
          </a:graphicData>
        </a:graphic>
      </p:graphicFrame>
      <p:sp>
        <p:nvSpPr>
          <p:cNvPr id="7" name="Text: Lipsă date → necunoscut&#10;Propunere AI → ipo"/>
          <p:cNvSpPr txBox="1"/>
          <p:nvPr/>
        </p:nvSpPr>
        <p:spPr>
          <a:xfrm>
            <a:off x="594360" y="4828032"/>
            <a:ext cx="10972800" cy="1234440"/>
          </a:xfrm>
          <a:prstGeom prst="rect">
            <a:avLst/>
          </a:prstGeom>
          <a:noFill/>
        </p:spPr>
        <p:txBody>
          <a:bodyPr wrap="square" lIns="0" rIns="0" tIns="0" bIns="0" anchor="t">
            <a:spAutoFit/>
          </a:bodyPr>
          <a:lstStyle/>
          <a:p>
            <a:pPr>
              <a:lnSpc>
                <a:spcPct val="106000"/>
              </a:lnSpc>
              <a:spcAft>
                <a:spcPts val="700"/>
              </a:spcAft>
            </a:pPr>
            <a:r>
              <a:rPr sz="2100" b="0">
                <a:solidFill>
                  <a:srgbClr val="101820"/>
                </a:solidFill>
                <a:latin typeface="Calibri"/>
              </a:rPr>
              <a:t>Lipsă date → necunoscut</a:t>
            </a:r>
          </a:p>
          <a:p>
            <a:pPr>
              <a:lnSpc>
                <a:spcPct val="106000"/>
              </a:lnSpc>
              <a:spcAft>
                <a:spcPts val="700"/>
              </a:spcAft>
            </a:pPr>
            <a:r>
              <a:rPr sz="2100" b="0">
                <a:solidFill>
                  <a:srgbClr val="101820"/>
                </a:solidFill>
                <a:latin typeface="Calibri"/>
              </a:rPr>
              <a:t>Propunere AI → ipoteză</a:t>
            </a:r>
          </a:p>
          <a:p>
            <a:pPr>
              <a:lnSpc>
                <a:spcPct val="106000"/>
              </a:lnSpc>
              <a:spcAft>
                <a:spcPts val="700"/>
              </a:spcAft>
            </a:pPr>
            <a:r>
              <a:rPr sz="2100" b="0">
                <a:solidFill>
                  <a:srgbClr val="101820"/>
                </a:solidFill>
                <a:latin typeface="Calibri"/>
              </a:rPr>
              <a:t>Rulare repetată → rezultat verificabil</a:t>
            </a:r>
          </a:p>
        </p:txBody>
      </p:sp>
      <p:sp>
        <p:nvSpPr>
          <p:cNvPr id="8" name="Text: Nu există încă efecte de trafic validate î"/>
          <p:cNvSpPr txBox="1"/>
          <p:nvPr/>
        </p:nvSpPr>
        <p:spPr>
          <a:xfrm>
            <a:off x="594360" y="6144768"/>
            <a:ext cx="10972800" cy="347472"/>
          </a:xfrm>
          <a:prstGeom prst="rect">
            <a:avLst/>
          </a:prstGeom>
          <a:noFill/>
        </p:spPr>
        <p:txBody>
          <a:bodyPr wrap="square" lIns="0" rIns="0" tIns="0" bIns="0" anchor="t">
            <a:spAutoFit/>
          </a:bodyPr>
          <a:lstStyle/>
          <a:p>
            <a:pPr>
              <a:lnSpc>
                <a:spcPct val="106000"/>
              </a:lnSpc>
              <a:spcAft>
                <a:spcPts val="700"/>
              </a:spcAft>
            </a:pPr>
            <a:r>
              <a:rPr sz="1700" b="0">
                <a:solidFill>
                  <a:srgbClr val="486476"/>
                </a:solidFill>
                <a:latin typeface="Calibri"/>
              </a:rPr>
              <a:t>Nu există încă efecte de trafic validate în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4119</Words>
  <Application>Microsoft Office PowerPoint</Application>
  <PresentationFormat>Widescreen</PresentationFormat>
  <Paragraphs>423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Fira Code</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ARTERIA — pitch de hackathon</dc:title>
  <dc:subject>Prototip de planificare urbană; implementare și ipoteze delimitate</dc:subject>
  <dc:creator>ARION</dc:creator>
  <cp:keywords/>
  <dc:description>generated using python-pptx</dc:description>
  <cp:lastModifiedBy>Iustin Fagateanu</cp:lastModifiedBy>
  <cp:revision>2</cp:revision>
  <dcterms:created xsi:type="dcterms:W3CDTF">2013-01-27T09:14:16Z</dcterms:created>
  <dcterms:modified xsi:type="dcterms:W3CDTF">2026-10-17T20:49:13Z</dcterms:modified>
  <cp:category/>
  <dc:language>ro-RO</dc:language>
</cp:coreProperties>
</file>