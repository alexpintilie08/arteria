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46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326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1</a:t>
            </a:r>
          </a:p>
          <a:p>
            <a:r>
              <a:t>**Dovezi:** C01, C02. **Vizual:** compoziție tipografică dominantă; captură autentică a hărții din workspace în jumătatea dreaptă, cu atribuirea OSM păstrată. Nu se desenează o hartă cadastrală fictivă.</a:t>
            </a:r>
          </a:p>
          <a:p>
            <a:endParaRPr/>
          </a:p>
          <a:p>
            <a:r>
              <a:t>**Verbal:** „Un specialist în mobilitate trebuie să explice ce se schimbă într-un cartier înainte de lucrări. ARTERIA este prototipul nostru pentru această comparație.” Titlul poate sta pe ecran înainte de cronometru; se bugetează totuși 5 s în repetiția de cinci minute.</a:t>
            </a:r>
          </a:p>
          <a:p>
            <a:endParaRPr/>
          </a:p>
          <a:p>
            <a:r>
              <a:t>**Tranziție:** specialistul și decizia sa → problema.</a:t>
            </a:r>
          </a:p>
          <a:p>
            <a:endParaRPr/>
          </a:p>
          <a:p>
            <a:endParaRPr/>
          </a:p>
          <a:p>
            <a:r>
              <a:t>Surse exacte și precizări:</a:t>
            </a:r>
          </a:p>
          <a:p>
            <a:r>
              <a:t>README.md; frontend/web/src/features/workspace/Workspace.tsx. Captură istorică a hărții demonstrative.</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2</a:t>
            </a:r>
          </a:p>
          <a:p>
            <a:r>
              <a:t>**Dovezi:** C01; documentația arhitecturală. Aceasta este o situație de utilizare propusă, fără citat inventat și fără cost numeric. **Vizual:** diagramă nativă de decizie: o intervenție centrală conectată la cele patru perspective, fără săgeți care implică beneficii deja măsurate.</a:t>
            </a:r>
          </a:p>
          <a:p>
            <a:endParaRPr/>
          </a:p>
          <a:p>
            <a:r>
              <a:t>**Verbal (40 s):** descrierea unei discuții de planificare la nivel de cartier. Explicarea motivului pentru care un indicator auto nu este suficient. Nu se atribuie cuiva o experiență reală neintervievată. „Vom verifica această nevoie cu un specialist înainte de a extinde produsul.”</a:t>
            </a:r>
          </a:p>
          <a:p>
            <a:endParaRPr/>
          </a:p>
          <a:p>
            <a:r>
              <a:t>**Tranziție:** ce instrumente există pentru această muncă.</a:t>
            </a:r>
          </a:p>
          <a:p>
            <a:endParaRPr/>
          </a:p>
          <a:p>
            <a:endParaRPr/>
          </a:p>
          <a:p>
            <a:r>
              <a:t>Surse exacte și precizări:</a:t>
            </a:r>
          </a:p>
          <a:p>
            <a:r>
              <a:t>README.md; docs/ARCHITECTURE.md. Nu există interviuri sau cost numeric verificat.</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3</a:t>
            </a:r>
          </a:p>
          <a:p>
            <a:r>
              <a:t>**Dovezi:** sursele externe primare din cercetare §4–5. Nu se fac afirmații despre costurile concurenților sau incapacitatea lor de a compara. **Vizual:** tabel nativ cu trei rânduri și o propoziție distinctă despre integrare. Fără logo-uri copiate sau chart de cote de piață.</a:t>
            </a:r>
          </a:p>
          <a:p>
            <a:endParaRPr/>
          </a:p>
          <a:p>
            <a:r>
              <a:t>**Verbal (40 s):** „Nu pornim de la lipsa instrumentelor. Propunem să legăm selecția unei zone și alternativele într-o experiență inspectabilă. PMUD arată contextul instituțional; nu este validare comercială a produsului nostru.” Se recunoaște lipsa a trei dovezi independente de nevoie cerute de ghid.</a:t>
            </a:r>
          </a:p>
          <a:p>
            <a:endParaRPr/>
          </a:p>
          <a:p>
            <a:r>
              <a:t>**Tranziție:** forma concretă a soluției propuse.</a:t>
            </a:r>
          </a:p>
          <a:p>
            <a:endParaRPr/>
          </a:p>
          <a:p>
            <a:endParaRPr/>
          </a:p>
          <a:p>
            <a:r>
              <a:t>Surse exacte și precizări:</a:t>
            </a:r>
          </a:p>
          <a:p>
            <a:r>
              <a:t>https://www.qgis.org/project/overview/</a:t>
            </a:r>
          </a:p>
          <a:p>
            <a:r>
              <a:t>https://sumo.dlr.de/docs/</a:t>
            </a:r>
          </a:p>
          <a:p>
            <a:r>
              <a:t>https://www.primaria-iasi.ro/dm_iasi/portal.nsf/pagini/consultare%2Bpublica%2Bplanul%2Bde%2Bmobilitate%2Burbana%2Bdurabila%2Bpentru%2Bpolul%2Bde%2Bcrestere%2Biasi%2Bpmud%2Biasi-0002E4D6?Open%3FOpen=</a:t>
            </a:r>
          </a:p>
          <a:p>
            <a:r>
              <a:t>PMUD este context, nu dovadă de adopție.</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4</a:t>
            </a:r>
          </a:p>
          <a:p>
            <a:r>
              <a:t>**Dovezi:** C02–C05. **Vizual:** flux editabil cu trei noduri; sub el delimitarea prezent/viitor, pe două rânduri deschise, fără panouri repetitive.</a:t>
            </a:r>
          </a:p>
          <a:p>
            <a:endParaRPr/>
          </a:p>
          <a:p>
            <a:r>
              <a:t>**Verbal (15 s):** „Am conectat interfața la API. Semaforizarea folosește date sintetice; separat, studiile pietonale evaluează alternative pe graf.”</a:t>
            </a:r>
          </a:p>
          <a:p>
            <a:endParaRPr/>
          </a:p>
          <a:p>
            <a:r>
              <a:t>**Tranziție:** demonstrație pe Podu Roș.</a:t>
            </a:r>
          </a:p>
          <a:p>
            <a:endParaRPr/>
          </a:p>
          <a:p>
            <a:endParaRPr/>
          </a:p>
          <a:p>
            <a:r>
              <a:t>Surse exacte și precizări:</a:t>
            </a:r>
          </a:p>
          <a:p>
            <a:r>
              <a:t>backend/main.py; backend/spatial_routes.py; frontend/web/src/features/workspace/ConnectedWorkspace.tsx. API conectat și studii spațiale; nu validare urbană.</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5</a:t>
            </a:r>
          </a:p>
          <a:p>
            <a:r>
              <a:t>**Dovezi:** C02–C05; browser local și capturi în `assets/`. **Vizual:** captură autentică a comparației, dominantă (circa 65% din slide). Textul de avertizare trebuie să fie lizibil, independent de etichetele posibil excesive din UI. Captura nu este o reconstrucție inventată.</a:t>
            </a:r>
          </a:p>
          <a:p>
            <a:endParaRPr/>
          </a:p>
          <a:p>
            <a:r>
              <a:t>**Verbal / demo (75 s):** alege Podu Roș, analizează prin API, deschide propunerile, setează verde nord–sud la 70 s și compară. Verificarea conectată arată compromisul: nord–sud scade, est–vest crește. Modelul este sintetic. „Aceste valori ilustrează interacțiunea. Nu sunt rezultate măsurate la Podu Roș.” Dacă live-ul nu este disponibil, se folosește captura; nu se declară că există înregistrare video. Site-ul public anterior nu se promovează fără verificare.</a:t>
            </a:r>
          </a:p>
          <a:p>
            <a:endParaRPr/>
          </a:p>
          <a:p>
            <a:r>
              <a:t>**Tranziție:** ce componente susțin prototipul și ce lipsește.</a:t>
            </a:r>
          </a:p>
          <a:p>
            <a:endParaRPr/>
          </a:p>
          <a:p>
            <a:endParaRPr/>
          </a:p>
          <a:p>
            <a:r>
              <a:t>Surse exacte și precizări:</a:t>
            </a:r>
          </a:p>
          <a:p>
            <a:r>
              <a:t>backend/simulation_adapter.py; frontend/web/src/features/workspace/ConnectedWorkspace.tsx; docs/ppt/assets/connected-comparison.png. Verificare UI pe API local: verde NS 70 s. Estimări sintetice, fără SUMO și fără măsurători reale.</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6</a:t>
            </a:r>
          </a:p>
          <a:p>
            <a:r>
              <a:t>**Dovezi:** C06–C11, C15. **Vizual:** diagramă editabilă cu exact trei componente principale, provider AI separat ca dependență viitoare. Legături frontend→backend→sim continue pentru fluxurile implementate. LLM separat, întrerupt. Semaforizarea rămâne sintetică; studiile spațiale folosesc graf și candidați validați.</a:t>
            </a:r>
          </a:p>
          <a:p>
            <a:endParaRPr/>
          </a:p>
          <a:p>
            <a:r>
              <a:t>**Verbal (30 s):** „Web-ul este conectat la FastAPI, cu validare Pydantic și persistență SQLite. SIM evaluează grafuri pietonale și candidați. Semaforizarea este sintetică. SUMO local este opțional, fără legătură la UI; providerul LLM rămâne viitor.” Autorii decid arhitectura; ponderea codului generat de AI nu este stabilită.</a:t>
            </a:r>
          </a:p>
          <a:p>
            <a:endParaRPr/>
          </a:p>
          <a:p>
            <a:r>
              <a:t>**Tranziție:** cine ar cumpăra această experiență dacă nevoia se confirmă.</a:t>
            </a:r>
          </a:p>
          <a:p>
            <a:endParaRPr/>
          </a:p>
          <a:p>
            <a:endParaRPr/>
          </a:p>
          <a:p>
            <a:r>
              <a:t>Surse exacte și precizări:</a:t>
            </a:r>
          </a:p>
          <a:p>
            <a:r>
              <a:t>backend/main.py; backend/storage.py; backend/spatial_routes.py; backend/spatial_adapter.py; sim/. FastAPI și SQLite implementate, graf pietonal conectat. SUMO local opțional; LLM cloud absent.</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7</a:t>
            </a:r>
          </a:p>
          <a:p>
            <a:r>
              <a:t>**Dovezi:** C16; cercetare §17. **Vizual:** preț tipografic mare și o coloană de argumente scurte, fără grafic de venituri sau marjă.</a:t>
            </a:r>
          </a:p>
          <a:p>
            <a:endParaRPr/>
          </a:p>
          <a:p>
            <a:r>
              <a:t>**Verbal (30 s):** prețul este punct de plecare pentru interviuri, nu tarif probat. Primul pilot validează utilitatea înainte de vânzare. Nu se promit proceduri juridice, fonduri sau achiziție rapidă.</a:t>
            </a:r>
          </a:p>
          <a:p>
            <a:endParaRPr/>
          </a:p>
          <a:p>
            <a:r>
              <a:t>**Tranziție:** cum se testează cererea de jos în sus.</a:t>
            </a:r>
          </a:p>
          <a:p>
            <a:endParaRPr/>
          </a:p>
          <a:p>
            <a:endParaRPr/>
          </a:p>
          <a:p>
            <a:r>
              <a:t>Surse exacte și precizări:</a:t>
            </a:r>
          </a:p>
          <a:p>
            <a:r>
              <a:t>docs/ppt/archive/pre-audit/Template-Pitch-Hackathon.pre-audit.pptx. Preț nevalidat; fără cost de serving măsurat, marjă, prag juridic sau clienți confirmați.</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8</a:t>
            </a:r>
          </a:p>
          <a:p>
            <a:r>
              <a:t>**Dovezi:** C16 și lipsurile declarate în cercetare §17. **Vizual:** progresie geografică textuală Iași→interviuri→replicare; calcul nativ într-un singur rând, fără TAM global inventat.</a:t>
            </a:r>
          </a:p>
          <a:p>
            <a:endParaRPr/>
          </a:p>
          <a:p>
            <a:r>
              <a:t>**Verbal (20 s):** „Primăria și CTP Iași sunt posibile interlocutoare, nu parteneri confirmați. Lista de zece organizații trebuie construită. Calculul arată numai mecanica abonamentului dacă toate cele zece ar cumpăra.” Pentru trei minute se sare acest slide, conform ghidului.</a:t>
            </a:r>
          </a:p>
          <a:p>
            <a:endParaRPr/>
          </a:p>
          <a:p>
            <a:r>
              <a:t>**Tranziție:** cine a construit baza vizibilă.</a:t>
            </a:r>
          </a:p>
          <a:p>
            <a:endParaRPr/>
          </a:p>
          <a:p>
            <a:endParaRPr/>
          </a:p>
          <a:p>
            <a:r>
              <a:t>Surse exacte și precizări:</a:t>
            </a:r>
          </a:p>
          <a:p>
            <a:r>
              <a:t>18000=12×1500; 180000=10×18000 numai dacă toate organizațiile ar cumpăra. Nu există o listă verificată de zece organizații. Nu este TAM/SAM sau ARR realizat.</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9</a:t>
            </a:r>
          </a:p>
          <a:p>
            <a:r>
              <a:t>**Dovezi:** C17; componența și responsabilitățile exacte sunt confirmate de utilizator în cerința V2 din 18 octombrie 2026. Codul și Git nu stabilesc autorul fiecărui handler; nu atribuim endpoint-uri sau module individuale lui Eusebiu. **Vizual:** trei profiluri egale, aceleași dimensiuni și aceeași ierarhie; fără ranguri sau fotografii inventate.</a:t>
            </a:r>
          </a:p>
          <a:p>
            <a:endParaRPr/>
          </a:p>
          <a:p>
            <a:r>
              <a:t>**Verbal (20 s):** „Iustin lucrează la frontend și experiența web, Alex la bootstrap și baza de simulare, iar Fagateanu Eusebiu la backend. Pentru următoarea etapă căutăm validare cu un specialist în mobilitate.” Rolurile de scenă și continuarea după eveniment rămân de stabilit; roster-ul tehnic este confirmat. Nu se declară exclusivitate pe fișiere sau disponibilitate full-time.</a:t>
            </a:r>
          </a:p>
          <a:p>
            <a:endParaRPr/>
          </a:p>
          <a:p>
            <a:r>
              <a:t>**Mișcare:** același Fade de 0,4 s pentru fiecare profil, într-un singur grup de click cu succesiune scurtă, fără diferențe de rang.</a:t>
            </a:r>
          </a:p>
          <a:p>
            <a:endParaRPr/>
          </a:p>
          <a:p>
            <a:r>
              <a:t>**Tranziție:** pasul concret și cererea către juriu.</a:t>
            </a:r>
          </a:p>
          <a:p>
            <a:endParaRPr/>
          </a:p>
          <a:p>
            <a:endParaRPr/>
          </a:p>
          <a:p>
            <a:r>
              <a:t>Surse exacte și precizări:</a:t>
            </a:r>
          </a:p>
          <a:p>
            <a:r>
              <a:t>Componență și responsabilități confirmate explicit de utilizator în cerința V2, 18 octombrie 2026: Iustin Fagateanu — Frontend and web experience; Alex Pintilie — Bootstrap and simulation foundation; Fagateanu Eusebiu — Backend. Codul și Git nu stabilesc autorie individuală pe handlere. Rolurile de scenă și disponibilitatea nu sunt confirmate.</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10</a:t>
            </a:r>
          </a:p>
          <a:p>
            <a:r>
              <a:t>**Dovezi:** roadmap și criterii recomandate, nu un angajament semnat. **Vizual:** roadmap editabil cu criterii de ieșire și o cerere dominantă. Fără deadline arbitrar sau reducere de trafic țintă prezentată ca validată.</a:t>
            </a:r>
          </a:p>
          <a:p>
            <a:endParaRPr/>
          </a:p>
          <a:p>
            <a:r>
              <a:t>**Verbal (25 s):** „Vom documenta o zonă, verifica indicatorii și calibra ipotezele modelului. Cu un specialist vom măsura cât durează pregătirea comparației și dacă rezultatul se poate verifica. Căutăm introducerea și datele pentru acest prim caz.” După cerere, prezentarea se oprește.</a:t>
            </a:r>
          </a:p>
          <a:p>
            <a:endParaRPr/>
          </a:p>
          <a:p>
            <a:r>
              <a:t>**Tranziție:** numai la întrebări, către anexe.</a:t>
            </a:r>
          </a:p>
          <a:p>
            <a:endParaRPr/>
          </a:p>
          <a:p>
            <a:endParaRPr/>
          </a:p>
          <a:p>
            <a:r>
              <a:t>Surse exacte și precizări:</a:t>
            </a:r>
          </a:p>
          <a:p>
            <a:r>
              <a:t>docs/ROADMAP.md și docs/ppt/research/PROJECT_RESEARCH_FULL.md §19. Plan propus, fără acord de pilot. Oprirea pitch-ului aici; anexele se deschid doar la întrebare.</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11</a:t>
            </a:r>
          </a:p>
          <a:p>
            <a:r>
              <a:t>**Dovezi:** C12–C14, §14; 138 teste Python/backend/SIM trecute în runtime QA izolat (1 avertisment de depreciere), fără execuție SUMO. **Vizual:** cifra mare 9/9, două rânduri de rezultate și un rând clar de limite. **Verbal:** testele Node acoperă transportul API și geografia; nu probează impactul urban. SUMO necesită binare externe și calibrare. **Tranziție:** rolul AI.</a:t>
            </a:r>
          </a:p>
          <a:p>
            <a:endParaRPr/>
          </a:p>
          <a:p>
            <a:endParaRPr/>
          </a:p>
          <a:p>
            <a:r>
              <a:t>Surse exacte și precizări:</a:t>
            </a:r>
          </a:p>
          <a:p>
            <a:r>
              <a:t>npm test: 9/9; npm run typecheck și npm run build: trecute după merge 00cf80c. Fetch mock și teste geografice; nu code coverage sau efect urban. Python: 138 passed, 1 warning în runtime QA izolat; fără binare SUMO.</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12</a:t>
            </a:r>
          </a:p>
          <a:p>
            <a:r>
              <a:t>**Dovezi:** C08, C15. **Vizual:** patru pași nativi cu legăturile către LLM viitor întrerupte și evaluarea implementată continuă. **Verbal:** validarea de schemă este necesară, dar nu suficientă; sunt necesare reguli spațiale și calcule independente. Nu se cuantifică autorie AI a codului. **Tranziție:** metodologia de validare.</a:t>
            </a:r>
          </a:p>
          <a:p>
            <a:endParaRPr/>
          </a:p>
          <a:p>
            <a:endParaRPr/>
          </a:p>
          <a:p>
            <a:r>
              <a:t>Surse exacte și precizări:</a:t>
            </a:r>
          </a:p>
          <a:p>
            <a:r>
              <a:t>sim/proposal_catalog.py; sim/proposal_validation.py; backend/spatial_routes.py. Propuneri deterministe și validarea dovezilor implementate. Provider LLM viitor; fără autorie AI cuantificată.</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13</a:t>
            </a:r>
          </a:p>
          <a:p>
            <a:r>
              <a:t>**Dovezi:** C15, C19; SUMO Calibrator și arhitectură. **Vizual:** tabel nativ „intrare / condiție de acceptare”, cu etichete textuale în loc de procente. **Verbal:** diferența între observed/calculated/estimated/unknown; etichetele singure nu probează proveniența. Auth, jobs și Android complet rămân etape viitoare; persistența SQLite există. **Tranziție:** revenire la cererea de pe slide-ul 10.</a:t>
            </a:r>
          </a:p>
          <a:p>
            <a:endParaRPr/>
          </a:p>
          <a:p>
            <a:r>
              <a:t>## Reguli de folosire și repetiție</a:t>
            </a:r>
          </a:p>
          <a:p>
            <a:endParaRPr/>
          </a:p>
          <a:p>
            <a:r>
              <a:t>Buget de cinci minute: 5+40+40+15+75+30+30+20+20+25 = 300 s. Acestea sunt ținte; se repetă și se scurtează verbal dacă nu încap. Anexele nu intră în pitch. Pentru trei minute se folosește ordinea ghidului cu slide-ul de piață sărit; nu se mută business/echipa înaintea demo-ului.</a:t>
            </a:r>
          </a:p>
          <a:p>
            <a:endParaRPr/>
          </a:p>
          <a:p>
            <a:r>
              <a:t>Fiecare slide include note editabile cu explicația, sursele exacte și limitele. Sursele externe sunt link-uri în note și surse scurte pe slide-ul 3. Fără citate fictive, statistici de trafic, logo-uri instituționale, URL public neverificat, QR inventat sau promisiune de pilot semnat. Aspectele de confirmat din cercetare rămân în QA, fără a bloca livrarea deck-ului demonstrativ.</a:t>
            </a:r>
          </a:p>
          <a:p>
            <a:endParaRPr/>
          </a:p>
          <a:p>
            <a:endParaRPr/>
          </a:p>
          <a:p>
            <a:r>
              <a:t>Surse exacte și precizări:</a:t>
            </a:r>
          </a:p>
          <a:p>
            <a:r>
              <a:t>docs/ARCHITECTURE.md; docs/API_CONTRACT.md; sim/sumo_support.py. https://sumo.dlr.de/docs/Simulation/Calibrator.html. Literalul observed nu dovedește achiziția datelor. Fără efect de trafic validat.</a:t>
            </a:r>
          </a:p>
          <a:p>
            <a:endParaRPr/>
          </a:p>
          <a:p>
            <a:r>
              <a:t>Sursa de adevăr: docs/ppt/research/PROJECT_RESEARCH_FULL.md. Structură adaptată din template-ul de Andrei Margelatu, ordinea păstrată.</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TITLU"/>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TITLU</a:t>
            </a:r>
          </a:p>
        </p:txBody>
      </p:sp>
      <p:sp>
        <p:nvSpPr>
          <p:cNvPr id="3" name="Text: 0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01</a:t>
            </a:r>
          </a:p>
        </p:txBody>
      </p:sp>
      <p:sp>
        <p:nvSpPr>
          <p:cNvPr id="7" name="Text: ARION · Hackathon AI Iași 2026"/>
          <p:cNvSpPr txBox="1"/>
          <p:nvPr/>
        </p:nvSpPr>
        <p:spPr>
          <a:xfrm>
            <a:off x="621792" y="5532120"/>
            <a:ext cx="5669280" cy="411480"/>
          </a:xfrm>
          <a:prstGeom prst="rect">
            <a:avLst/>
          </a:prstGeom>
          <a:noFill/>
          <a:effectLst/>
        </p:spPr>
        <p:txBody>
          <a:bodyPr wrap="square" lIns="0" tIns="0" rIns="0" bIns="0" anchor="t">
            <a:spAutoFit/>
          </a:bodyPr>
          <a:lstStyle/>
          <a:p>
            <a:pPr>
              <a:lnSpc>
                <a:spcPct val="106000"/>
              </a:lnSpc>
              <a:spcAft>
                <a:spcPts val="700"/>
              </a:spcAft>
            </a:pPr>
            <a:r>
              <a:rPr sz="1700" b="0">
                <a:solidFill>
                  <a:srgbClr val="EDF2F6"/>
                </a:solidFill>
                <a:latin typeface="Calibri"/>
              </a:rPr>
              <a:t>ARION · Hackathon AI Iași 2026</a:t>
            </a:r>
          </a:p>
        </p:txBody>
      </p:sp>
      <p:sp>
        <p:nvSpPr>
          <p:cNvPr id="8" name="Text: Prototip demonstrativ"/>
          <p:cNvSpPr txBox="1"/>
          <p:nvPr/>
        </p:nvSpPr>
        <p:spPr>
          <a:xfrm>
            <a:off x="621792" y="6007608"/>
            <a:ext cx="5486400" cy="320040"/>
          </a:xfrm>
          <a:prstGeom prst="rect">
            <a:avLst/>
          </a:prstGeom>
          <a:noFill/>
          <a:effectLst/>
        </p:spPr>
        <p:txBody>
          <a:bodyPr wrap="square" lIns="0" tIns="0" rIns="0" bIns="0" anchor="t">
            <a:spAutoFit/>
          </a:bodyPr>
          <a:lstStyle/>
          <a:p>
            <a:pPr>
              <a:lnSpc>
                <a:spcPct val="106000"/>
              </a:lnSpc>
              <a:spcAft>
                <a:spcPts val="700"/>
              </a:spcAft>
            </a:pPr>
            <a:r>
              <a:rPr sz="1500" b="0">
                <a:solidFill>
                  <a:srgbClr val="EFC47C"/>
                </a:solidFill>
                <a:latin typeface="Calibri"/>
              </a:rPr>
              <a:t>Prototip demonstrativ</a:t>
            </a:r>
          </a:p>
        </p:txBody>
      </p:sp>
      <p:sp>
        <p:nvSpPr>
          <p:cNvPr id="10" name="Text: Captură din aplicație · © contributori Ope"/>
          <p:cNvSpPr txBox="1"/>
          <p:nvPr/>
        </p:nvSpPr>
        <p:spPr>
          <a:xfrm>
            <a:off x="6629400" y="5943600"/>
            <a:ext cx="4956048" cy="365760"/>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Captură din aplicație · © contributori OpenStreetMap</a:t>
            </a:r>
          </a:p>
        </p:txBody>
      </p:sp>
      <p:grpSp>
        <p:nvGrpSpPr>
          <p:cNvPr id="11" name="reveal:s01_title"/>
          <p:cNvGrpSpPr/>
          <p:nvPr/>
        </p:nvGrpSpPr>
        <p:grpSpPr>
          <a:xfrm>
            <a:off x="594360" y="1389888"/>
            <a:ext cx="6035040" cy="1005840"/>
            <a:chOff x="594360" y="1389888"/>
            <a:chExt cx="6035040" cy="1005840"/>
          </a:xfrm>
        </p:grpSpPr>
        <p:sp>
          <p:nvSpPr>
            <p:cNvPr id="4" name="Text: ARTERIA"/>
            <p:cNvSpPr txBox="1"/>
            <p:nvPr/>
          </p:nvSpPr>
          <p:spPr>
            <a:xfrm>
              <a:off x="594360" y="1389888"/>
              <a:ext cx="6035040" cy="1005840"/>
            </a:xfrm>
            <a:prstGeom prst="rect">
              <a:avLst/>
            </a:prstGeom>
            <a:noFill/>
            <a:effectLst/>
          </p:spPr>
          <p:txBody>
            <a:bodyPr wrap="square" lIns="0" tIns="0" rIns="0" bIns="0" anchor="t">
              <a:spAutoFit/>
            </a:bodyPr>
            <a:lstStyle/>
            <a:p>
              <a:pPr>
                <a:lnSpc>
                  <a:spcPct val="106000"/>
                </a:lnSpc>
                <a:spcAft>
                  <a:spcPts val="700"/>
                </a:spcAft>
              </a:pPr>
              <a:r>
                <a:rPr sz="6400" b="1">
                  <a:solidFill>
                    <a:srgbClr val="EDF2F6"/>
                  </a:solidFill>
                  <a:latin typeface="Calibri"/>
                </a:rPr>
                <a:t>ARTERIA</a:t>
              </a:r>
            </a:p>
          </p:txBody>
        </p:sp>
      </p:grpSp>
      <p:grpSp>
        <p:nvGrpSpPr>
          <p:cNvPr id="12" name="reveal:s01_subtitle"/>
          <p:cNvGrpSpPr/>
          <p:nvPr/>
        </p:nvGrpSpPr>
        <p:grpSpPr>
          <a:xfrm>
            <a:off x="621792" y="2615184"/>
            <a:ext cx="5623560" cy="2395728"/>
            <a:chOff x="621792" y="2615184"/>
            <a:chExt cx="5623560" cy="2395728"/>
          </a:xfrm>
        </p:grpSpPr>
        <p:sp>
          <p:nvSpPr>
            <p:cNvPr id="5" name="Text: Planificare urbană pentru&#10;echipele de mobi"/>
            <p:cNvSpPr txBox="1"/>
            <p:nvPr/>
          </p:nvSpPr>
          <p:spPr>
            <a:xfrm>
              <a:off x="621792" y="2615184"/>
              <a:ext cx="5623560" cy="1143000"/>
            </a:xfrm>
            <a:prstGeom prst="rect">
              <a:avLst/>
            </a:prstGeom>
            <a:noFill/>
            <a:effectLst/>
          </p:spPr>
          <p:txBody>
            <a:bodyPr wrap="square" lIns="0" tIns="0" rIns="0" bIns="0" anchor="t">
              <a:spAutoFit/>
            </a:bodyPr>
            <a:lstStyle/>
            <a:p>
              <a:pPr>
                <a:lnSpc>
                  <a:spcPct val="106000"/>
                </a:lnSpc>
                <a:spcAft>
                  <a:spcPts val="700"/>
                </a:spcAft>
              </a:pPr>
              <a:r>
                <a:rPr sz="2800" b="0">
                  <a:solidFill>
                    <a:srgbClr val="EDF2F6"/>
                  </a:solidFill>
                  <a:latin typeface="Calibri"/>
                </a:rPr>
                <a:t>Planificare urbană pentru</a:t>
              </a:r>
            </a:p>
            <a:p>
              <a:pPr>
                <a:lnSpc>
                  <a:spcPct val="106000"/>
                </a:lnSpc>
                <a:spcAft>
                  <a:spcPts val="700"/>
                </a:spcAft>
              </a:pPr>
              <a:r>
                <a:rPr sz="2800" b="0">
                  <a:solidFill>
                    <a:srgbClr val="EDF2F6"/>
                  </a:solidFill>
                  <a:latin typeface="Calibri"/>
                </a:rPr>
                <a:t>echipele de mobilitate</a:t>
              </a:r>
            </a:p>
          </p:txBody>
        </p:sp>
        <p:sp>
          <p:nvSpPr>
            <p:cNvPr id="6" name="Text: Compararea intervențiilor,&#10;înainte de impl"/>
            <p:cNvSpPr txBox="1"/>
            <p:nvPr/>
          </p:nvSpPr>
          <p:spPr>
            <a:xfrm>
              <a:off x="621792" y="4096512"/>
              <a:ext cx="5486400" cy="914400"/>
            </a:xfrm>
            <a:prstGeom prst="rect">
              <a:avLst/>
            </a:prstGeom>
            <a:noFill/>
            <a:effectLst/>
          </p:spPr>
          <p:txBody>
            <a:bodyPr wrap="square" lIns="0" tIns="0" rIns="0" bIns="0" anchor="t">
              <a:spAutoFit/>
            </a:bodyPr>
            <a:lstStyle/>
            <a:p>
              <a:pPr>
                <a:lnSpc>
                  <a:spcPct val="106000"/>
                </a:lnSpc>
                <a:spcAft>
                  <a:spcPts val="700"/>
                </a:spcAft>
              </a:pPr>
              <a:r>
                <a:rPr sz="2300" b="0">
                  <a:solidFill>
                    <a:srgbClr val="8BC9ED"/>
                  </a:solidFill>
                  <a:latin typeface="Calibri"/>
                </a:rPr>
                <a:t>Compararea intervențiilor,</a:t>
              </a:r>
            </a:p>
            <a:p>
              <a:pPr>
                <a:lnSpc>
                  <a:spcPct val="106000"/>
                </a:lnSpc>
                <a:spcAft>
                  <a:spcPts val="700"/>
                </a:spcAft>
              </a:pPr>
              <a:r>
                <a:rPr sz="2300" b="0">
                  <a:solidFill>
                    <a:srgbClr val="8BC9ED"/>
                  </a:solidFill>
                  <a:latin typeface="Calibri"/>
                </a:rPr>
                <a:t>înainte de implementare</a:t>
              </a:r>
            </a:p>
          </p:txBody>
        </p:sp>
      </p:grpSp>
      <p:grpSp>
        <p:nvGrpSpPr>
          <p:cNvPr id="13" name="reveal:s01_product"/>
          <p:cNvGrpSpPr/>
          <p:nvPr/>
        </p:nvGrpSpPr>
        <p:grpSpPr>
          <a:xfrm>
            <a:off x="6629400" y="1391649"/>
            <a:ext cx="4956048" cy="4303300"/>
            <a:chOff x="6629400" y="1391649"/>
            <a:chExt cx="4956048" cy="4303300"/>
          </a:xfrm>
        </p:grpSpPr>
        <p:pic>
          <p:nvPicPr>
            <p:cNvPr id="9" name="Picture 8" descr="image.jpg"/>
            <p:cNvPicPr>
              <a:picLocks noChangeAspect="1"/>
            </p:cNvPicPr>
            <p:nvPr/>
          </p:nvPicPr>
          <p:blipFill>
            <a:blip r:embed="rId3"/>
            <a:stretch>
              <a:fillRect/>
            </a:stretch>
          </p:blipFill>
          <p:spPr>
            <a:xfrm>
              <a:off x="6629400" y="1391649"/>
              <a:ext cx="4956048" cy="4303300"/>
            </a:xfrm>
            <a:prstGeom prst="rect">
              <a:avLst/>
            </a:prstGeom>
            <a:effectLst/>
          </p:spPr>
        </p:pic>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P / PROBLEM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P / PROBLEMA</a:t>
            </a:r>
          </a:p>
        </p:txBody>
      </p:sp>
      <p:sp>
        <p:nvSpPr>
          <p:cNvPr id="3" name="Text: 0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02</a:t>
            </a:r>
          </a:p>
        </p:txBody>
      </p:sp>
      <p:sp>
        <p:nvSpPr>
          <p:cNvPr id="4" name="Text: O intervenție. Mai multe efec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O intervenție. Mai multe efecte.</a:t>
            </a:r>
          </a:p>
        </p:txBody>
      </p:sp>
      <p:sp>
        <p:nvSpPr>
          <p:cNvPr id="5" name="Text: Situație propusă · README.md și docs/ARCH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Situație propusă · README.md și docs/ARCHITECTURE.md, audit 2026</a:t>
            </a:r>
          </a:p>
        </p:txBody>
      </p:sp>
      <p:sp>
        <p:nvSpPr>
          <p:cNvPr id="6" name="Text: Utilizator vizat: specialistul în mobilita"/>
          <p:cNvSpPr txBox="1"/>
          <p:nvPr/>
        </p:nvSpPr>
        <p:spPr>
          <a:xfrm>
            <a:off x="594360" y="1938528"/>
            <a:ext cx="10972800" cy="5029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Utilizator vizat: specialistul în mobilitate</a:t>
            </a:r>
          </a:p>
        </p:txBody>
      </p:sp>
      <p:sp>
        <p:nvSpPr>
          <p:cNvPr id="7" name="Text: Reconfigurarea unei străzi cere o comparaț"/>
          <p:cNvSpPr txBox="1"/>
          <p:nvPr/>
        </p:nvSpPr>
        <p:spPr>
          <a:xfrm>
            <a:off x="594360" y="2578608"/>
            <a:ext cx="10972800" cy="50292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Reconfigurarea unei străzi cere o comparație explicabilă.</a:t>
            </a:r>
          </a:p>
        </p:txBody>
      </p:sp>
      <p:grpSp>
        <p:nvGrpSpPr>
          <p:cNvPr id="10" name="reveal:s02_intervention"/>
          <p:cNvGrpSpPr/>
          <p:nvPr/>
        </p:nvGrpSpPr>
        <p:grpSpPr>
          <a:xfrm>
            <a:off x="4462272" y="3337560"/>
            <a:ext cx="3264408" cy="804672"/>
            <a:chOff x="4462272" y="3337560"/>
            <a:chExt cx="3264408" cy="804672"/>
          </a:xfrm>
        </p:grpSpPr>
        <p:sp>
          <p:nvSpPr>
            <p:cNvPr id="8" name="Rectangle 7"/>
            <p:cNvSpPr/>
            <p:nvPr/>
          </p:nvSpPr>
          <p:spPr>
            <a:xfrm>
              <a:off x="4462272" y="3337560"/>
              <a:ext cx="3264408" cy="804672"/>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Intervenție"/>
            <p:cNvSpPr txBox="1"/>
            <p:nvPr/>
          </p:nvSpPr>
          <p:spPr>
            <a:xfrm>
              <a:off x="4645152" y="3502152"/>
              <a:ext cx="2898648"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Intervenție</a:t>
              </a:r>
            </a:p>
          </p:txBody>
        </p:sp>
      </p:grpSp>
      <p:grpSp>
        <p:nvGrpSpPr>
          <p:cNvPr id="15" name="reveal:s02_category_1"/>
          <p:cNvGrpSpPr/>
          <p:nvPr/>
        </p:nvGrpSpPr>
        <p:grpSpPr>
          <a:xfrm>
            <a:off x="594360" y="4142232"/>
            <a:ext cx="5500116" cy="1280160"/>
            <a:chOff x="594360" y="4142232"/>
            <a:chExt cx="5500116" cy="1280160"/>
          </a:xfrm>
        </p:grpSpPr>
        <p:cxnSp>
          <p:nvCxnSpPr>
            <p:cNvPr id="11" name="Connector 1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801368"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01368"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4" name="Text: Transport public"/>
            <p:cNvSpPr txBox="1"/>
            <p:nvPr/>
          </p:nvSpPr>
          <p:spPr>
            <a:xfrm>
              <a:off x="594360"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Transport public</a:t>
              </a:r>
            </a:p>
          </p:txBody>
        </p:sp>
      </p:grpSp>
      <p:grpSp>
        <p:nvGrpSpPr>
          <p:cNvPr id="20" name="reveal:s02_category_2"/>
          <p:cNvGrpSpPr/>
          <p:nvPr/>
        </p:nvGrpSpPr>
        <p:grpSpPr>
          <a:xfrm>
            <a:off x="3456432" y="4142232"/>
            <a:ext cx="2638044" cy="1280160"/>
            <a:chOff x="3456432" y="4142232"/>
            <a:chExt cx="2638044" cy="1280160"/>
          </a:xfrm>
        </p:grpSpPr>
        <p:cxnSp>
          <p:nvCxnSpPr>
            <p:cNvPr id="16" name="Connector 1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663440"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9" name="Text: Pietoni"/>
            <p:cNvSpPr txBox="1"/>
            <p:nvPr/>
          </p:nvSpPr>
          <p:spPr>
            <a:xfrm>
              <a:off x="3456432"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Pietoni</a:t>
              </a:r>
            </a:p>
          </p:txBody>
        </p:sp>
      </p:grpSp>
      <p:grpSp>
        <p:nvGrpSpPr>
          <p:cNvPr id="25" name="reveal:s02_category_3"/>
          <p:cNvGrpSpPr/>
          <p:nvPr/>
        </p:nvGrpSpPr>
        <p:grpSpPr>
          <a:xfrm>
            <a:off x="6094476" y="4142232"/>
            <a:ext cx="2638044" cy="1280160"/>
            <a:chOff x="6094476" y="4142232"/>
            <a:chExt cx="2638044" cy="1280160"/>
          </a:xfrm>
        </p:grpSpPr>
        <p:cxnSp>
          <p:nvCxnSpPr>
            <p:cNvPr id="21" name="Connector 2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4476"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25512"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4" name="Text: Biciclete"/>
            <p:cNvSpPr txBox="1"/>
            <p:nvPr/>
          </p:nvSpPr>
          <p:spPr>
            <a:xfrm>
              <a:off x="6318504"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Biciclete</a:t>
              </a:r>
            </a:p>
          </p:txBody>
        </p:sp>
      </p:grpSp>
      <p:grpSp>
        <p:nvGrpSpPr>
          <p:cNvPr id="30" name="reveal:s02_category_4"/>
          <p:cNvGrpSpPr/>
          <p:nvPr/>
        </p:nvGrpSpPr>
        <p:grpSpPr>
          <a:xfrm>
            <a:off x="6094476" y="4142232"/>
            <a:ext cx="5500116" cy="1280160"/>
            <a:chOff x="6094476" y="4142232"/>
            <a:chExt cx="5500116" cy="1280160"/>
          </a:xfrm>
        </p:grpSpPr>
        <p:cxnSp>
          <p:nvCxnSpPr>
            <p:cNvPr id="26" name="Connector 2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4476"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87584"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9" name="Text: Trafic auto"/>
            <p:cNvSpPr txBox="1"/>
            <p:nvPr/>
          </p:nvSpPr>
          <p:spPr>
            <a:xfrm>
              <a:off x="9180576"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Trafic auto</a:t>
              </a:r>
            </a:p>
          </p:txBody>
        </p:sp>
      </p:grpSp>
      <p:sp>
        <p:nvSpPr>
          <p:cNvPr id="31" name="Text: Ce se schimbă? Pe ce date ne bazăm?"/>
          <p:cNvSpPr txBox="1"/>
          <p:nvPr/>
        </p:nvSpPr>
        <p:spPr>
          <a:xfrm>
            <a:off x="594360" y="5641848"/>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Ce se schimbă? Pe ce date ne bazăm?</a:t>
            </a:r>
          </a:p>
        </p:txBody>
      </p:sp>
      <p:sp>
        <p:nvSpPr>
          <p:cNvPr id="32" name="Text: Nevoie propusă; interviurile cu utilizator"/>
          <p:cNvSpPr txBox="1"/>
          <p:nvPr/>
        </p:nvSpPr>
        <p:spPr>
          <a:xfrm>
            <a:off x="594360" y="6144768"/>
            <a:ext cx="10972800" cy="274320"/>
          </a:xfrm>
          <a:prstGeom prst="rect">
            <a:avLst/>
          </a:prstGeom>
          <a:noFill/>
          <a:effectLst/>
        </p:spPr>
        <p:txBody>
          <a:bodyPr wrap="square" lIns="0" tIns="0" rIns="0" bIns="0" anchor="t">
            <a:spAutoFit/>
          </a:bodyPr>
          <a:lstStyle/>
          <a:p>
            <a:pPr>
              <a:lnSpc>
                <a:spcPct val="106000"/>
              </a:lnSpc>
              <a:spcAft>
                <a:spcPts val="700"/>
              </a:spcAft>
            </a:pPr>
            <a:r>
              <a:rPr sz="1400" b="0">
                <a:solidFill>
                  <a:srgbClr val="486476"/>
                </a:solidFill>
                <a:latin typeface="Calibri"/>
              </a:rPr>
              <a:t>Nevoie propusă; interviurile cu utilizatori urmează.</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par>
                          <p:cTn id="13" fill="hold">
                            <p:stCondLst>
                              <p:cond delay="400"/>
                            </p:stCondLst>
                            <p:childTnLst>
                              <p:par>
                                <p:cTn id="14" presetID="10" presetClass="entr" presetSubtype="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400"/>
                                        <p:tgtEl>
                                          <p:spTgt spid="25"/>
                                        </p:tgtEl>
                                      </p:cBhvr>
                                    </p:animEffect>
                                  </p:childTnLst>
                                </p:cTn>
                              </p:par>
                            </p:childTnLst>
                          </p:cTn>
                        </p:par>
                        <p:par>
                          <p:cTn id="22" fill="hold">
                            <p:stCondLst>
                              <p:cond delay="400"/>
                            </p:stCondLst>
                            <p:childTnLst>
                              <p:par>
                                <p:cTn id="23" presetID="10" presetClass="entr" presetSubtype="0"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ALTERNATIV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ALTERNATIVE</a:t>
            </a:r>
          </a:p>
        </p:txBody>
      </p:sp>
      <p:sp>
        <p:nvSpPr>
          <p:cNvPr id="3" name="Text: 0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03</a:t>
            </a:r>
          </a:p>
        </p:txBody>
      </p:sp>
      <p:sp>
        <p:nvSpPr>
          <p:cNvPr id="4" name="Text: Instrumentele există"/>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Instrumentele există</a:t>
            </a:r>
          </a:p>
        </p:txBody>
      </p:sp>
      <p:sp>
        <p:nvSpPr>
          <p:cNvPr id="5" name="Text: Surse: qgis.org · sumo.dlr.de · Primăria 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Surse: qgis.org · sumo.dlr.de · Primăria Iași; consultate 2026</a:t>
            </a:r>
          </a:p>
        </p:txBody>
      </p:sp>
      <p:grpSp>
        <p:nvGrpSpPr>
          <p:cNvPr id="7" name="reveal:s03_row_1"/>
          <p:cNvGrpSpPr/>
          <p:nvPr/>
        </p:nvGrpSpPr>
        <p:grpSpPr>
          <a:xfrm>
            <a:off x="594360" y="1993392"/>
            <a:ext cx="11000231" cy="777240"/>
            <a:chOff x="594360" y="1993392"/>
            <a:chExt cx="11000231" cy="777240"/>
          </a:xfrm>
        </p:grpSpPr>
        <p:graphicFrame>
          <p:nvGraphicFramePr>
            <p:cNvPr id="6" name="Table 5"/>
            <p:cNvGraphicFramePr>
              <a:graphicFrameLocks noGrp="1"/>
            </p:cNvGraphicFramePr>
            <p:nvPr/>
          </p:nvGraphicFramePr>
          <p:xfrm>
            <a:off x="594360" y="1993392"/>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QGIS</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Date și analiză geografică</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9" name="reveal:s03_row_2"/>
          <p:cNvGrpSpPr/>
          <p:nvPr/>
        </p:nvGrpSpPr>
        <p:grpSpPr>
          <a:xfrm>
            <a:off x="594360" y="2852928"/>
            <a:ext cx="11000231" cy="777240"/>
            <a:chOff x="594360" y="2852928"/>
            <a:chExt cx="11000231" cy="777240"/>
          </a:xfrm>
        </p:grpSpPr>
        <p:graphicFrame>
          <p:nvGraphicFramePr>
            <p:cNvPr id="8" name="Table 7"/>
            <p:cNvGraphicFramePr>
              <a:graphicFrameLocks noGrp="1"/>
            </p:cNvGraphicFramePr>
            <p:nvPr/>
          </p:nvGraphicFramePr>
          <p:xfrm>
            <a:off x="594360" y="2852928"/>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SUMO</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Simulare microscopică de trafic</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1" name="reveal:s03_row_3"/>
          <p:cNvGrpSpPr/>
          <p:nvPr/>
        </p:nvGrpSpPr>
        <p:grpSpPr>
          <a:xfrm>
            <a:off x="594360" y="3712464"/>
            <a:ext cx="11000231" cy="777240"/>
            <a:chOff x="594360" y="3712464"/>
            <a:chExt cx="11000231" cy="777240"/>
          </a:xfrm>
        </p:grpSpPr>
        <p:graphicFrame>
          <p:nvGraphicFramePr>
            <p:cNvPr id="10" name="Table 9"/>
            <p:cNvGraphicFramePr>
              <a:graphicFrameLocks noGrp="1"/>
            </p:cNvGraphicFramePr>
            <p:nvPr/>
          </p:nvGraphicFramePr>
          <p:xfrm>
            <a:off x="594360" y="3712464"/>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PMUD Iași</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Context de planificare locală</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4" name="reveal:s03_value"/>
          <p:cNvGrpSpPr/>
          <p:nvPr/>
        </p:nvGrpSpPr>
        <p:grpSpPr>
          <a:xfrm>
            <a:off x="594360" y="4892040"/>
            <a:ext cx="10972800" cy="1042416"/>
            <a:chOff x="594360" y="4892040"/>
            <a:chExt cx="10972800" cy="1042416"/>
          </a:xfrm>
        </p:grpSpPr>
        <p:sp>
          <p:nvSpPr>
            <p:cNvPr id="12" name="Text: ARTERIA propune un parcurs comun:"/>
            <p:cNvSpPr txBox="1"/>
            <p:nvPr/>
          </p:nvSpPr>
          <p:spPr>
            <a:xfrm>
              <a:off x="594360" y="4892040"/>
              <a:ext cx="10972800" cy="45720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ARTERIA propune un parcurs comun:</a:t>
              </a:r>
            </a:p>
          </p:txBody>
        </p:sp>
        <p:sp>
          <p:nvSpPr>
            <p:cNvPr id="13" name="Text: zonă → alternative → comparație"/>
            <p:cNvSpPr txBox="1"/>
            <p:nvPr/>
          </p:nvSpPr>
          <p:spPr>
            <a:xfrm>
              <a:off x="594360" y="5477256"/>
              <a:ext cx="10972800" cy="45720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zonă → alternative → comparație</a:t>
              </a:r>
            </a:p>
          </p:txBody>
        </p:sp>
      </p:grpSp>
      <p:sp>
        <p:nvSpPr>
          <p:cNvPr id="15" name="Text: Avantajul de utilizare trebuie validat cu "/>
          <p:cNvSpPr txBox="1"/>
          <p:nvPr/>
        </p:nvSpPr>
        <p:spPr>
          <a:xfrm>
            <a:off x="594360" y="6053328"/>
            <a:ext cx="10972800" cy="320040"/>
          </a:xfrm>
          <a:prstGeom prst="rect">
            <a:avLst/>
          </a:prstGeom>
          <a:noFill/>
          <a:effectLst/>
        </p:spPr>
        <p:txBody>
          <a:bodyPr wrap="square" lIns="0" tIns="0" rIns="0" bIns="0" anchor="t">
            <a:spAutoFit/>
          </a:bodyPr>
          <a:lstStyle/>
          <a:p>
            <a:pPr>
              <a:lnSpc>
                <a:spcPct val="106000"/>
              </a:lnSpc>
              <a:spcAft>
                <a:spcPts val="700"/>
              </a:spcAft>
            </a:pPr>
            <a:r>
              <a:rPr sz="1600" b="0">
                <a:solidFill>
                  <a:srgbClr val="486476"/>
                </a:solidFill>
                <a:latin typeface="Calibri"/>
              </a:rPr>
              <a:t>Avantajul de utilizare trebuie validat cu specialiști.</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B / SOLUȚI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B / SOLUȚIA</a:t>
            </a:r>
          </a:p>
        </p:txBody>
      </p:sp>
      <p:sp>
        <p:nvSpPr>
          <p:cNvPr id="3" name="Text: 04"/>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04</a:t>
            </a:r>
          </a:p>
        </p:txBody>
      </p:sp>
      <p:sp>
        <p:nvSpPr>
          <p:cNvPr id="4" name="Text: Parcursul unei comparați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Parcursul unei comparații</a:t>
            </a:r>
          </a:p>
        </p:txBody>
      </p:sp>
      <p:grpSp>
        <p:nvGrpSpPr>
          <p:cNvPr id="7" name="reveal:s04_stage_1"/>
          <p:cNvGrpSpPr/>
          <p:nvPr/>
        </p:nvGrpSpPr>
        <p:grpSpPr>
          <a:xfrm>
            <a:off x="594360" y="2423160"/>
            <a:ext cx="3291840" cy="2121408"/>
            <a:chOff x="594360" y="2423160"/>
            <a:chExt cx="3291840" cy="2121408"/>
          </a:xfrm>
        </p:grpSpPr>
        <p:sp>
          <p:nvSpPr>
            <p:cNvPr id="5" name="Text: 01"/>
            <p:cNvSpPr txBox="1"/>
            <p:nvPr/>
          </p:nvSpPr>
          <p:spPr>
            <a:xfrm>
              <a:off x="594360"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01</a:t>
              </a:r>
            </a:p>
          </p:txBody>
        </p:sp>
        <p:sp>
          <p:nvSpPr>
            <p:cNvPr id="6" name="Text: Alege zona"/>
            <p:cNvSpPr txBox="1"/>
            <p:nvPr/>
          </p:nvSpPr>
          <p:spPr>
            <a:xfrm>
              <a:off x="594360"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Alege zona</a:t>
              </a:r>
            </a:p>
          </p:txBody>
        </p:sp>
      </p:grpSp>
      <p:grpSp>
        <p:nvGrpSpPr>
          <p:cNvPr id="9" name="reveal:s04_link_1"/>
          <p:cNvGrpSpPr/>
          <p:nvPr/>
        </p:nvGrpSpPr>
        <p:grpSpPr>
          <a:xfrm>
            <a:off x="3474720" y="2862072"/>
            <a:ext cx="594360" cy="0"/>
            <a:chOff x="3474720" y="2862072"/>
            <a:chExt cx="594360" cy="0"/>
          </a:xfrm>
        </p:grpSpPr>
        <p:cxnSp>
          <p:nvCxnSpPr>
            <p:cNvPr id="8" name="Connector 7"/>
            <p:cNvCxnSpPr/>
            <p:nvPr/>
          </p:nvCxnSpPr>
          <p:spPr>
            <a:xfrm>
              <a:off x="3474720" y="2862072"/>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2" name="reveal:s04_stage_2"/>
          <p:cNvGrpSpPr/>
          <p:nvPr/>
        </p:nvGrpSpPr>
        <p:grpSpPr>
          <a:xfrm>
            <a:off x="4416552" y="2423160"/>
            <a:ext cx="3291840" cy="2121408"/>
            <a:chOff x="4416552" y="2423160"/>
            <a:chExt cx="3291840" cy="2121408"/>
          </a:xfrm>
        </p:grpSpPr>
        <p:sp>
          <p:nvSpPr>
            <p:cNvPr id="10" name="Text: 02"/>
            <p:cNvSpPr txBox="1"/>
            <p:nvPr/>
          </p:nvSpPr>
          <p:spPr>
            <a:xfrm>
              <a:off x="4416552"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02</a:t>
              </a:r>
            </a:p>
          </p:txBody>
        </p:sp>
        <p:sp>
          <p:nvSpPr>
            <p:cNvPr id="11" name="Text: Examinează&#10;alternativele"/>
            <p:cNvSpPr txBox="1"/>
            <p:nvPr/>
          </p:nvSpPr>
          <p:spPr>
            <a:xfrm>
              <a:off x="4416552"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Examinează</a:t>
              </a:r>
            </a:p>
            <a:p>
              <a:pPr>
                <a:lnSpc>
                  <a:spcPct val="106000"/>
                </a:lnSpc>
                <a:spcAft>
                  <a:spcPts val="700"/>
                </a:spcAft>
              </a:pPr>
              <a:r>
                <a:rPr sz="2700" b="1">
                  <a:solidFill>
                    <a:srgbClr val="EDF2F6"/>
                  </a:solidFill>
                  <a:latin typeface="Calibri"/>
                </a:rPr>
                <a:t>alternativele</a:t>
              </a:r>
            </a:p>
          </p:txBody>
        </p:sp>
      </p:grpSp>
      <p:grpSp>
        <p:nvGrpSpPr>
          <p:cNvPr id="14" name="reveal:s04_link_2"/>
          <p:cNvGrpSpPr/>
          <p:nvPr/>
        </p:nvGrpSpPr>
        <p:grpSpPr>
          <a:xfrm>
            <a:off x="7296912" y="2862072"/>
            <a:ext cx="594359" cy="0"/>
            <a:chOff x="7296912" y="2862072"/>
            <a:chExt cx="594359" cy="0"/>
          </a:xfrm>
        </p:grpSpPr>
        <p:cxnSp>
          <p:nvCxnSpPr>
            <p:cNvPr id="13" name="Connector 12"/>
            <p:cNvCxnSpPr/>
            <p:nvPr/>
          </p:nvCxnSpPr>
          <p:spPr>
            <a:xfrm>
              <a:off x="7296912" y="2862072"/>
              <a:ext cx="594359"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7" name="reveal:s04_stage_3"/>
          <p:cNvGrpSpPr/>
          <p:nvPr/>
        </p:nvGrpSpPr>
        <p:grpSpPr>
          <a:xfrm>
            <a:off x="8238744" y="2423160"/>
            <a:ext cx="3291840" cy="2121408"/>
            <a:chOff x="8238744" y="2423160"/>
            <a:chExt cx="3291840" cy="2121408"/>
          </a:xfrm>
        </p:grpSpPr>
        <p:sp>
          <p:nvSpPr>
            <p:cNvPr id="15" name="Text: 03"/>
            <p:cNvSpPr txBox="1"/>
            <p:nvPr/>
          </p:nvSpPr>
          <p:spPr>
            <a:xfrm>
              <a:off x="8238744"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03</a:t>
              </a:r>
            </a:p>
          </p:txBody>
        </p:sp>
        <p:sp>
          <p:nvSpPr>
            <p:cNvPr id="16" name="Text: Compară&#10;scenariul"/>
            <p:cNvSpPr txBox="1"/>
            <p:nvPr/>
          </p:nvSpPr>
          <p:spPr>
            <a:xfrm>
              <a:off x="8238744"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Compară</a:t>
              </a:r>
            </a:p>
            <a:p>
              <a:pPr>
                <a:lnSpc>
                  <a:spcPct val="106000"/>
                </a:lnSpc>
                <a:spcAft>
                  <a:spcPts val="700"/>
                </a:spcAft>
              </a:pPr>
              <a:r>
                <a:rPr sz="2700" b="1">
                  <a:solidFill>
                    <a:srgbClr val="EDF2F6"/>
                  </a:solidFill>
                  <a:latin typeface="Calibri"/>
                </a:rPr>
                <a:t>scenariul</a:t>
              </a:r>
            </a:p>
          </p:txBody>
        </p:sp>
      </p:grpSp>
      <p:sp>
        <p:nvSpPr>
          <p:cNvPr id="18" name="Text: Astăzi: API conectat și studii pe graf pie"/>
          <p:cNvSpPr txBox="1"/>
          <p:nvPr/>
        </p:nvSpPr>
        <p:spPr>
          <a:xfrm>
            <a:off x="594360" y="506577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FC47C"/>
                </a:solidFill>
                <a:latin typeface="Calibri"/>
              </a:rPr>
              <a:t>Astăzi: API conectat și studii pe graf pietonal</a:t>
            </a:r>
          </a:p>
        </p:txBody>
      </p:sp>
      <p:sp>
        <p:nvSpPr>
          <p:cNvPr id="19" name="Text: Urmează: calibrare și validare cu un speci"/>
          <p:cNvSpPr txBox="1"/>
          <p:nvPr/>
        </p:nvSpPr>
        <p:spPr>
          <a:xfrm>
            <a:off x="594360" y="570585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Urmează: calibrare și validare cu un specialist</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3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par>
                          <p:cTn id="17" fill="hold">
                            <p:stCondLst>
                              <p:cond delay="400"/>
                            </p:stCondLst>
                            <p:childTnLst>
                              <p:par>
                                <p:cTn id="18" presetID="22" presetClass="entr" presetSubtype="8"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3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DEMO"/>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DEMO</a:t>
            </a:r>
          </a:p>
        </p:txBody>
      </p:sp>
      <p:sp>
        <p:nvSpPr>
          <p:cNvPr id="3" name="Text: 05"/>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05</a:t>
            </a:r>
          </a:p>
        </p:txBody>
      </p:sp>
      <p:sp>
        <p:nvSpPr>
          <p:cNvPr id="4" name="Text: Podu Roș, în prototip"/>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Podu Roș, în prototip</a:t>
            </a:r>
          </a:p>
        </p:txBody>
      </p:sp>
      <p:sp>
        <p:nvSpPr>
          <p:cNvPr id="6" name="Text: DEMO: API conectat&#10;date sintetice"/>
          <p:cNvSpPr txBox="1"/>
          <p:nvPr/>
        </p:nvSpPr>
        <p:spPr>
          <a:xfrm>
            <a:off x="594360" y="4754880"/>
            <a:ext cx="3749039" cy="868680"/>
          </a:xfrm>
          <a:prstGeom prst="rect">
            <a:avLst/>
          </a:prstGeom>
          <a:noFill/>
          <a:effectLst/>
        </p:spPr>
        <p:txBody>
          <a:bodyPr wrap="square" lIns="0" tIns="0" rIns="0" bIns="0" anchor="t">
            <a:spAutoFit/>
          </a:bodyPr>
          <a:lstStyle/>
          <a:p>
            <a:pPr>
              <a:lnSpc>
                <a:spcPct val="106000"/>
              </a:lnSpc>
              <a:spcAft>
                <a:spcPts val="700"/>
              </a:spcAft>
            </a:pPr>
            <a:r>
              <a:rPr sz="2200" b="1">
                <a:solidFill>
                  <a:srgbClr val="EFC47C"/>
                </a:solidFill>
                <a:latin typeface="Calibri"/>
              </a:rPr>
              <a:t>DEMO: API conectat</a:t>
            </a:r>
          </a:p>
          <a:p>
            <a:pPr>
              <a:lnSpc>
                <a:spcPct val="106000"/>
              </a:lnSpc>
              <a:spcAft>
                <a:spcPts val="700"/>
              </a:spcAft>
            </a:pPr>
            <a:r>
              <a:rPr sz="2200" b="1">
                <a:solidFill>
                  <a:srgbClr val="EFC47C"/>
                </a:solidFill>
                <a:latin typeface="Calibri"/>
              </a:rPr>
              <a:t>date sintetice</a:t>
            </a:r>
          </a:p>
        </p:txBody>
      </p:sp>
      <p:sp>
        <p:nvSpPr>
          <p:cNvPr id="7" name="Text: Semaforizare estimată&#10;Fără SUMO din interf"/>
          <p:cNvSpPr txBox="1"/>
          <p:nvPr/>
        </p:nvSpPr>
        <p:spPr>
          <a:xfrm>
            <a:off x="594360" y="5705856"/>
            <a:ext cx="3749039" cy="594360"/>
          </a:xfrm>
          <a:prstGeom prst="rect">
            <a:avLst/>
          </a:prstGeom>
          <a:noFill/>
          <a:effectLst/>
        </p:spPr>
        <p:txBody>
          <a:bodyPr wrap="square" lIns="0" tIns="0" rIns="0" bIns="0" anchor="t">
            <a:spAutoFit/>
          </a:bodyPr>
          <a:lstStyle/>
          <a:p>
            <a:pPr>
              <a:lnSpc>
                <a:spcPct val="106000"/>
              </a:lnSpc>
              <a:spcAft>
                <a:spcPts val="700"/>
              </a:spcAft>
            </a:pPr>
            <a:r>
              <a:rPr sz="1600" b="0">
                <a:solidFill>
                  <a:srgbClr val="EDF2F6"/>
                </a:solidFill>
                <a:latin typeface="Calibri"/>
              </a:rPr>
              <a:t>Semaforizare estimată</a:t>
            </a:r>
          </a:p>
          <a:p>
            <a:pPr>
              <a:lnSpc>
                <a:spcPct val="106000"/>
              </a:lnSpc>
              <a:spcAft>
                <a:spcPts val="700"/>
              </a:spcAft>
            </a:pPr>
            <a:r>
              <a:rPr sz="1600" b="0">
                <a:solidFill>
                  <a:srgbClr val="EDF2F6"/>
                </a:solidFill>
                <a:latin typeface="Calibri"/>
              </a:rPr>
              <a:t>Fără SUMO din interfață</a:t>
            </a:r>
          </a:p>
        </p:txBody>
      </p:sp>
      <p:sp>
        <p:nvSpPr>
          <p:cNvPr id="9" name="Text: Demo local: localhost:3001/app · Captură d"/>
          <p:cNvSpPr txBox="1"/>
          <p:nvPr/>
        </p:nvSpPr>
        <p:spPr>
          <a:xfrm>
            <a:off x="4617720" y="6227064"/>
            <a:ext cx="6967728" cy="320040"/>
          </a:xfrm>
          <a:prstGeom prst="rect">
            <a:avLst/>
          </a:prstGeom>
          <a:noFill/>
          <a:effectLst/>
        </p:spPr>
        <p:txBody>
          <a:bodyPr wrap="square" lIns="0" tIns="0" rIns="0" bIns="0" anchor="t">
            <a:spAutoFit/>
          </a:bodyPr>
          <a:lstStyle/>
          <a:p>
            <a:pPr>
              <a:lnSpc>
                <a:spcPct val="106000"/>
              </a:lnSpc>
              <a:spcAft>
                <a:spcPts val="700"/>
              </a:spcAft>
            </a:pPr>
            <a:r>
              <a:rPr sz="1200" b="0">
                <a:solidFill>
                  <a:srgbClr val="A8BAC9"/>
                </a:solidFill>
                <a:latin typeface="Calibri"/>
              </a:rPr>
              <a:t>Demo local: localhost:3001/app · Captură din aplicația existentă</a:t>
            </a:r>
          </a:p>
        </p:txBody>
      </p:sp>
      <p:grpSp>
        <p:nvGrpSpPr>
          <p:cNvPr id="5" name="reveal:s05_product"/>
          <p:cNvGrpSpPr/>
          <p:nvPr/>
        </p:nvGrpSpPr>
        <p:grpSpPr>
          <a:xfrm>
            <a:off x="5653754" y="1874519"/>
            <a:ext cx="4895659" cy="4251960"/>
            <a:chOff x="5653754" y="1874519"/>
            <a:chExt cx="4895659" cy="4251960"/>
          </a:xfrm>
        </p:grpSpPr>
        <p:pic>
          <p:nvPicPr>
            <p:cNvPr id="8" name="Picture 7" descr="connected-comparison.png"/>
            <p:cNvPicPr>
              <a:picLocks noChangeAspect="1"/>
            </p:cNvPicPr>
            <p:nvPr/>
          </p:nvPicPr>
          <p:blipFill>
            <a:blip r:embed="rId3"/>
            <a:stretch>
              <a:fillRect/>
            </a:stretch>
          </p:blipFill>
          <p:spPr>
            <a:xfrm>
              <a:off x="5653754" y="1874519"/>
              <a:ext cx="4895659" cy="4251960"/>
            </a:xfrm>
            <a:prstGeom prst="rect">
              <a:avLst/>
            </a:prstGeom>
            <a:effectLst/>
          </p:spPr>
        </p:pic>
      </p:grpSp>
      <p:grpSp>
        <p:nvGrpSpPr>
          <p:cNvPr id="12" name="reveal:s05_step_1"/>
          <p:cNvGrpSpPr/>
          <p:nvPr/>
        </p:nvGrpSpPr>
        <p:grpSpPr>
          <a:xfrm>
            <a:off x="594360" y="2048256"/>
            <a:ext cx="3703320" cy="594360"/>
            <a:chOff x="594360" y="2048256"/>
            <a:chExt cx="3703320" cy="594360"/>
          </a:xfrm>
        </p:grpSpPr>
        <p:sp>
          <p:nvSpPr>
            <p:cNvPr id="10" name="Text: 01"/>
            <p:cNvSpPr txBox="1"/>
            <p:nvPr/>
          </p:nvSpPr>
          <p:spPr>
            <a:xfrm>
              <a:off x="594360" y="2075688"/>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01</a:t>
              </a:r>
            </a:p>
          </p:txBody>
        </p:sp>
        <p:sp>
          <p:nvSpPr>
            <p:cNvPr id="11" name="Text: Selectează reperul"/>
            <p:cNvSpPr txBox="1"/>
            <p:nvPr/>
          </p:nvSpPr>
          <p:spPr>
            <a:xfrm>
              <a:off x="1143000" y="2048256"/>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Selectează reperul</a:t>
              </a:r>
            </a:p>
          </p:txBody>
        </p:sp>
      </p:grpSp>
      <p:grpSp>
        <p:nvGrpSpPr>
          <p:cNvPr id="15" name="reveal:s05_step_2"/>
          <p:cNvGrpSpPr/>
          <p:nvPr/>
        </p:nvGrpSpPr>
        <p:grpSpPr>
          <a:xfrm>
            <a:off x="594360" y="2852928"/>
            <a:ext cx="3703320" cy="594360"/>
            <a:chOff x="594360" y="2852928"/>
            <a:chExt cx="3703320" cy="594360"/>
          </a:xfrm>
        </p:grpSpPr>
        <p:sp>
          <p:nvSpPr>
            <p:cNvPr id="13" name="Text: 02"/>
            <p:cNvSpPr txBox="1"/>
            <p:nvPr/>
          </p:nvSpPr>
          <p:spPr>
            <a:xfrm>
              <a:off x="594360" y="2880360"/>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02</a:t>
              </a:r>
            </a:p>
          </p:txBody>
        </p:sp>
        <p:sp>
          <p:nvSpPr>
            <p:cNvPr id="14" name="Text: Alege o alternativă"/>
            <p:cNvSpPr txBox="1"/>
            <p:nvPr/>
          </p:nvSpPr>
          <p:spPr>
            <a:xfrm>
              <a:off x="1143000" y="2852928"/>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Alege o alternativă</a:t>
              </a:r>
            </a:p>
          </p:txBody>
        </p:sp>
      </p:grpSp>
      <p:grpSp>
        <p:nvGrpSpPr>
          <p:cNvPr id="18" name="reveal:s05_step_3"/>
          <p:cNvGrpSpPr/>
          <p:nvPr/>
        </p:nvGrpSpPr>
        <p:grpSpPr>
          <a:xfrm>
            <a:off x="594360" y="3657600"/>
            <a:ext cx="3703320" cy="594360"/>
            <a:chOff x="594360" y="3657600"/>
            <a:chExt cx="3703320" cy="594360"/>
          </a:xfrm>
        </p:grpSpPr>
        <p:sp>
          <p:nvSpPr>
            <p:cNvPr id="16" name="Text: 03"/>
            <p:cNvSpPr txBox="1"/>
            <p:nvPr/>
          </p:nvSpPr>
          <p:spPr>
            <a:xfrm>
              <a:off x="594360" y="3685032"/>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03</a:t>
              </a:r>
            </a:p>
          </p:txBody>
        </p:sp>
        <p:sp>
          <p:nvSpPr>
            <p:cNvPr id="17" name="Text: Deschide comparația"/>
            <p:cNvSpPr txBox="1"/>
            <p:nvPr/>
          </p:nvSpPr>
          <p:spPr>
            <a:xfrm>
              <a:off x="1143000" y="3657600"/>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Deschide comparația</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 / CONSTRUCȚI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B / CONSTRUCȚIE</a:t>
            </a:r>
          </a:p>
        </p:txBody>
      </p:sp>
      <p:sp>
        <p:nvSpPr>
          <p:cNvPr id="3" name="Text: 06"/>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06</a:t>
            </a:r>
          </a:p>
        </p:txBody>
      </p:sp>
      <p:sp>
        <p:nvSpPr>
          <p:cNvPr id="4" name="Text: Frontend · Backend · Sim"/>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Frontend · Backend · Sim</a:t>
            </a:r>
          </a:p>
        </p:txBody>
      </p:sp>
      <p:sp>
        <p:nvSpPr>
          <p:cNvPr id="5" name="Text: backend/main.py · backend/storage.py · sim"/>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backend/main.py · backend/storage.py · sim/ · Audit după Git sync; întrerupt = AI viitor</a:t>
            </a:r>
          </a:p>
        </p:txBody>
      </p:sp>
      <p:grpSp>
        <p:nvGrpSpPr>
          <p:cNvPr id="9" name="reveal:s06_frontend"/>
          <p:cNvGrpSpPr/>
          <p:nvPr/>
        </p:nvGrpSpPr>
        <p:grpSpPr>
          <a:xfrm>
            <a:off x="594360" y="2075688"/>
            <a:ext cx="3154680" cy="2286000"/>
            <a:chOff x="594360" y="2075688"/>
            <a:chExt cx="3154680" cy="2286000"/>
          </a:xfrm>
        </p:grpSpPr>
        <p:sp>
          <p:nvSpPr>
            <p:cNvPr id="6" name="Rectangle 5"/>
            <p:cNvSpPr/>
            <p:nvPr/>
          </p:nvSpPr>
          <p:spPr>
            <a:xfrm>
              <a:off x="594360" y="2075688"/>
              <a:ext cx="315468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Frontend"/>
            <p:cNvSpPr txBox="1"/>
            <p:nvPr/>
          </p:nvSpPr>
          <p:spPr>
            <a:xfrm>
              <a:off x="777240" y="2240280"/>
              <a:ext cx="278892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Frontend</a:t>
              </a:r>
            </a:p>
          </p:txBody>
        </p:sp>
        <p:sp>
          <p:nvSpPr>
            <p:cNvPr id="8" name="Text: Next.js / MapLibre&#10;Client API conectat"/>
            <p:cNvSpPr txBox="1"/>
            <p:nvPr/>
          </p:nvSpPr>
          <p:spPr>
            <a:xfrm>
              <a:off x="777240" y="2871216"/>
              <a:ext cx="278892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Next.js / MapLibre</a:t>
              </a:r>
            </a:p>
            <a:p>
              <a:pPr>
                <a:lnSpc>
                  <a:spcPct val="106000"/>
                </a:lnSpc>
                <a:spcAft>
                  <a:spcPts val="700"/>
                </a:spcAft>
              </a:pPr>
              <a:r>
                <a:rPr sz="2000" b="0">
                  <a:solidFill>
                    <a:srgbClr val="101820"/>
                  </a:solidFill>
                  <a:latin typeface="Calibri"/>
                </a:rPr>
                <a:t>Client API conectat</a:t>
              </a:r>
            </a:p>
          </p:txBody>
        </p:sp>
      </p:grpSp>
      <p:grpSp>
        <p:nvGrpSpPr>
          <p:cNvPr id="13" name="reveal:s06_backend"/>
          <p:cNvGrpSpPr/>
          <p:nvPr/>
        </p:nvGrpSpPr>
        <p:grpSpPr>
          <a:xfrm>
            <a:off x="4206240" y="2075688"/>
            <a:ext cx="3794760" cy="2286000"/>
            <a:chOff x="4206240" y="2075688"/>
            <a:chExt cx="3794760" cy="2286000"/>
          </a:xfrm>
        </p:grpSpPr>
        <p:sp>
          <p:nvSpPr>
            <p:cNvPr id="10" name="Rectangle 9"/>
            <p:cNvSpPr/>
            <p:nvPr/>
          </p:nvSpPr>
          <p:spPr>
            <a:xfrm>
              <a:off x="4206240" y="2075688"/>
              <a:ext cx="379476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Backend"/>
            <p:cNvSpPr txBox="1"/>
            <p:nvPr/>
          </p:nvSpPr>
          <p:spPr>
            <a:xfrm>
              <a:off x="4389120" y="2240280"/>
              <a:ext cx="3429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Backend</a:t>
              </a:r>
            </a:p>
          </p:txBody>
        </p:sp>
        <p:sp>
          <p:nvSpPr>
            <p:cNvPr id="12" name="Text: FastAPI / Pydantic&#10;SQLite · API evaluare&#10;S"/>
            <p:cNvSpPr txBox="1"/>
            <p:nvPr/>
          </p:nvSpPr>
          <p:spPr>
            <a:xfrm>
              <a:off x="4389120" y="2871216"/>
              <a:ext cx="342900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FastAPI / Pydantic</a:t>
              </a:r>
            </a:p>
            <a:p>
              <a:pPr>
                <a:lnSpc>
                  <a:spcPct val="106000"/>
                </a:lnSpc>
                <a:spcAft>
                  <a:spcPts val="700"/>
                </a:spcAft>
              </a:pPr>
              <a:r>
                <a:rPr sz="2000" b="0">
                  <a:solidFill>
                    <a:srgbClr val="101820"/>
                  </a:solidFill>
                  <a:latin typeface="Calibri"/>
                </a:rPr>
                <a:t>SQLite · API evaluare</a:t>
              </a:r>
            </a:p>
            <a:p>
              <a:pPr>
                <a:lnSpc>
                  <a:spcPct val="106000"/>
                </a:lnSpc>
                <a:spcAft>
                  <a:spcPts val="700"/>
                </a:spcAft>
              </a:pPr>
              <a:r>
                <a:rPr sz="2000" b="0">
                  <a:solidFill>
                    <a:srgbClr val="101820"/>
                  </a:solidFill>
                  <a:latin typeface="Calibri"/>
                </a:rPr>
                <a:t>Studii spațiale</a:t>
              </a:r>
            </a:p>
          </p:txBody>
        </p:sp>
      </p:grpSp>
      <p:grpSp>
        <p:nvGrpSpPr>
          <p:cNvPr id="15" name="reveal:s06_link_backend"/>
          <p:cNvGrpSpPr/>
          <p:nvPr/>
        </p:nvGrpSpPr>
        <p:grpSpPr>
          <a:xfrm>
            <a:off x="3749039" y="3182112"/>
            <a:ext cx="457201" cy="0"/>
            <a:chOff x="3749039" y="3182112"/>
            <a:chExt cx="457201" cy="0"/>
          </a:xfrm>
        </p:grpSpPr>
        <p:cxnSp>
          <p:nvCxnSpPr>
            <p:cNvPr id="14" name="Connector 13"/>
            <p:cNvCxnSpPr/>
            <p:nvPr/>
          </p:nvCxnSpPr>
          <p:spPr>
            <a:xfrm>
              <a:off x="3749039" y="3182112"/>
              <a:ext cx="457201"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19" name="reveal:s06_sim"/>
          <p:cNvGrpSpPr/>
          <p:nvPr/>
        </p:nvGrpSpPr>
        <p:grpSpPr>
          <a:xfrm>
            <a:off x="8458200" y="2075688"/>
            <a:ext cx="3136392" cy="2286000"/>
            <a:chOff x="8458200" y="2075688"/>
            <a:chExt cx="3136392" cy="2286000"/>
          </a:xfrm>
        </p:grpSpPr>
        <p:sp>
          <p:nvSpPr>
            <p:cNvPr id="16" name="Rectangle 15"/>
            <p:cNvSpPr/>
            <p:nvPr/>
          </p:nvSpPr>
          <p:spPr>
            <a:xfrm>
              <a:off x="8458200" y="2075688"/>
              <a:ext cx="3136392"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Sim"/>
            <p:cNvSpPr txBox="1"/>
            <p:nvPr/>
          </p:nvSpPr>
          <p:spPr>
            <a:xfrm>
              <a:off x="8641080" y="2240280"/>
              <a:ext cx="277063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Sim</a:t>
              </a:r>
            </a:p>
          </p:txBody>
        </p:sp>
        <p:sp>
          <p:nvSpPr>
            <p:cNvPr id="18" name="Text: Graf pietonal / OSM&#10;Candidați și dovezi&#10;SU"/>
            <p:cNvSpPr txBox="1"/>
            <p:nvPr/>
          </p:nvSpPr>
          <p:spPr>
            <a:xfrm>
              <a:off x="8641080" y="2871216"/>
              <a:ext cx="2770632"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Graf pietonal / OSM</a:t>
              </a:r>
            </a:p>
            <a:p>
              <a:pPr>
                <a:lnSpc>
                  <a:spcPct val="106000"/>
                </a:lnSpc>
                <a:spcAft>
                  <a:spcPts val="700"/>
                </a:spcAft>
              </a:pPr>
              <a:r>
                <a:rPr sz="2000" b="0">
                  <a:solidFill>
                    <a:srgbClr val="101820"/>
                  </a:solidFill>
                  <a:latin typeface="Calibri"/>
                </a:rPr>
                <a:t>Candidați și dovezi</a:t>
              </a:r>
            </a:p>
            <a:p>
              <a:pPr>
                <a:lnSpc>
                  <a:spcPct val="106000"/>
                </a:lnSpc>
                <a:spcAft>
                  <a:spcPts val="700"/>
                </a:spcAft>
              </a:pPr>
              <a:r>
                <a:rPr sz="2000" b="0">
                  <a:solidFill>
                    <a:srgbClr val="101820"/>
                  </a:solidFill>
                  <a:latin typeface="Calibri"/>
                </a:rPr>
                <a:t>SUMO local opțional</a:t>
              </a:r>
            </a:p>
          </p:txBody>
        </p:sp>
      </p:grpSp>
      <p:grpSp>
        <p:nvGrpSpPr>
          <p:cNvPr id="21" name="reveal:s06_link_sim"/>
          <p:cNvGrpSpPr/>
          <p:nvPr/>
        </p:nvGrpSpPr>
        <p:grpSpPr>
          <a:xfrm>
            <a:off x="8001000" y="3182112"/>
            <a:ext cx="457200" cy="0"/>
            <a:chOff x="8001000" y="3182112"/>
            <a:chExt cx="457200" cy="0"/>
          </a:xfrm>
        </p:grpSpPr>
        <p:cxnSp>
          <p:nvCxnSpPr>
            <p:cNvPr id="20" name="Connector 19"/>
            <p:cNvCxnSpPr/>
            <p:nvPr/>
          </p:nvCxnSpPr>
          <p:spPr>
            <a:xfrm>
              <a:off x="8001000" y="3182112"/>
              <a:ext cx="457200"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sp>
        <p:nvSpPr>
          <p:cNvPr id="22" name="Text: Semaforizare sintetică; graf pietonal cone"/>
          <p:cNvSpPr txBox="1"/>
          <p:nvPr/>
        </p:nvSpPr>
        <p:spPr>
          <a:xfrm>
            <a:off x="594360" y="4535424"/>
            <a:ext cx="10972800" cy="41148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Semaforizare sintetică; graf pietonal conectat. Fără LLM cloud / SUMO în UI.</a:t>
            </a:r>
          </a:p>
        </p:txBody>
      </p:sp>
      <p:grpSp>
        <p:nvGrpSpPr>
          <p:cNvPr id="26" name="reveal:s06_ai_future"/>
          <p:cNvGrpSpPr/>
          <p:nvPr/>
        </p:nvGrpSpPr>
        <p:grpSpPr>
          <a:xfrm>
            <a:off x="1920240" y="5120640"/>
            <a:ext cx="8366760" cy="1115568"/>
            <a:chOff x="1920240" y="5120640"/>
            <a:chExt cx="8366760" cy="1115568"/>
          </a:xfrm>
        </p:grpSpPr>
        <p:sp>
          <p:nvSpPr>
            <p:cNvPr id="23" name="Rectangle 22"/>
            <p:cNvSpPr/>
            <p:nvPr/>
          </p:nvSpPr>
          <p:spPr>
            <a:xfrm>
              <a:off x="1920240" y="5120640"/>
              <a:ext cx="8366760" cy="1115568"/>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 AI planificat"/>
            <p:cNvSpPr txBox="1"/>
            <p:nvPr/>
          </p:nvSpPr>
          <p:spPr>
            <a:xfrm>
              <a:off x="2103120" y="5285231"/>
              <a:ext cx="8001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AI planificat</a:t>
              </a:r>
            </a:p>
          </p:txBody>
        </p:sp>
        <p:sp>
          <p:nvSpPr>
            <p:cNvPr id="25" name="Text: Alternative structurate; validare înainte "/>
            <p:cNvSpPr txBox="1"/>
            <p:nvPr/>
          </p:nvSpPr>
          <p:spPr>
            <a:xfrm>
              <a:off x="2103120" y="5678424"/>
              <a:ext cx="8001000" cy="384048"/>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Alternative structurate; validare înainte de evaluare</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par>
                          <p:cTn id="13" fill="hold">
                            <p:stCondLst>
                              <p:cond delay="4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3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childTnLst>
                          </p:cTn>
                        </p:par>
                        <p:par>
                          <p:cTn id="22" fill="hold">
                            <p:stCondLst>
                              <p:cond delay="400"/>
                            </p:stCondLst>
                            <p:childTnLst>
                              <p:par>
                                <p:cTn id="23" presetID="22" presetClass="entr" presetSubtype="8"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3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USINESS / CINE PLĂTEȘT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BUSINESS / CINE PLĂTEȘTE</a:t>
            </a:r>
          </a:p>
        </p:txBody>
      </p:sp>
      <p:sp>
        <p:nvSpPr>
          <p:cNvPr id="3" name="Text: 07"/>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07</a:t>
            </a:r>
          </a:p>
        </p:txBody>
      </p:sp>
      <p:sp>
        <p:nvSpPr>
          <p:cNvPr id="4" name="Text: Model economic de testat"/>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Model economic de testat</a:t>
            </a:r>
          </a:p>
        </p:txBody>
      </p:sp>
      <p:sp>
        <p:nvSpPr>
          <p:cNvPr id="5" name="Text: Sursă preț: ipoteza din pitch-ul anterior,"/>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Sursă preț: ipoteza din pitch-ul anterior, 2026</a:t>
            </a:r>
          </a:p>
        </p:txBody>
      </p:sp>
      <p:sp>
        <p:nvSpPr>
          <p:cNvPr id="8" name="Text: Ipoteză de abonament,&#10;nevalidată"/>
          <p:cNvSpPr txBox="1"/>
          <p:nvPr/>
        </p:nvSpPr>
        <p:spPr>
          <a:xfrm>
            <a:off x="621792" y="4270248"/>
            <a:ext cx="448056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Ipoteză de abonament,</a:t>
            </a:r>
          </a:p>
          <a:p>
            <a:pPr>
              <a:lnSpc>
                <a:spcPct val="106000"/>
              </a:lnSpc>
              <a:spcAft>
                <a:spcPts val="700"/>
              </a:spcAft>
            </a:pPr>
            <a:r>
              <a:rPr sz="2500" b="1">
                <a:solidFill>
                  <a:srgbClr val="101820"/>
                </a:solidFill>
                <a:latin typeface="Calibri"/>
              </a:rPr>
              <a:t>nevalidată</a:t>
            </a:r>
          </a:p>
        </p:txBody>
      </p:sp>
      <p:sp>
        <p:nvSpPr>
          <p:cNvPr id="13" name="Text: Niciun client plătitor confirmat"/>
          <p:cNvSpPr txBox="1"/>
          <p:nvPr/>
        </p:nvSpPr>
        <p:spPr>
          <a:xfrm>
            <a:off x="594360" y="594360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Niciun client plătitor confirmat</a:t>
            </a:r>
          </a:p>
        </p:txBody>
      </p:sp>
      <p:grpSp>
        <p:nvGrpSpPr>
          <p:cNvPr id="14" name="reveal:s07_customer"/>
          <p:cNvGrpSpPr/>
          <p:nvPr/>
        </p:nvGrpSpPr>
        <p:grpSpPr>
          <a:xfrm>
            <a:off x="5669280" y="2011680"/>
            <a:ext cx="5897880" cy="1435608"/>
            <a:chOff x="5669280" y="2011680"/>
            <a:chExt cx="5897880" cy="1435608"/>
          </a:xfrm>
        </p:grpSpPr>
        <p:sp>
          <p:nvSpPr>
            <p:cNvPr id="9" name="Text: Cumpărător vizat"/>
            <p:cNvSpPr txBox="1"/>
            <p:nvPr/>
          </p:nvSpPr>
          <p:spPr>
            <a:xfrm>
              <a:off x="5669280" y="2011680"/>
              <a:ext cx="5897880" cy="36576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Cumpărător vizat</a:t>
              </a:r>
            </a:p>
          </p:txBody>
        </p:sp>
        <p:sp>
          <p:nvSpPr>
            <p:cNvPr id="10" name="Text: Administrație locală /&#10;consultanță de mobi"/>
            <p:cNvSpPr txBox="1"/>
            <p:nvPr/>
          </p:nvSpPr>
          <p:spPr>
            <a:xfrm>
              <a:off x="5669280" y="2487168"/>
              <a:ext cx="589788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Administrație locală /</a:t>
              </a:r>
            </a:p>
            <a:p>
              <a:pPr>
                <a:lnSpc>
                  <a:spcPct val="106000"/>
                </a:lnSpc>
                <a:spcAft>
                  <a:spcPts val="700"/>
                </a:spcAft>
              </a:pPr>
              <a:r>
                <a:rPr sz="2500" b="1">
                  <a:solidFill>
                    <a:srgbClr val="101820"/>
                  </a:solidFill>
                  <a:latin typeface="Calibri"/>
                </a:rPr>
                <a:t>consultanță de mobilitate</a:t>
              </a:r>
            </a:p>
          </p:txBody>
        </p:sp>
      </p:grpSp>
      <p:grpSp>
        <p:nvGrpSpPr>
          <p:cNvPr id="15" name="reveal:s07_price"/>
          <p:cNvGrpSpPr/>
          <p:nvPr/>
        </p:nvGrpSpPr>
        <p:grpSpPr>
          <a:xfrm>
            <a:off x="594360" y="2423160"/>
            <a:ext cx="4754880" cy="1600200"/>
            <a:chOff x="594360" y="2423160"/>
            <a:chExt cx="4754880" cy="1600200"/>
          </a:xfrm>
        </p:grpSpPr>
        <p:sp>
          <p:nvSpPr>
            <p:cNvPr id="6" name="Text: 1.500 €"/>
            <p:cNvSpPr txBox="1"/>
            <p:nvPr/>
          </p:nvSpPr>
          <p:spPr>
            <a:xfrm>
              <a:off x="594360" y="2423160"/>
              <a:ext cx="4754880" cy="1005840"/>
            </a:xfrm>
            <a:prstGeom prst="rect">
              <a:avLst/>
            </a:prstGeom>
            <a:noFill/>
            <a:effectLst/>
          </p:spPr>
          <p:txBody>
            <a:bodyPr wrap="square" lIns="0" tIns="0" rIns="0" bIns="0" anchor="t">
              <a:spAutoFit/>
            </a:bodyPr>
            <a:lstStyle/>
            <a:p>
              <a:pPr>
                <a:lnSpc>
                  <a:spcPct val="106000"/>
                </a:lnSpc>
                <a:spcAft>
                  <a:spcPts val="700"/>
                </a:spcAft>
              </a:pPr>
              <a:r>
                <a:rPr sz="5800" b="1">
                  <a:solidFill>
                    <a:srgbClr val="101820"/>
                  </a:solidFill>
                  <a:latin typeface="Calibri"/>
                </a:rPr>
                <a:t>1.500 €</a:t>
              </a:r>
            </a:p>
          </p:txBody>
        </p:sp>
        <p:sp>
          <p:nvSpPr>
            <p:cNvPr id="7" name="Text: / lună"/>
            <p:cNvSpPr txBox="1"/>
            <p:nvPr/>
          </p:nvSpPr>
          <p:spPr>
            <a:xfrm>
              <a:off x="621792" y="3520440"/>
              <a:ext cx="4480560" cy="50292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 lună</a:t>
              </a:r>
            </a:p>
          </p:txBody>
        </p:sp>
      </p:grpSp>
      <p:grpSp>
        <p:nvGrpSpPr>
          <p:cNvPr id="16" name="reveal:s07_value"/>
          <p:cNvGrpSpPr/>
          <p:nvPr/>
        </p:nvGrpSpPr>
        <p:grpSpPr>
          <a:xfrm>
            <a:off x="5669280" y="3749039"/>
            <a:ext cx="5897880" cy="2029969"/>
            <a:chOff x="5669280" y="3749039"/>
            <a:chExt cx="5897880" cy="2029969"/>
          </a:xfrm>
        </p:grpSpPr>
        <p:sp>
          <p:nvSpPr>
            <p:cNvPr id="11" name="Text: Valoare de verificat: timpul&#10;pregătirii un"/>
            <p:cNvSpPr txBox="1"/>
            <p:nvPr/>
          </p:nvSpPr>
          <p:spPr>
            <a:xfrm>
              <a:off x="5669280" y="3749039"/>
              <a:ext cx="5897880" cy="86868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Valoare de verificat: timpul</a:t>
              </a:r>
            </a:p>
            <a:p>
              <a:pPr>
                <a:lnSpc>
                  <a:spcPct val="106000"/>
                </a:lnSpc>
                <a:spcAft>
                  <a:spcPts val="700"/>
                </a:spcAft>
              </a:pPr>
              <a:r>
                <a:rPr sz="2300" b="0">
                  <a:solidFill>
                    <a:srgbClr val="101820"/>
                  </a:solidFill>
                  <a:latin typeface="Calibri"/>
                </a:rPr>
                <a:t>pregătirii unei comparații</a:t>
              </a:r>
            </a:p>
          </p:txBody>
        </p:sp>
        <p:sp>
          <p:nvSpPr>
            <p:cNvPr id="12" name="Text: Costuri de măsurat:&#10;date, calcul și suport"/>
            <p:cNvSpPr txBox="1"/>
            <p:nvPr/>
          </p:nvSpPr>
          <p:spPr>
            <a:xfrm>
              <a:off x="5669280" y="4956048"/>
              <a:ext cx="5897880" cy="82296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Costuri de măsurat:</a:t>
              </a:r>
            </a:p>
            <a:p>
              <a:pPr>
                <a:lnSpc>
                  <a:spcPct val="106000"/>
                </a:lnSpc>
                <a:spcAft>
                  <a:spcPts val="700"/>
                </a:spcAft>
              </a:pPr>
              <a:r>
                <a:rPr sz="2300" b="0">
                  <a:solidFill>
                    <a:srgbClr val="101820"/>
                  </a:solidFill>
                  <a:latin typeface="Calibri"/>
                </a:rPr>
                <a:t>date, calcul și suport</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PIAȚ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PIAȚA</a:t>
            </a:r>
          </a:p>
        </p:txBody>
      </p:sp>
      <p:sp>
        <p:nvSpPr>
          <p:cNvPr id="3" name="Text: 08"/>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08</a:t>
            </a:r>
          </a:p>
        </p:txBody>
      </p:sp>
      <p:sp>
        <p:nvSpPr>
          <p:cNvPr id="4" name="Text: Primii utilizatori, înainte de extinder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Primii utilizatori, înainte de extindere</a:t>
            </a:r>
          </a:p>
        </p:txBody>
      </p:sp>
      <p:sp>
        <p:nvSpPr>
          <p:cNvPr id="5" name="Text: Ipoteze de lucru, 2026 · Nu reprezintă ven"/>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Ipoteze de lucru, 2026 · Nu reprezintă venit sau piață măsurată</a:t>
            </a:r>
          </a:p>
        </p:txBody>
      </p:sp>
      <p:sp>
        <p:nvSpPr>
          <p:cNvPr id="11" name="Text: Scenariu ipotetic; organizațiile și conver"/>
          <p:cNvSpPr txBox="1"/>
          <p:nvPr/>
        </p:nvSpPr>
        <p:spPr>
          <a:xfrm>
            <a:off x="594360" y="589788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Scenariu ipotetic; organizațiile și conversia nu sunt validate</a:t>
            </a:r>
          </a:p>
        </p:txBody>
      </p:sp>
      <p:grpSp>
        <p:nvGrpSpPr>
          <p:cNvPr id="12" name="reveal:s08_first_case"/>
          <p:cNvGrpSpPr/>
          <p:nvPr/>
        </p:nvGrpSpPr>
        <p:grpSpPr>
          <a:xfrm>
            <a:off x="594360" y="2011680"/>
            <a:ext cx="10972800" cy="777240"/>
            <a:chOff x="594360" y="2011680"/>
            <a:chExt cx="10972800" cy="777240"/>
          </a:xfrm>
        </p:grpSpPr>
        <p:sp>
          <p:nvSpPr>
            <p:cNvPr id="6" name="Text: Iași: primul specialist și un caz de lucru"/>
            <p:cNvSpPr txBox="1"/>
            <p:nvPr/>
          </p:nvSpPr>
          <p:spPr>
            <a:xfrm>
              <a:off x="594360" y="2011680"/>
              <a:ext cx="10972800" cy="777240"/>
            </a:xfrm>
            <a:prstGeom prst="rect">
              <a:avLst/>
            </a:prstGeom>
            <a:noFill/>
            <a:effectLst/>
          </p:spPr>
          <p:txBody>
            <a:bodyPr wrap="square" lIns="0" tIns="0" rIns="0" bIns="0" anchor="t">
              <a:spAutoFit/>
            </a:bodyPr>
            <a:lstStyle/>
            <a:p>
              <a:pPr>
                <a:lnSpc>
                  <a:spcPct val="106000"/>
                </a:lnSpc>
                <a:spcAft>
                  <a:spcPts val="700"/>
                </a:spcAft>
              </a:pPr>
              <a:r>
                <a:rPr sz="2700" b="1">
                  <a:solidFill>
                    <a:srgbClr val="101820"/>
                  </a:solidFill>
                  <a:latin typeface="Calibri"/>
                </a:rPr>
                <a:t>Iași: primul specialist și un caz de lucru</a:t>
              </a:r>
            </a:p>
          </p:txBody>
        </p:sp>
      </p:grpSp>
      <p:grpSp>
        <p:nvGrpSpPr>
          <p:cNvPr id="13" name="reveal:s08_outreach"/>
          <p:cNvGrpSpPr/>
          <p:nvPr/>
        </p:nvGrpSpPr>
        <p:grpSpPr>
          <a:xfrm>
            <a:off x="594360" y="2816352"/>
            <a:ext cx="10972800" cy="1572768"/>
            <a:chOff x="594360" y="2816352"/>
            <a:chExt cx="10972800" cy="1572768"/>
          </a:xfrm>
        </p:grpSpPr>
        <p:sp>
          <p:nvSpPr>
            <p:cNvPr id="7" name="Text: Apoi: listă de 10 organizații de interviev"/>
            <p:cNvSpPr txBox="1"/>
            <p:nvPr/>
          </p:nvSpPr>
          <p:spPr>
            <a:xfrm>
              <a:off x="594360" y="2816352"/>
              <a:ext cx="10972800" cy="777240"/>
            </a:xfrm>
            <a:prstGeom prst="rect">
              <a:avLst/>
            </a:prstGeom>
            <a:noFill/>
            <a:effectLst/>
          </p:spPr>
          <p:txBody>
            <a:bodyPr wrap="square" lIns="0" tIns="0" rIns="0" bIns="0" anchor="t">
              <a:spAutoFit/>
            </a:bodyPr>
            <a:lstStyle/>
            <a:p>
              <a:pPr>
                <a:lnSpc>
                  <a:spcPct val="106000"/>
                </a:lnSpc>
                <a:spcAft>
                  <a:spcPts val="700"/>
                </a:spcAft>
              </a:pPr>
              <a:r>
                <a:rPr sz="2400" b="0">
                  <a:solidFill>
                    <a:srgbClr val="101820"/>
                  </a:solidFill>
                  <a:latin typeface="Calibri"/>
                </a:rPr>
                <a:t>Apoi: listă de 10 organizații de intervievat</a:t>
              </a:r>
            </a:p>
          </p:txBody>
        </p:sp>
        <p:sp>
          <p:nvSpPr>
            <p:cNvPr id="8" name="Text: Canal propus: introduceri prin mentori și "/>
            <p:cNvSpPr txBox="1"/>
            <p:nvPr/>
          </p:nvSpPr>
          <p:spPr>
            <a:xfrm>
              <a:off x="594360" y="3611880"/>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101820"/>
                  </a:solidFill>
                  <a:latin typeface="Calibri"/>
                </a:rPr>
                <a:t>Canal propus: introduceri prin mentori și comunități de mobilitate</a:t>
              </a:r>
            </a:p>
          </p:txBody>
        </p:sp>
      </p:grpSp>
      <p:grpSp>
        <p:nvGrpSpPr>
          <p:cNvPr id="14" name="reveal:s08_commercial"/>
          <p:cNvGrpSpPr/>
          <p:nvPr/>
        </p:nvGrpSpPr>
        <p:grpSpPr>
          <a:xfrm>
            <a:off x="594360" y="4617720"/>
            <a:ext cx="10972800" cy="1143000"/>
            <a:chOff x="594360" y="4617720"/>
            <a:chExt cx="10972800" cy="1143000"/>
          </a:xfrm>
        </p:grpSpPr>
        <p:sp>
          <p:nvSpPr>
            <p:cNvPr id="9" name="Text: Exercițiu comercial"/>
            <p:cNvSpPr txBox="1"/>
            <p:nvPr/>
          </p:nvSpPr>
          <p:spPr>
            <a:xfrm>
              <a:off x="594360" y="4617720"/>
              <a:ext cx="10972800" cy="36576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Exercițiu comercial</a:t>
              </a:r>
            </a:p>
          </p:txBody>
        </p:sp>
        <p:sp>
          <p:nvSpPr>
            <p:cNvPr id="10" name="Text: 10 × 18.000 € = 180.000 € / an"/>
            <p:cNvSpPr txBox="1"/>
            <p:nvPr/>
          </p:nvSpPr>
          <p:spPr>
            <a:xfrm>
              <a:off x="594360" y="5093208"/>
              <a:ext cx="10972800" cy="667512"/>
            </a:xfrm>
            <a:prstGeom prst="rect">
              <a:avLst/>
            </a:prstGeom>
            <a:noFill/>
            <a:effectLst/>
          </p:spPr>
          <p:txBody>
            <a:bodyPr wrap="square" lIns="0" tIns="0" rIns="0" bIns="0" anchor="t">
              <a:spAutoFit/>
            </a:bodyPr>
            <a:lstStyle/>
            <a:p>
              <a:pPr>
                <a:lnSpc>
                  <a:spcPct val="106000"/>
                </a:lnSpc>
                <a:spcAft>
                  <a:spcPts val="700"/>
                </a:spcAft>
              </a:pPr>
              <a:r>
                <a:rPr sz="3500" b="1">
                  <a:solidFill>
                    <a:srgbClr val="101820"/>
                  </a:solidFill>
                  <a:latin typeface="Calibri"/>
                </a:rPr>
                <a:t>10 × 18.000 € = 180.000 € / an</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O / ECHIP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O / ECHIPA</a:t>
            </a:r>
          </a:p>
        </p:txBody>
      </p:sp>
      <p:sp>
        <p:nvSpPr>
          <p:cNvPr id="3" name="Text: 09"/>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09</a:t>
            </a:r>
          </a:p>
        </p:txBody>
      </p:sp>
      <p:sp>
        <p:nvSpPr>
          <p:cNvPr id="4" name="Text: ARION"/>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ARION</a:t>
            </a:r>
          </a:p>
        </p:txBody>
      </p:sp>
      <p:sp>
        <p:nvSpPr>
          <p:cNvPr id="5" name="Text: Responsabilități confirmate de echipă · Ce"/>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Responsabilități confirmate de echipă · Cerința V2, 18 octombrie 2026</a:t>
            </a:r>
          </a:p>
        </p:txBody>
      </p:sp>
      <p:grpSp>
        <p:nvGrpSpPr>
          <p:cNvPr id="9" name="reveal:s09_member_1"/>
          <p:cNvGrpSpPr/>
          <p:nvPr/>
        </p:nvGrpSpPr>
        <p:grpSpPr>
          <a:xfrm>
            <a:off x="594360" y="2423160"/>
            <a:ext cx="3429000" cy="2331720"/>
            <a:chOff x="594360" y="2423160"/>
            <a:chExt cx="3429000" cy="2331720"/>
          </a:xfrm>
        </p:grpSpPr>
        <p:sp>
          <p:nvSpPr>
            <p:cNvPr id="6" name="Rectangle 5"/>
            <p:cNvSpPr/>
            <p:nvPr/>
          </p:nvSpPr>
          <p:spPr>
            <a:xfrm>
              <a:off x="594360"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Iustin Fagateanu"/>
            <p:cNvSpPr txBox="1"/>
            <p:nvPr/>
          </p:nvSpPr>
          <p:spPr>
            <a:xfrm>
              <a:off x="777240"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Iustin Fagateanu</a:t>
              </a:r>
            </a:p>
          </p:txBody>
        </p:sp>
        <p:sp>
          <p:nvSpPr>
            <p:cNvPr id="8" name="Text: Frontend and&#10;web experience"/>
            <p:cNvSpPr txBox="1"/>
            <p:nvPr/>
          </p:nvSpPr>
          <p:spPr>
            <a:xfrm>
              <a:off x="777240"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Frontend and</a:t>
              </a:r>
            </a:p>
            <a:p>
              <a:pPr>
                <a:lnSpc>
                  <a:spcPct val="106000"/>
                </a:lnSpc>
                <a:spcAft>
                  <a:spcPts val="700"/>
                </a:spcAft>
              </a:pPr>
              <a:r>
                <a:rPr sz="2200" b="0">
                  <a:solidFill>
                    <a:srgbClr val="EDF2F6"/>
                  </a:solidFill>
                  <a:latin typeface="Calibri"/>
                </a:rPr>
                <a:t>web experience</a:t>
              </a:r>
            </a:p>
          </p:txBody>
        </p:sp>
      </p:grpSp>
      <p:grpSp>
        <p:nvGrpSpPr>
          <p:cNvPr id="13" name="reveal:s09_member_2"/>
          <p:cNvGrpSpPr/>
          <p:nvPr/>
        </p:nvGrpSpPr>
        <p:grpSpPr>
          <a:xfrm>
            <a:off x="4379976" y="2423160"/>
            <a:ext cx="3429000" cy="2331720"/>
            <a:chOff x="4379976" y="2423160"/>
            <a:chExt cx="3429000" cy="2331720"/>
          </a:xfrm>
        </p:grpSpPr>
        <p:sp>
          <p:nvSpPr>
            <p:cNvPr id="10" name="Rectangle 9"/>
            <p:cNvSpPr/>
            <p:nvPr/>
          </p:nvSpPr>
          <p:spPr>
            <a:xfrm>
              <a:off x="4379976"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Alex Pintilie"/>
            <p:cNvSpPr txBox="1"/>
            <p:nvPr/>
          </p:nvSpPr>
          <p:spPr>
            <a:xfrm>
              <a:off x="4562856"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Alex Pintilie</a:t>
              </a:r>
            </a:p>
          </p:txBody>
        </p:sp>
        <p:sp>
          <p:nvSpPr>
            <p:cNvPr id="12" name="Text: Bootstrap and&#10;simulation foundation"/>
            <p:cNvSpPr txBox="1"/>
            <p:nvPr/>
          </p:nvSpPr>
          <p:spPr>
            <a:xfrm>
              <a:off x="4562856"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Bootstrap and</a:t>
              </a:r>
            </a:p>
            <a:p>
              <a:pPr>
                <a:lnSpc>
                  <a:spcPct val="106000"/>
                </a:lnSpc>
                <a:spcAft>
                  <a:spcPts val="700"/>
                </a:spcAft>
              </a:pPr>
              <a:r>
                <a:rPr sz="2200" b="0">
                  <a:solidFill>
                    <a:srgbClr val="EDF2F6"/>
                  </a:solidFill>
                  <a:latin typeface="Calibri"/>
                </a:rPr>
                <a:t>simulation foundation</a:t>
              </a:r>
            </a:p>
          </p:txBody>
        </p:sp>
      </p:grpSp>
      <p:grpSp>
        <p:nvGrpSpPr>
          <p:cNvPr id="17" name="reveal:s09_member_3"/>
          <p:cNvGrpSpPr/>
          <p:nvPr/>
        </p:nvGrpSpPr>
        <p:grpSpPr>
          <a:xfrm>
            <a:off x="8165592" y="2423160"/>
            <a:ext cx="3429000" cy="2331720"/>
            <a:chOff x="8165592" y="2423160"/>
            <a:chExt cx="3429000" cy="2331720"/>
          </a:xfrm>
        </p:grpSpPr>
        <p:sp>
          <p:nvSpPr>
            <p:cNvPr id="14" name="Rectangle 13"/>
            <p:cNvSpPr/>
            <p:nvPr/>
          </p:nvSpPr>
          <p:spPr>
            <a:xfrm>
              <a:off x="8165592"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Fagateanu Eusebiu"/>
            <p:cNvSpPr txBox="1"/>
            <p:nvPr/>
          </p:nvSpPr>
          <p:spPr>
            <a:xfrm>
              <a:off x="8348471"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Fagateanu Eusebiu</a:t>
              </a:r>
            </a:p>
          </p:txBody>
        </p:sp>
        <p:sp>
          <p:nvSpPr>
            <p:cNvPr id="16" name="Text: Backend"/>
            <p:cNvSpPr txBox="1"/>
            <p:nvPr/>
          </p:nvSpPr>
          <p:spPr>
            <a:xfrm>
              <a:off x="8348471"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Backend</a:t>
              </a:r>
            </a:p>
          </p:txBody>
        </p:sp>
      </p:grpSp>
      <p:sp>
        <p:nvSpPr>
          <p:cNvPr id="18" name="Text: Următoarea nevoie: validare cu un speciali"/>
          <p:cNvSpPr txBox="1"/>
          <p:nvPr/>
        </p:nvSpPr>
        <p:spPr>
          <a:xfrm>
            <a:off x="594360" y="5413248"/>
            <a:ext cx="10972800" cy="73152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Următoarea nevoie: validare cu un specialist în mobilitate</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nodeType="afterEffect">
                                  <p:stCondLst>
                                    <p:cond delay="6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860"/>
                            </p:stCondLst>
                            <p:childTnLst>
                              <p:par>
                                <p:cTn id="13" presetID="10" presetClass="entr" presetSubtype="0" fill="hold" nodeType="afterEffect">
                                  <p:stCondLst>
                                    <p:cond delay="6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CE URMEAZ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CE URMEAZĂ</a:t>
            </a:r>
          </a:p>
        </p:txBody>
      </p:sp>
      <p:sp>
        <p:nvSpPr>
          <p:cNvPr id="3" name="Text: 10"/>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10</a:t>
            </a:r>
          </a:p>
        </p:txBody>
      </p:sp>
      <p:sp>
        <p:nvSpPr>
          <p:cNvPr id="4" name="Text: Prima comparație pe date verifica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Prima comparație pe date verificate</a:t>
            </a:r>
          </a:p>
        </p:txBody>
      </p:sp>
      <p:cxnSp>
        <p:nvCxnSpPr>
          <p:cNvPr id="11" name="Connector 10"/>
          <p:cNvCxnSpPr/>
          <p:nvPr/>
        </p:nvCxnSpPr>
        <p:spPr>
          <a:xfrm>
            <a:off x="3429000" y="2423160"/>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96912" y="2423160"/>
            <a:ext cx="56692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3" name="Text: Măsurăm timpul pregătirii comparației și t"/>
          <p:cNvSpPr txBox="1"/>
          <p:nvPr/>
        </p:nvSpPr>
        <p:spPr>
          <a:xfrm>
            <a:off x="594360" y="3401568"/>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Măsurăm timpul pregătirii comparației și trasabilitatea rezultatului.</a:t>
            </a:r>
          </a:p>
        </p:txBody>
      </p:sp>
      <p:sp>
        <p:nvSpPr>
          <p:cNvPr id="16" name="Text: Un caz verificabil. Apoi extindere."/>
          <p:cNvSpPr txBox="1"/>
          <p:nvPr/>
        </p:nvSpPr>
        <p:spPr>
          <a:xfrm>
            <a:off x="594360" y="6071616"/>
            <a:ext cx="10972800" cy="457200"/>
          </a:xfrm>
          <a:prstGeom prst="rect">
            <a:avLst/>
          </a:prstGeom>
          <a:noFill/>
          <a:effectLst/>
        </p:spPr>
        <p:txBody>
          <a:bodyPr wrap="square" lIns="0" tIns="0" rIns="0" bIns="0" anchor="t">
            <a:spAutoFit/>
          </a:bodyPr>
          <a:lstStyle/>
          <a:p>
            <a:pPr>
              <a:lnSpc>
                <a:spcPct val="106000"/>
              </a:lnSpc>
              <a:spcAft>
                <a:spcPts val="700"/>
              </a:spcAft>
            </a:pPr>
            <a:r>
              <a:rPr sz="2200" b="0">
                <a:solidFill>
                  <a:srgbClr val="EFC47C"/>
                </a:solidFill>
                <a:latin typeface="Calibri"/>
              </a:rPr>
              <a:t>Un caz verificabil. Apoi extindere.</a:t>
            </a:r>
          </a:p>
        </p:txBody>
      </p:sp>
      <p:grpSp>
        <p:nvGrpSpPr>
          <p:cNvPr id="17" name="reveal:s10_priority_1"/>
          <p:cNvGrpSpPr/>
          <p:nvPr/>
        </p:nvGrpSpPr>
        <p:grpSpPr>
          <a:xfrm>
            <a:off x="594360" y="2029968"/>
            <a:ext cx="3337560" cy="1106424"/>
            <a:chOff x="594360" y="2029968"/>
            <a:chExt cx="3337560" cy="1106424"/>
          </a:xfrm>
        </p:grpSpPr>
        <p:sp>
          <p:nvSpPr>
            <p:cNvPr id="5" name="Text: Date"/>
            <p:cNvSpPr txBox="1"/>
            <p:nvPr/>
          </p:nvSpPr>
          <p:spPr>
            <a:xfrm>
              <a:off x="594360"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Date</a:t>
              </a:r>
            </a:p>
          </p:txBody>
        </p:sp>
        <p:sp>
          <p:nvSpPr>
            <p:cNvPr id="6" name="Text: documentate"/>
            <p:cNvSpPr txBox="1"/>
            <p:nvPr/>
          </p:nvSpPr>
          <p:spPr>
            <a:xfrm>
              <a:off x="594360"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documentate</a:t>
              </a:r>
            </a:p>
          </p:txBody>
        </p:sp>
      </p:grpSp>
      <p:grpSp>
        <p:nvGrpSpPr>
          <p:cNvPr id="18" name="reveal:s10_priority_2"/>
          <p:cNvGrpSpPr/>
          <p:nvPr/>
        </p:nvGrpSpPr>
        <p:grpSpPr>
          <a:xfrm>
            <a:off x="4416552" y="2029968"/>
            <a:ext cx="3337560" cy="1106424"/>
            <a:chOff x="4416552" y="2029968"/>
            <a:chExt cx="3337560" cy="1106424"/>
          </a:xfrm>
        </p:grpSpPr>
        <p:sp>
          <p:nvSpPr>
            <p:cNvPr id="7" name="Text: Calibrare și"/>
            <p:cNvSpPr txBox="1"/>
            <p:nvPr/>
          </p:nvSpPr>
          <p:spPr>
            <a:xfrm>
              <a:off x="4416552"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Calibrare și</a:t>
              </a:r>
            </a:p>
          </p:txBody>
        </p:sp>
        <p:sp>
          <p:nvSpPr>
            <p:cNvPr id="8" name="Text: verificare"/>
            <p:cNvSpPr txBox="1"/>
            <p:nvPr/>
          </p:nvSpPr>
          <p:spPr>
            <a:xfrm>
              <a:off x="4416552"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verificare</a:t>
              </a:r>
            </a:p>
          </p:txBody>
        </p:sp>
      </p:grpSp>
      <p:grpSp>
        <p:nvGrpSpPr>
          <p:cNvPr id="19" name="reveal:s10_priority_3"/>
          <p:cNvGrpSpPr/>
          <p:nvPr/>
        </p:nvGrpSpPr>
        <p:grpSpPr>
          <a:xfrm>
            <a:off x="8238744" y="2029968"/>
            <a:ext cx="3337560" cy="1106424"/>
            <a:chOff x="8238744" y="2029968"/>
            <a:chExt cx="3337560" cy="1106424"/>
          </a:xfrm>
        </p:grpSpPr>
        <p:sp>
          <p:nvSpPr>
            <p:cNvPr id="9" name="Text: Test cu"/>
            <p:cNvSpPr txBox="1"/>
            <p:nvPr/>
          </p:nvSpPr>
          <p:spPr>
            <a:xfrm>
              <a:off x="8238744"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Test cu</a:t>
              </a:r>
            </a:p>
          </p:txBody>
        </p:sp>
        <p:sp>
          <p:nvSpPr>
            <p:cNvPr id="10" name="Text: un specialist"/>
            <p:cNvSpPr txBox="1"/>
            <p:nvPr/>
          </p:nvSpPr>
          <p:spPr>
            <a:xfrm>
              <a:off x="8238744"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un specialist</a:t>
              </a:r>
            </a:p>
          </p:txBody>
        </p:sp>
      </p:grpSp>
      <p:grpSp>
        <p:nvGrpSpPr>
          <p:cNvPr id="20" name="reveal:s10_request"/>
          <p:cNvGrpSpPr/>
          <p:nvPr/>
        </p:nvGrpSpPr>
        <p:grpSpPr>
          <a:xfrm>
            <a:off x="594360" y="4343400"/>
            <a:ext cx="10972800" cy="1636776"/>
            <a:chOff x="594360" y="4343400"/>
            <a:chExt cx="10972800" cy="1636776"/>
          </a:xfrm>
        </p:grpSpPr>
        <p:sp>
          <p:nvSpPr>
            <p:cNvPr id="14" name="Text: Cererea noastră"/>
            <p:cNvSpPr txBox="1"/>
            <p:nvPr/>
          </p:nvSpPr>
          <p:spPr>
            <a:xfrm>
              <a:off x="594360" y="4343400"/>
              <a:ext cx="10972800" cy="36576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Cererea noastră</a:t>
              </a:r>
            </a:p>
          </p:txBody>
        </p:sp>
        <p:sp>
          <p:nvSpPr>
            <p:cNvPr id="15" name="Text: O introducere către un specialist&#10;și acces"/>
            <p:cNvSpPr txBox="1"/>
            <p:nvPr/>
          </p:nvSpPr>
          <p:spPr>
            <a:xfrm>
              <a:off x="594360" y="4773168"/>
              <a:ext cx="10972800" cy="1207008"/>
            </a:xfrm>
            <a:prstGeom prst="rect">
              <a:avLst/>
            </a:prstGeom>
            <a:noFill/>
            <a:effectLst/>
          </p:spPr>
          <p:txBody>
            <a:bodyPr wrap="square" lIns="0" tIns="0" rIns="0" bIns="0" anchor="t">
              <a:spAutoFit/>
            </a:bodyPr>
            <a:lstStyle/>
            <a:p>
              <a:pPr>
                <a:lnSpc>
                  <a:spcPct val="106000"/>
                </a:lnSpc>
                <a:spcAft>
                  <a:spcPts val="700"/>
                </a:spcAft>
              </a:pPr>
              <a:r>
                <a:rPr sz="3200" b="1">
                  <a:solidFill>
                    <a:srgbClr val="EDF2F6"/>
                  </a:solidFill>
                  <a:latin typeface="Calibri"/>
                </a:rPr>
                <a:t>O introducere către un specialist</a:t>
              </a:r>
            </a:p>
            <a:p>
              <a:pPr>
                <a:lnSpc>
                  <a:spcPct val="106000"/>
                </a:lnSpc>
                <a:spcAft>
                  <a:spcPts val="700"/>
                </a:spcAft>
              </a:pPr>
              <a:r>
                <a:rPr sz="3200" b="1">
                  <a:solidFill>
                    <a:srgbClr val="EDF2F6"/>
                  </a:solidFill>
                  <a:latin typeface="Calibri"/>
                </a:rPr>
                <a:t>și acces la un set de date local.</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ANEXA A / DOVEZI"/>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ANEXA A / DOVEZI</a:t>
            </a:r>
          </a:p>
        </p:txBody>
      </p:sp>
      <p:sp>
        <p:nvSpPr>
          <p:cNvPr id="3" name="Text: 1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11</a:t>
            </a:r>
          </a:p>
        </p:txBody>
      </p:sp>
      <p:sp>
        <p:nvSpPr>
          <p:cNvPr id="4" name="Text: Ce este verificat astăz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Ce este verificat astăzi</a:t>
            </a:r>
          </a:p>
        </p:txBody>
      </p:sp>
      <p:sp>
        <p:nvSpPr>
          <p:cNvPr id="5" name="Text: Sursă: verificări locale ale repository-ul"/>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Sursă: verificări locale ale repository-ului, 2026</a:t>
            </a:r>
          </a:p>
        </p:txBody>
      </p:sp>
      <p:sp>
        <p:nvSpPr>
          <p:cNvPr id="8" name="Text: Typecheck&#10;web · mobile · shared"/>
          <p:cNvSpPr txBox="1"/>
          <p:nvPr/>
        </p:nvSpPr>
        <p:spPr>
          <a:xfrm>
            <a:off x="5669280" y="2148840"/>
            <a:ext cx="5897880" cy="1097280"/>
          </a:xfrm>
          <a:prstGeom prst="rect">
            <a:avLst/>
          </a:prstGeom>
          <a:noFill/>
          <a:effectLst/>
        </p:spPr>
        <p:txBody>
          <a:bodyPr wrap="square" lIns="0" tIns="0" rIns="0" bIns="0" anchor="t">
            <a:spAutoFit/>
          </a:bodyPr>
          <a:lstStyle/>
          <a:p>
            <a:pPr>
              <a:lnSpc>
                <a:spcPct val="106000"/>
              </a:lnSpc>
              <a:spcAft>
                <a:spcPts val="700"/>
              </a:spcAft>
            </a:pPr>
            <a:r>
              <a:rPr sz="2600" b="1">
                <a:solidFill>
                  <a:srgbClr val="101820"/>
                </a:solidFill>
                <a:latin typeface="Calibri"/>
              </a:rPr>
              <a:t>Typecheck</a:t>
            </a:r>
          </a:p>
          <a:p>
            <a:pPr>
              <a:lnSpc>
                <a:spcPct val="106000"/>
              </a:lnSpc>
              <a:spcAft>
                <a:spcPts val="700"/>
              </a:spcAft>
            </a:pPr>
            <a:r>
              <a:rPr sz="2600" b="1">
                <a:solidFill>
                  <a:srgbClr val="101820"/>
                </a:solidFill>
                <a:latin typeface="Calibri"/>
              </a:rPr>
              <a:t>web · mobile · shared</a:t>
            </a:r>
          </a:p>
        </p:txBody>
      </p:sp>
      <p:sp>
        <p:nvSpPr>
          <p:cNvPr id="9" name="Text: Build web&#10;/ și /app"/>
          <p:cNvSpPr txBox="1"/>
          <p:nvPr/>
        </p:nvSpPr>
        <p:spPr>
          <a:xfrm>
            <a:off x="5669280" y="3657600"/>
            <a:ext cx="5897880" cy="1097280"/>
          </a:xfrm>
          <a:prstGeom prst="rect">
            <a:avLst/>
          </a:prstGeom>
          <a:noFill/>
          <a:effectLst/>
        </p:spPr>
        <p:txBody>
          <a:bodyPr wrap="square" lIns="0" tIns="0" rIns="0" bIns="0" anchor="t">
            <a:spAutoFit/>
          </a:bodyPr>
          <a:lstStyle/>
          <a:p>
            <a:pPr>
              <a:lnSpc>
                <a:spcPct val="106000"/>
              </a:lnSpc>
              <a:spcAft>
                <a:spcPts val="700"/>
              </a:spcAft>
            </a:pPr>
            <a:r>
              <a:rPr sz="2600" b="1">
                <a:solidFill>
                  <a:srgbClr val="101820"/>
                </a:solidFill>
                <a:latin typeface="Calibri"/>
              </a:rPr>
              <a:t>Build web</a:t>
            </a:r>
          </a:p>
          <a:p>
            <a:pPr>
              <a:lnSpc>
                <a:spcPct val="106000"/>
              </a:lnSpc>
              <a:spcAft>
                <a:spcPts val="700"/>
              </a:spcAft>
            </a:pPr>
            <a:r>
              <a:rPr sz="2600" b="1">
                <a:solidFill>
                  <a:srgbClr val="101820"/>
                </a:solidFill>
                <a:latin typeface="Calibri"/>
              </a:rPr>
              <a:t>/ și /app</a:t>
            </a:r>
          </a:p>
        </p:txBody>
      </p:sp>
      <p:sp>
        <p:nvSpPr>
          <p:cNvPr id="10" name="Text: API și graf pietonal implementate; calibra"/>
          <p:cNvSpPr txBox="1"/>
          <p:nvPr/>
        </p:nvSpPr>
        <p:spPr>
          <a:xfrm>
            <a:off x="594360" y="5303520"/>
            <a:ext cx="10972800" cy="685800"/>
          </a:xfrm>
          <a:prstGeom prst="rect">
            <a:avLst/>
          </a:prstGeom>
          <a:noFill/>
          <a:effectLst/>
        </p:spPr>
        <p:txBody>
          <a:bodyPr wrap="square" lIns="0" tIns="0" rIns="0" bIns="0" anchor="t">
            <a:spAutoFit/>
          </a:bodyPr>
          <a:lstStyle/>
          <a:p>
            <a:pPr>
              <a:lnSpc>
                <a:spcPct val="106000"/>
              </a:lnSpc>
              <a:spcAft>
                <a:spcPts val="700"/>
              </a:spcAft>
            </a:pPr>
            <a:r>
              <a:rPr sz="2100" b="1">
                <a:solidFill>
                  <a:srgbClr val="101820"/>
                </a:solidFill>
                <a:latin typeface="Calibri"/>
              </a:rPr>
              <a:t>API și graf pietonal implementate; calibrarea rămâne de făcut</a:t>
            </a:r>
          </a:p>
        </p:txBody>
      </p:sp>
      <p:sp>
        <p:nvSpPr>
          <p:cNvPr id="11" name="Text: AI cloud și SUMO din UI — neintegrate"/>
          <p:cNvSpPr txBox="1"/>
          <p:nvPr/>
        </p:nvSpPr>
        <p:spPr>
          <a:xfrm>
            <a:off x="594360" y="6025896"/>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AI cloud și SUMO din UI — neintegrate</a:t>
            </a:r>
          </a:p>
        </p:txBody>
      </p:sp>
      <p:grpSp>
        <p:nvGrpSpPr>
          <p:cNvPr id="12" name="reveal:s11_test_result"/>
          <p:cNvGrpSpPr/>
          <p:nvPr/>
        </p:nvGrpSpPr>
        <p:grpSpPr>
          <a:xfrm>
            <a:off x="594360" y="2084831"/>
            <a:ext cx="4389120" cy="2011681"/>
            <a:chOff x="594360" y="2084831"/>
            <a:chExt cx="4389120" cy="2011681"/>
          </a:xfrm>
        </p:grpSpPr>
        <p:sp>
          <p:nvSpPr>
            <p:cNvPr id="6" name="Text: 9 / 9"/>
            <p:cNvSpPr txBox="1"/>
            <p:nvPr/>
          </p:nvSpPr>
          <p:spPr>
            <a:xfrm>
              <a:off x="594360" y="2084831"/>
              <a:ext cx="4389120" cy="1188720"/>
            </a:xfrm>
            <a:prstGeom prst="rect">
              <a:avLst/>
            </a:prstGeom>
            <a:noFill/>
            <a:effectLst/>
          </p:spPr>
          <p:txBody>
            <a:bodyPr wrap="square" lIns="0" tIns="0" rIns="0" bIns="0" anchor="t">
              <a:spAutoFit/>
            </a:bodyPr>
            <a:lstStyle/>
            <a:p>
              <a:pPr>
                <a:lnSpc>
                  <a:spcPct val="106000"/>
                </a:lnSpc>
                <a:spcAft>
                  <a:spcPts val="700"/>
                </a:spcAft>
              </a:pPr>
              <a:r>
                <a:rPr sz="7200" b="1">
                  <a:solidFill>
                    <a:srgbClr val="101820"/>
                  </a:solidFill>
                  <a:latin typeface="Calibri"/>
                </a:rPr>
                <a:t>9 / 9</a:t>
              </a:r>
            </a:p>
          </p:txBody>
        </p:sp>
        <p:sp>
          <p:nvSpPr>
            <p:cNvPr id="7" name="Text: teste frontend"/>
            <p:cNvSpPr txBox="1"/>
            <p:nvPr/>
          </p:nvSpPr>
          <p:spPr>
            <a:xfrm>
              <a:off x="594360" y="3502152"/>
              <a:ext cx="4389120" cy="59436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teste frontend</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NEXA B / AI"/>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ANEXA B / AI</a:t>
            </a:r>
          </a:p>
        </p:txBody>
      </p:sp>
      <p:sp>
        <p:nvSpPr>
          <p:cNvPr id="3" name="Text: 1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12</a:t>
            </a:r>
          </a:p>
        </p:txBody>
      </p:sp>
      <p:sp>
        <p:nvSpPr>
          <p:cNvPr id="4" name="Text: Rolul AI în fluxul propus"/>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Rolul AI în fluxul propus</a:t>
            </a:r>
          </a:p>
        </p:txBody>
      </p:sp>
      <p:sp>
        <p:nvSpPr>
          <p:cNvPr id="5" name="Text: Sursă: docs/ARCHITECTURE.md; stare verific"/>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Sursă: docs/ARCHITECTURE.md; stare verificată în cod, 2026</a:t>
            </a:r>
          </a:p>
        </p:txBody>
      </p:sp>
      <p:grpSp>
        <p:nvGrpSpPr>
          <p:cNvPr id="21" name="reveal:s12_proposed_flow"/>
          <p:cNvGrpSpPr/>
          <p:nvPr/>
        </p:nvGrpSpPr>
        <p:grpSpPr>
          <a:xfrm>
            <a:off x="594360" y="2423160"/>
            <a:ext cx="11000232" cy="1645920"/>
            <a:chOff x="594360" y="2423160"/>
            <a:chExt cx="11000232" cy="1645920"/>
          </a:xfrm>
        </p:grpSpPr>
        <p:sp>
          <p:nvSpPr>
            <p:cNvPr id="6" name="Rectangle 5"/>
            <p:cNvSpPr/>
            <p:nvPr/>
          </p:nvSpPr>
          <p:spPr>
            <a:xfrm>
              <a:off x="59436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Dovezi"/>
            <p:cNvSpPr txBox="1"/>
            <p:nvPr/>
          </p:nvSpPr>
          <p:spPr>
            <a:xfrm>
              <a:off x="777240"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Dovezi</a:t>
              </a:r>
            </a:p>
          </p:txBody>
        </p:sp>
        <p:sp>
          <p:nvSpPr>
            <p:cNvPr id="8" name="Text: și catalog"/>
            <p:cNvSpPr txBox="1"/>
            <p:nvPr/>
          </p:nvSpPr>
          <p:spPr>
            <a:xfrm>
              <a:off x="777240"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și catalog</a:t>
              </a:r>
            </a:p>
          </p:txBody>
        </p:sp>
        <p:cxnSp>
          <p:nvCxnSpPr>
            <p:cNvPr id="9" name="Connector 8"/>
            <p:cNvCxnSpPr/>
            <p:nvPr/>
          </p:nvCxnSpPr>
          <p:spPr>
            <a:xfrm>
              <a:off x="2953512" y="3246120"/>
              <a:ext cx="521208" cy="0"/>
            </a:xfrm>
            <a:prstGeom prst="line">
              <a:avLst/>
            </a:prstGeom>
            <a:ln w="22860">
              <a:solidFill>
                <a:srgbClr val="8BC9ED"/>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47472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LLM viitor"/>
            <p:cNvSpPr txBox="1"/>
            <p:nvPr/>
          </p:nvSpPr>
          <p:spPr>
            <a:xfrm>
              <a:off x="3657600"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LLM viitor</a:t>
              </a:r>
            </a:p>
          </p:txBody>
        </p:sp>
        <p:sp>
          <p:nvSpPr>
            <p:cNvPr id="12" name="Text: Alternative"/>
            <p:cNvSpPr txBox="1"/>
            <p:nvPr/>
          </p:nvSpPr>
          <p:spPr>
            <a:xfrm>
              <a:off x="3657600"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Alternative</a:t>
              </a:r>
            </a:p>
          </p:txBody>
        </p:sp>
        <p:cxnSp>
          <p:nvCxnSpPr>
            <p:cNvPr id="13" name="Connector 12"/>
            <p:cNvCxnSpPr/>
            <p:nvPr/>
          </p:nvCxnSpPr>
          <p:spPr>
            <a:xfrm>
              <a:off x="5833872" y="3246120"/>
              <a:ext cx="521207" cy="0"/>
            </a:xfrm>
            <a:prstGeom prst="line">
              <a:avLst/>
            </a:prstGeom>
            <a:ln w="22860">
              <a:solidFill>
                <a:srgbClr val="8BC9ED"/>
              </a:solidFill>
              <a:prstDash val="dash"/>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35508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Reguli"/>
            <p:cNvSpPr txBox="1"/>
            <p:nvPr/>
          </p:nvSpPr>
          <p:spPr>
            <a:xfrm>
              <a:off x="6537960"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Reguli</a:t>
              </a:r>
            </a:p>
          </p:txBody>
        </p:sp>
        <p:sp>
          <p:nvSpPr>
            <p:cNvPr id="16" name="Text: și geometrie"/>
            <p:cNvSpPr txBox="1"/>
            <p:nvPr/>
          </p:nvSpPr>
          <p:spPr>
            <a:xfrm>
              <a:off x="6537960"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și geometrie</a:t>
              </a:r>
            </a:p>
          </p:txBody>
        </p:sp>
        <p:cxnSp>
          <p:nvCxnSpPr>
            <p:cNvPr id="17" name="Connector 16"/>
            <p:cNvCxnSpPr/>
            <p:nvPr/>
          </p:nvCxnSpPr>
          <p:spPr>
            <a:xfrm>
              <a:off x="8714232" y="3246120"/>
              <a:ext cx="52120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235440" y="2423160"/>
              <a:ext cx="2359152" cy="16459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Evaluare"/>
            <p:cNvSpPr txBox="1"/>
            <p:nvPr/>
          </p:nvSpPr>
          <p:spPr>
            <a:xfrm>
              <a:off x="9418319" y="2587752"/>
              <a:ext cx="199339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8BC9ED"/>
                  </a:solidFill>
                  <a:latin typeface="Calibri"/>
                </a:rPr>
                <a:t>Evaluare</a:t>
              </a:r>
            </a:p>
          </p:txBody>
        </p:sp>
        <p:sp>
          <p:nvSpPr>
            <p:cNvPr id="20" name="Text: independentă"/>
            <p:cNvSpPr txBox="1"/>
            <p:nvPr/>
          </p:nvSpPr>
          <p:spPr>
            <a:xfrm>
              <a:off x="9418319" y="3218688"/>
              <a:ext cx="1993392" cy="758952"/>
            </a:xfrm>
            <a:prstGeom prst="rect">
              <a:avLst/>
            </a:prstGeom>
            <a:noFill/>
            <a:effectLst/>
          </p:spPr>
          <p:txBody>
            <a:bodyPr wrap="square" lIns="0" tIns="0" rIns="0" bIns="0" anchor="t">
              <a:spAutoFit/>
            </a:bodyPr>
            <a:lstStyle/>
            <a:p>
              <a:pPr>
                <a:lnSpc>
                  <a:spcPct val="106000"/>
                </a:lnSpc>
                <a:spcAft>
                  <a:spcPts val="700"/>
                </a:spcAft>
              </a:pPr>
              <a:r>
                <a:rPr sz="2000" b="0">
                  <a:solidFill>
                    <a:srgbClr val="EDF2F6"/>
                  </a:solidFill>
                  <a:latin typeface="Calibri"/>
                </a:rPr>
                <a:t>independentă</a:t>
              </a:r>
            </a:p>
          </p:txBody>
        </p:sp>
      </p:grpSp>
      <p:sp>
        <p:nvSpPr>
          <p:cNvPr id="22" name="Text: Astăzi: propuneri deterministe și validare"/>
          <p:cNvSpPr txBox="1"/>
          <p:nvPr/>
        </p:nvSpPr>
        <p:spPr>
          <a:xfrm>
            <a:off x="594360" y="4443984"/>
            <a:ext cx="10972800" cy="548640"/>
          </a:xfrm>
          <a:prstGeom prst="rect">
            <a:avLst/>
          </a:prstGeom>
          <a:noFill/>
          <a:effectLst/>
        </p:spPr>
        <p:txBody>
          <a:bodyPr wrap="square" lIns="0" tIns="0" rIns="0" bIns="0" anchor="t">
            <a:spAutoFit/>
          </a:bodyPr>
          <a:lstStyle/>
          <a:p>
            <a:pPr>
              <a:lnSpc>
                <a:spcPct val="106000"/>
              </a:lnSpc>
              <a:spcAft>
                <a:spcPts val="700"/>
              </a:spcAft>
            </a:pPr>
            <a:r>
              <a:rPr sz="2700" b="1">
                <a:solidFill>
                  <a:srgbClr val="EFC47C"/>
                </a:solidFill>
                <a:latin typeface="Calibri"/>
              </a:rPr>
              <a:t>Astăzi: propuneri deterministe și validare</a:t>
            </a:r>
          </a:p>
        </p:txBody>
      </p:sp>
      <p:sp>
        <p:nvSpPr>
          <p:cNvPr id="23" name="Text: Planificat: provider LLM; decizia rămâne l"/>
          <p:cNvSpPr txBox="1"/>
          <p:nvPr/>
        </p:nvSpPr>
        <p:spPr>
          <a:xfrm>
            <a:off x="594360" y="5193792"/>
            <a:ext cx="10972800" cy="59436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Planificat: provider LLM; decizia rămâne la specialist</a:t>
            </a:r>
          </a:p>
        </p:txBody>
      </p:sp>
      <p:sp>
        <p:nvSpPr>
          <p:cNvPr id="24" name="Text: O recomandare nu constituie o măsurătoare."/>
          <p:cNvSpPr txBox="1"/>
          <p:nvPr/>
        </p:nvSpPr>
        <p:spPr>
          <a:xfrm>
            <a:off x="594360" y="5897880"/>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8BC9ED"/>
                </a:solidFill>
                <a:latin typeface="Calibri"/>
              </a:rPr>
              <a:t>O recomandare nu constituie o măsurătoare.</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ANEXA C / METOD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ANEXA C / METODĂ</a:t>
            </a:r>
          </a:p>
        </p:txBody>
      </p:sp>
      <p:sp>
        <p:nvSpPr>
          <p:cNvPr id="3" name="Text: 1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13</a:t>
            </a:r>
          </a:p>
        </p:txBody>
      </p:sp>
      <p:sp>
        <p:nvSpPr>
          <p:cNvPr id="4" name="Text: Condițiile unei evaluări credibil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Condițiile unei evaluări credibile</a:t>
            </a:r>
          </a:p>
        </p:txBody>
      </p:sp>
      <p:sp>
        <p:nvSpPr>
          <p:cNvPr id="5" name="Text: Surse: docs/ARCHITECTURE.md · SUMO Calibra"/>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Surse: docs/ARCHITECTURE.md · SUMO Calibrator · Audit repository, 2026</a:t>
            </a:r>
          </a:p>
        </p:txBody>
      </p:sp>
      <p:sp>
        <p:nvSpPr>
          <p:cNvPr id="7" name="Text: Lipsă date → necunoscut&#10;Propunere AI → ipo"/>
          <p:cNvSpPr txBox="1"/>
          <p:nvPr/>
        </p:nvSpPr>
        <p:spPr>
          <a:xfrm>
            <a:off x="594360" y="4828032"/>
            <a:ext cx="10972800" cy="1234440"/>
          </a:xfrm>
          <a:prstGeom prst="rect">
            <a:avLst/>
          </a:prstGeom>
          <a:noFill/>
          <a:effectLst/>
        </p:spPr>
        <p:txBody>
          <a:bodyPr wrap="square" lIns="0" tIns="0" rIns="0" bIns="0" anchor="t">
            <a:spAutoFit/>
          </a:bodyPr>
          <a:lstStyle/>
          <a:p>
            <a:pPr>
              <a:lnSpc>
                <a:spcPct val="106000"/>
              </a:lnSpc>
              <a:spcAft>
                <a:spcPts val="700"/>
              </a:spcAft>
            </a:pPr>
            <a:r>
              <a:rPr sz="2100" b="0">
                <a:solidFill>
                  <a:srgbClr val="101820"/>
                </a:solidFill>
                <a:latin typeface="Calibri"/>
              </a:rPr>
              <a:t>Lipsă date → necunoscut</a:t>
            </a:r>
          </a:p>
          <a:p>
            <a:pPr>
              <a:lnSpc>
                <a:spcPct val="106000"/>
              </a:lnSpc>
              <a:spcAft>
                <a:spcPts val="700"/>
              </a:spcAft>
            </a:pPr>
            <a:r>
              <a:rPr sz="2100" b="0">
                <a:solidFill>
                  <a:srgbClr val="101820"/>
                </a:solidFill>
                <a:latin typeface="Calibri"/>
              </a:rPr>
              <a:t>Propunere AI → ipoteză</a:t>
            </a:r>
          </a:p>
          <a:p>
            <a:pPr>
              <a:lnSpc>
                <a:spcPct val="106000"/>
              </a:lnSpc>
              <a:spcAft>
                <a:spcPts val="700"/>
              </a:spcAft>
            </a:pPr>
            <a:r>
              <a:rPr sz="2100" b="0">
                <a:solidFill>
                  <a:srgbClr val="101820"/>
                </a:solidFill>
                <a:latin typeface="Calibri"/>
              </a:rPr>
              <a:t>Rulare repetată → rezultat verificabil</a:t>
            </a:r>
          </a:p>
        </p:txBody>
      </p:sp>
      <p:sp>
        <p:nvSpPr>
          <p:cNvPr id="8" name="Text: Nu există încă efecte de trafic validate î"/>
          <p:cNvSpPr txBox="1"/>
          <p:nvPr/>
        </p:nvSpPr>
        <p:spPr>
          <a:xfrm>
            <a:off x="594360" y="6144768"/>
            <a:ext cx="10972800" cy="347472"/>
          </a:xfrm>
          <a:prstGeom prst="rect">
            <a:avLst/>
          </a:prstGeom>
          <a:noFill/>
          <a:effectLst/>
        </p:spPr>
        <p:txBody>
          <a:bodyPr wrap="square" lIns="0" tIns="0" rIns="0" bIns="0" anchor="t">
            <a:spAutoFit/>
          </a:bodyPr>
          <a:lstStyle/>
          <a:p>
            <a:pPr>
              <a:lnSpc>
                <a:spcPct val="106000"/>
              </a:lnSpc>
              <a:spcAft>
                <a:spcPts val="700"/>
              </a:spcAft>
            </a:pPr>
            <a:r>
              <a:rPr sz="1700" b="0">
                <a:solidFill>
                  <a:srgbClr val="486476"/>
                </a:solidFill>
                <a:latin typeface="Calibri"/>
              </a:rPr>
              <a:t>Nu există încă efecte de trafic validate în repository.</a:t>
            </a:r>
          </a:p>
        </p:txBody>
      </p:sp>
      <p:grpSp>
        <p:nvGrpSpPr>
          <p:cNvPr id="9" name="reveal:s13_method"/>
          <p:cNvGrpSpPr/>
          <p:nvPr/>
        </p:nvGrpSpPr>
        <p:grpSpPr>
          <a:xfrm>
            <a:off x="594360" y="1993392"/>
            <a:ext cx="11000232" cy="2688336"/>
            <a:chOff x="594360" y="1993392"/>
            <a:chExt cx="11000232" cy="2688336"/>
          </a:xfrm>
        </p:grpSpPr>
        <p:graphicFrame>
          <p:nvGraphicFramePr>
            <p:cNvPr id="6" name="Table 5"/>
            <p:cNvGraphicFramePr>
              <a:graphicFrameLocks noGrp="1"/>
            </p:cNvGraphicFramePr>
            <p:nvPr/>
          </p:nvGraphicFramePr>
          <p:xfrm>
            <a:off x="594360" y="1993392"/>
            <a:ext cx="11000232" cy="2688336"/>
          </p:xfrm>
          <a:graphic>
            <a:graphicData uri="http://schemas.openxmlformats.org/drawingml/2006/table">
              <a:tbl>
                <a:tblPr>
                  <a:tableStyleId>{5C22544A-7EE6-4342-B048-85BDC9FD1C3A}</a:tableStyleId>
                </a:tblPr>
                <a:tblGrid>
                  <a:gridCol w="2560320">
                    <a:extLst>
                      <a:ext uri="{9D8B030D-6E8A-4147-A177-3AD203B41FA5}">
                        <a16:colId xmlns:a16="http://schemas.microsoft.com/office/drawing/2014/main" val="20000"/>
                      </a:ext>
                    </a:extLst>
                  </a:gridCol>
                  <a:gridCol w="8439912">
                    <a:extLst>
                      <a:ext uri="{9D8B030D-6E8A-4147-A177-3AD203B41FA5}">
                        <a16:colId xmlns:a16="http://schemas.microsoft.com/office/drawing/2014/main" val="20001"/>
                      </a:ext>
                    </a:extLst>
                  </a:gridCol>
                </a:tblGrid>
                <a:tr h="896112">
                  <a:tc>
                    <a:txBody>
                      <a:bodyPr/>
                      <a:lstStyle/>
                      <a:p>
                        <a:pPr>
                          <a:spcAft>
                            <a:spcPts val="0"/>
                          </a:spcAft>
                        </a:pPr>
                        <a:r>
                          <a:rPr sz="2100" b="1">
                            <a:solidFill>
                              <a:srgbClr val="101820"/>
                            </a:solidFill>
                            <a:latin typeface="Calibri"/>
                          </a:rPr>
                          <a:t>Date</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Sursă, dată, acoperire, licență</a:t>
                        </a:r>
                      </a:p>
                    </a:txBody>
                    <a:tcPr marL="182880" marR="137160" marT="109728" marB="91440" anchor="ctr">
                      <a:solidFill>
                        <a:srgbClr val="EFF4F7"/>
                      </a:solidFill>
                    </a:tcPr>
                  </a:tc>
                  <a:extLst>
                    <a:ext uri="{0D108BD9-81ED-4DB2-BD59-A6C34878D82A}">
                      <a16:rowId xmlns:a16="http://schemas.microsoft.com/office/drawing/2014/main" val="10000"/>
                    </a:ext>
                  </a:extLst>
                </a:tr>
                <a:tr h="896112">
                  <a:tc>
                    <a:txBody>
                      <a:bodyPr/>
                      <a:lstStyle/>
                      <a:p>
                        <a:pPr>
                          <a:spcAft>
                            <a:spcPts val="0"/>
                          </a:spcAft>
                        </a:pPr>
                        <a:r>
                          <a:rPr sz="2100" b="1">
                            <a:solidFill>
                              <a:srgbClr val="101820"/>
                            </a:solidFill>
                            <a:latin typeface="Calibri"/>
                          </a:rPr>
                          <a:t>Comparație</a:t>
                        </a:r>
                      </a:p>
                    </a:txBody>
                    <a:tcPr marL="182880" marR="137160" marT="109728" marB="91440" anchor="ctr">
                      <a:solidFill>
                        <a:srgbClr val="FFFFFF"/>
                      </a:solidFill>
                    </a:tcPr>
                  </a:tc>
                  <a:tc>
                    <a:txBody>
                      <a:bodyPr/>
                      <a:lstStyle/>
                      <a:p>
                        <a:pPr>
                          <a:spcAft>
                            <a:spcPts val="0"/>
                          </a:spcAft>
                        </a:pPr>
                        <a:r>
                          <a:rPr sz="2100" b="0">
                            <a:solidFill>
                              <a:srgbClr val="101820"/>
                            </a:solidFill>
                            <a:latin typeface="Calibri"/>
                          </a:rPr>
                          <a:t>Aceeași zonă și aceeași metodă</a:t>
                        </a:r>
                      </a:p>
                    </a:txBody>
                    <a:tcPr marL="182880" marR="137160" marT="109728" marB="91440" anchor="ctr">
                      <a:solidFill>
                        <a:srgbClr val="FFFFFF"/>
                      </a:solidFill>
                    </a:tcPr>
                  </a:tc>
                  <a:extLst>
                    <a:ext uri="{0D108BD9-81ED-4DB2-BD59-A6C34878D82A}">
                      <a16:rowId xmlns:a16="http://schemas.microsoft.com/office/drawing/2014/main" val="10001"/>
                    </a:ext>
                  </a:extLst>
                </a:tr>
                <a:tr h="896112">
                  <a:tc>
                    <a:txBody>
                      <a:bodyPr/>
                      <a:lstStyle/>
                      <a:p>
                        <a:pPr>
                          <a:spcAft>
                            <a:spcPts val="0"/>
                          </a:spcAft>
                        </a:pPr>
                        <a:r>
                          <a:rPr sz="2100" b="1">
                            <a:solidFill>
                              <a:srgbClr val="101820"/>
                            </a:solidFill>
                            <a:latin typeface="Calibri"/>
                          </a:rPr>
                          <a:t>Simulare</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Cerere documentată, versiune, seed și rezultate păstrate</a:t>
                        </a:r>
                      </a:p>
                    </a:txBody>
                    <a:tcPr marL="182880" marR="137160" marT="109728" marB="91440" anchor="ctr">
                      <a:solidFill>
                        <a:srgbClr val="EFF4F7"/>
                      </a:solidFill>
                    </a:tcPr>
                  </a:tc>
                  <a:extLst>
                    <a:ext uri="{0D108BD9-81ED-4DB2-BD59-A6C34878D82A}">
                      <a16:rowId xmlns:a16="http://schemas.microsoft.com/office/drawing/2014/main" val="10002"/>
                    </a:ext>
                  </a:extLst>
                </a:tr>
              </a:tbl>
            </a:graphicData>
          </a:graphic>
        </p:graphicFrame>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3206</Words>
  <Application>Microsoft Office PowerPoint</Application>
  <PresentationFormat>Widescreen</PresentationFormat>
  <Paragraphs>330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ARTERIA — pitch de hackathon</dc:title>
  <dc:subject>Prototip de planificare urbană; implementare și ipoteze delimitate</dc:subject>
  <dc:creator>ARION</dc:creator>
  <cp:keywords/>
  <dc:description>generated using python-pptx</dc:description>
  <cp:lastModifiedBy>Iustin Fagateanu</cp:lastModifiedBy>
  <cp:revision>3</cp:revision>
  <dcterms:created xsi:type="dcterms:W3CDTF">2013-01-27T09:14:16Z</dcterms:created>
  <dcterms:modified xsi:type="dcterms:W3CDTF">2026-10-18T05:49:22Z</dcterms:modified>
  <cp:category/>
  <dc:language>ro-RO</dc:language>
</cp:coreProperties>
</file>