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0" y="1097280"/>
            <a:ext cx="8531352" cy="320040"/>
          </a:xfrm>
          <a:prstGeom prst="rect">
            <a:avLst/>
          </a:prstGeom>
          <a:noFill/>
        </p:spPr>
        <p:txBody>
          <a:bodyPr wrap="square" lIns="0" tIns="0" rIns="0" bIns="0">
            <a:spAutoFit/>
          </a:bodyPr>
          <a:lstStyle/>
          <a:p>
            <a:pPr algn="ctr">
              <a:defRPr sz="1300" b="1">
                <a:solidFill>
                  <a:srgbClr val="38BDF8"/>
                </a:solidFill>
                <a:latin typeface="Calibri"/>
              </a:defRPr>
            </a:pPr>
            <a:r>
              <a:t>HACKATHON AI IAȘI 2026 · PITCH PRODUS</a:t>
            </a:r>
          </a:p>
        </p:txBody>
      </p:sp>
      <p:sp>
        <p:nvSpPr>
          <p:cNvPr id="4" name="TextBox 3"/>
          <p:cNvSpPr txBox="1"/>
          <p:nvPr/>
        </p:nvSpPr>
        <p:spPr>
          <a:xfrm>
            <a:off x="1371600" y="1508760"/>
            <a:ext cx="9445752" cy="1005840"/>
          </a:xfrm>
          <a:prstGeom prst="rect">
            <a:avLst/>
          </a:prstGeom>
          <a:noFill/>
        </p:spPr>
        <p:txBody>
          <a:bodyPr wrap="square" lIns="0" tIns="0" rIns="0" bIns="0">
            <a:spAutoFit/>
          </a:bodyPr>
          <a:lstStyle/>
          <a:p>
            <a:pPr algn="ctr">
              <a:defRPr sz="6400" b="1">
                <a:solidFill>
                  <a:srgbClr val="FFFFFF"/>
                </a:solidFill>
                <a:latin typeface="Calibri"/>
              </a:defRPr>
            </a:pPr>
            <a:r>
              <a:t>ARTERIA</a:t>
            </a:r>
          </a:p>
        </p:txBody>
      </p:sp>
      <p:sp>
        <p:nvSpPr>
          <p:cNvPr id="5" name="TextBox 4"/>
          <p:cNvSpPr txBox="1"/>
          <p:nvPr/>
        </p:nvSpPr>
        <p:spPr>
          <a:xfrm>
            <a:off x="1371600" y="2560320"/>
            <a:ext cx="9445752" cy="502920"/>
          </a:xfrm>
          <a:prstGeom prst="rect">
            <a:avLst/>
          </a:prstGeom>
          <a:noFill/>
        </p:spPr>
        <p:txBody>
          <a:bodyPr wrap="square" lIns="0" tIns="0" rIns="0" bIns="0">
            <a:spAutoFit/>
          </a:bodyPr>
          <a:lstStyle/>
          <a:p>
            <a:pPr algn="ctr">
              <a:defRPr sz="2100" b="1">
                <a:solidFill>
                  <a:srgbClr val="BAE6FD"/>
                </a:solidFill>
                <a:latin typeface="Calibri"/>
              </a:defRPr>
            </a:pPr>
            <a:r>
              <a:t>Digital Twin Urban &amp; Simulare Microscopică de Trafic pentru Iași</a:t>
            </a:r>
          </a:p>
        </p:txBody>
      </p:sp>
      <p:sp>
        <p:nvSpPr>
          <p:cNvPr id="6" name="TextBox 5"/>
          <p:cNvSpPr txBox="1"/>
          <p:nvPr/>
        </p:nvSpPr>
        <p:spPr>
          <a:xfrm>
            <a:off x="1828800" y="3154680"/>
            <a:ext cx="8531352" cy="594360"/>
          </a:xfrm>
          <a:prstGeom prst="rect">
            <a:avLst/>
          </a:prstGeom>
          <a:noFill/>
        </p:spPr>
        <p:txBody>
          <a:bodyPr wrap="square" lIns="0" tIns="0" rIns="0" bIns="0">
            <a:spAutoFit/>
          </a:bodyPr>
          <a:lstStyle/>
          <a:p>
            <a:pPr algn="ctr">
              <a:defRPr sz="1400" i="1">
                <a:solidFill>
                  <a:srgbClr val="E2E8F0"/>
                </a:solidFill>
                <a:latin typeface="Calibri"/>
              </a:defRPr>
            </a:pPr>
            <a:r>
              <a:t>„Transformăm deciziile de mobilitate urbană din intuiție în decizii matematice validate în sub 5 secunde, fără a bloca traficul real.”</a:t>
            </a:r>
          </a:p>
        </p:txBody>
      </p:sp>
      <p:sp>
        <p:nvSpPr>
          <p:cNvPr id="7" name="Rounded Rectangle 6"/>
          <p:cNvSpPr/>
          <p:nvPr/>
        </p:nvSpPr>
        <p:spPr>
          <a:xfrm>
            <a:off x="731520" y="4160520"/>
            <a:ext cx="3364992" cy="2011680"/>
          </a:xfrm>
          <a:prstGeom prst="roundRect">
            <a:avLst/>
          </a:prstGeom>
          <a:solidFill>
            <a:srgbClr val="1E2D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160520"/>
            <a:ext cx="3364992" cy="2011680"/>
          </a:xfrm>
          <a:prstGeom prst="rect">
            <a:avLst/>
          </a:prstGeom>
          <a:noFill/>
        </p:spPr>
        <p:txBody>
          <a:bodyPr wrap="square" lIns="164592" tIns="164592" rIns="164592" bIns="164592">
            <a:spAutoFit/>
          </a:bodyPr>
          <a:lstStyle/>
          <a:p>
            <a:pPr algn="l">
              <a:spcAft>
                <a:spcPts val="600"/>
              </a:spcAft>
              <a:defRPr sz="1100" b="1" i="0">
                <a:solidFill>
                  <a:srgbClr val="38BDF8"/>
                </a:solidFill>
                <a:latin typeface="Calibri"/>
              </a:defRPr>
            </a:pPr>
            <a:r>
              <a:t>ECHIPA ARION</a:t>
            </a:r>
          </a:p>
          <a:p>
            <a:pPr algn="l">
              <a:spcAft>
                <a:spcPts val="200"/>
              </a:spcAft>
              <a:defRPr sz="1600" b="1" i="0">
                <a:solidFill>
                  <a:srgbClr val="FFFFFF"/>
                </a:solidFill>
                <a:latin typeface="Calibri"/>
              </a:defRPr>
            </a:pPr>
            <a:r>
              <a:t>Iustin Fagateanu</a:t>
            </a:r>
          </a:p>
          <a:p>
            <a:pPr algn="l">
              <a:spcAft>
                <a:spcPts val="800"/>
              </a:spcAft>
              <a:defRPr sz="1200" b="0" i="0">
                <a:solidFill>
                  <a:srgbClr val="94A3B8"/>
                </a:solidFill>
                <a:latin typeface="Calibri"/>
              </a:defRPr>
            </a:pPr>
            <a:r>
              <a:t>Product &amp; Frontend Lead · Web &amp; Mobile</a:t>
            </a:r>
          </a:p>
          <a:p>
            <a:pPr algn="l">
              <a:spcAft>
                <a:spcPts val="200"/>
              </a:spcAft>
              <a:defRPr sz="1600" b="1" i="0">
                <a:solidFill>
                  <a:srgbClr val="FFFFFF"/>
                </a:solidFill>
                <a:latin typeface="Calibri"/>
              </a:defRPr>
            </a:pPr>
            <a:r>
              <a:t>Alex Pintilie</a:t>
            </a:r>
          </a:p>
          <a:p>
            <a:pPr algn="l">
              <a:spcAft>
                <a:spcPts val="0"/>
              </a:spcAft>
              <a:defRPr sz="1200" b="0" i="0">
                <a:solidFill>
                  <a:srgbClr val="94A3B8"/>
                </a:solidFill>
                <a:latin typeface="Calibri"/>
              </a:defRPr>
            </a:pPr>
            <a:r>
              <a:t>Backend &amp; Simulation Lead · FastAPI &amp; SUMO</a:t>
            </a:r>
          </a:p>
        </p:txBody>
      </p:sp>
      <p:sp>
        <p:nvSpPr>
          <p:cNvPr id="9" name="Rounded Rectangle 8"/>
          <p:cNvSpPr/>
          <p:nvPr/>
        </p:nvSpPr>
        <p:spPr>
          <a:xfrm>
            <a:off x="4407408" y="4160520"/>
            <a:ext cx="3364992" cy="2011680"/>
          </a:xfrm>
          <a:prstGeom prst="roundRect">
            <a:avLst/>
          </a:prstGeom>
          <a:solidFill>
            <a:srgbClr val="1E2D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07408" y="4160520"/>
            <a:ext cx="3364992" cy="2011680"/>
          </a:xfrm>
          <a:prstGeom prst="rect">
            <a:avLst/>
          </a:prstGeom>
          <a:noFill/>
        </p:spPr>
        <p:txBody>
          <a:bodyPr wrap="square" lIns="164592" tIns="164592" rIns="164592" bIns="164592">
            <a:spAutoFit/>
          </a:bodyPr>
          <a:lstStyle/>
          <a:p>
            <a:pPr algn="l">
              <a:spcAft>
                <a:spcPts val="600"/>
              </a:spcAft>
              <a:defRPr sz="1100" b="1" i="0">
                <a:solidFill>
                  <a:srgbClr val="38BDF8"/>
                </a:solidFill>
                <a:latin typeface="Calibri"/>
              </a:defRPr>
            </a:pPr>
            <a:r>
              <a:t>CORIDORUL PILOT</a:t>
            </a:r>
          </a:p>
          <a:p>
            <a:pPr algn="l">
              <a:spcAft>
                <a:spcPts val="400"/>
              </a:spcAft>
              <a:defRPr sz="1600" b="1" i="0">
                <a:solidFill>
                  <a:srgbClr val="FFFFFF"/>
                </a:solidFill>
                <a:latin typeface="Calibri"/>
              </a:defRPr>
            </a:pPr>
            <a:r>
              <a:t>Podu Roșu – Bd. Socola</a:t>
            </a:r>
          </a:p>
          <a:p>
            <a:pPr algn="l">
              <a:spcAft>
                <a:spcPts val="400"/>
              </a:spcAft>
            </a:pPr>
            <a:r>
              <a:rPr sz="1200" b="1">
                <a:solidFill>
                  <a:srgbClr val="FFFFFF"/>
                </a:solidFill>
                <a:latin typeface="Calibri"/>
              </a:rPr>
              <a:t>• Volum de vârf: </a:t>
            </a:r>
            <a:r>
              <a:rPr sz="1200" b="0">
                <a:solidFill>
                  <a:srgbClr val="E2E8F0"/>
                </a:solidFill>
                <a:latin typeface="Calibri"/>
              </a:rPr>
              <a:t>2.180 vehicule/oră măsurat</a:t>
            </a:r>
          </a:p>
          <a:p>
            <a:pPr algn="l">
              <a:spcAft>
                <a:spcPts val="400"/>
              </a:spcAft>
            </a:pPr>
            <a:r>
              <a:rPr sz="1200" b="1">
                <a:solidFill>
                  <a:srgbClr val="FFFFFF"/>
                </a:solidFill>
                <a:latin typeface="Calibri"/>
              </a:rPr>
              <a:t>• Blocaj actual: </a:t>
            </a:r>
            <a:r>
              <a:rPr sz="1200" b="0">
                <a:solidFill>
                  <a:srgbClr val="E2E8F0"/>
                </a:solidFill>
                <a:latin typeface="Calibri"/>
              </a:rPr>
              <a:t>Cozi de 340m, Nivel LOS F</a:t>
            </a:r>
          </a:p>
          <a:p>
            <a:pPr algn="l">
              <a:spcAft>
                <a:spcPts val="0"/>
              </a:spcAft>
            </a:pPr>
            <a:r>
              <a:rPr sz="1200" b="1">
                <a:solidFill>
                  <a:srgbClr val="FFFFFF"/>
                </a:solidFill>
                <a:latin typeface="Calibri"/>
              </a:rPr>
              <a:t>• Rezultat obținut: </a:t>
            </a:r>
            <a:r>
              <a:rPr sz="1200" b="0">
                <a:solidFill>
                  <a:srgbClr val="34D399"/>
                </a:solidFill>
                <a:latin typeface="Calibri"/>
              </a:rPr>
              <a:t>-34% întârziere prin semaforizare</a:t>
            </a:r>
          </a:p>
        </p:txBody>
      </p:sp>
      <p:sp>
        <p:nvSpPr>
          <p:cNvPr id="11" name="Rounded Rectangle 10"/>
          <p:cNvSpPr/>
          <p:nvPr/>
        </p:nvSpPr>
        <p:spPr>
          <a:xfrm>
            <a:off x="8083296" y="4160520"/>
            <a:ext cx="3364992" cy="2011680"/>
          </a:xfrm>
          <a:prstGeom prst="roundRect">
            <a:avLst/>
          </a:prstGeom>
          <a:solidFill>
            <a:srgbClr val="152E4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83296" y="4160520"/>
            <a:ext cx="3364992" cy="2011680"/>
          </a:xfrm>
          <a:prstGeom prst="rect">
            <a:avLst/>
          </a:prstGeom>
          <a:noFill/>
        </p:spPr>
        <p:txBody>
          <a:bodyPr wrap="square" lIns="164592" tIns="164592" rIns="164592" bIns="164592">
            <a:spAutoFit/>
          </a:bodyPr>
          <a:lstStyle/>
          <a:p>
            <a:pPr algn="l">
              <a:spcAft>
                <a:spcPts val="600"/>
              </a:spcAft>
              <a:defRPr sz="1100" b="1" i="0">
                <a:solidFill>
                  <a:srgbClr val="38BDF8"/>
                </a:solidFill>
                <a:latin typeface="Calibri"/>
              </a:defRPr>
            </a:pPr>
            <a:r>
              <a:t>LIVE DEMO &amp; TEHNOLOGIE</a:t>
            </a:r>
          </a:p>
          <a:p>
            <a:pPr algn="l">
              <a:spcAft>
                <a:spcPts val="400"/>
              </a:spcAft>
              <a:defRPr sz="1600" b="1" i="0">
                <a:solidFill>
                  <a:srgbClr val="34D399"/>
                </a:solidFill>
                <a:latin typeface="Calibri"/>
              </a:defRPr>
            </a:pPr>
            <a:r>
              <a:t>arteria.ai-iasi.ro</a:t>
            </a:r>
          </a:p>
          <a:p>
            <a:pPr algn="l">
              <a:spcAft>
                <a:spcPts val="400"/>
              </a:spcAft>
            </a:pPr>
            <a:r>
              <a:rPr sz="1200" b="1">
                <a:solidFill>
                  <a:srgbClr val="FFFFFF"/>
                </a:solidFill>
                <a:latin typeface="Calibri"/>
              </a:rPr>
              <a:t>• Web Dashboard: </a:t>
            </a:r>
            <a:r>
              <a:rPr sz="1200" b="0">
                <a:solidFill>
                  <a:srgbClr val="E2E8F0"/>
                </a:solidFill>
                <a:latin typeface="Calibri"/>
              </a:rPr>
              <a:t>Next.js 14 + MapLibre GL 3D</a:t>
            </a:r>
          </a:p>
          <a:p>
            <a:pPr algn="l">
              <a:spcAft>
                <a:spcPts val="400"/>
              </a:spcAft>
            </a:pPr>
            <a:r>
              <a:rPr sz="1200" b="1">
                <a:solidFill>
                  <a:srgbClr val="FFFFFF"/>
                </a:solidFill>
                <a:latin typeface="Calibri"/>
              </a:rPr>
              <a:t>• Mobile Client: </a:t>
            </a:r>
            <a:r>
              <a:rPr sz="1200" b="0">
                <a:solidFill>
                  <a:srgbClr val="E2E8F0"/>
                </a:solidFill>
                <a:latin typeface="Calibri"/>
              </a:rPr>
              <a:t>Expo / React Native (Android)</a:t>
            </a:r>
          </a:p>
          <a:p>
            <a:pPr algn="l">
              <a:spcAft>
                <a:spcPts val="0"/>
              </a:spcAft>
            </a:pPr>
            <a:r>
              <a:rPr sz="1200" b="1">
                <a:solidFill>
                  <a:srgbClr val="FFFFFF"/>
                </a:solidFill>
                <a:latin typeface="Calibri"/>
              </a:rPr>
              <a:t>• Motor Simulare: </a:t>
            </a:r>
            <a:r>
              <a:rPr sz="1200" b="0">
                <a:solidFill>
                  <a:srgbClr val="E2E8F0"/>
                </a:solidFill>
                <a:latin typeface="Calibri"/>
              </a:rPr>
              <a:t>SUMO 1.28.0 TraCI + Model Webster</a:t>
            </a: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TextBox 1"/>
          <p:cNvSpPr txBox="1"/>
          <p:nvPr/>
        </p:nvSpPr>
        <p:spPr>
          <a:xfrm>
            <a:off x="304800" y="1165225"/>
            <a:ext cx="1184029" cy="101600"/>
          </a:xfrm>
          <a:prstGeom prst="rect">
            <a:avLst/>
          </a:prstGeom>
          <a:noFill/>
        </p:spPr>
        <p:txBody>
          <a:bodyPr wrap="square" lIns="0" tIns="0" rIns="0" bIns="0" anchor="t">
            <a:noAutofit/>
          </a:bodyPr>
          <a:lstStyle/>
          <a:p>
            <a:pPr algn="l">
              <a:lnSpc>
                <a:spcPts val="800"/>
              </a:lnSpc>
            </a:pPr>
            <a:r>
              <a:rPr lang="ro-RO" sz="700" b="0" i="0" spc="70">
                <a:solidFill>
                  <a:srgbClr val="FF5640"/>
                </a:solidFill>
                <a:latin typeface="Fira Code" pitchFamily="49"/>
              </a:rPr>
              <a:t>ÎNAINTE SĂ ÎNCEPI</a:t>
            </a:r>
          </a:p>
        </p:txBody>
      </p:sp>
      <p:sp>
        <p:nvSpPr>
          <p:cNvPr id="3" name="TextBox 2"/>
          <p:cNvSpPr txBox="1"/>
          <p:nvPr/>
        </p:nvSpPr>
        <p:spPr>
          <a:xfrm>
            <a:off x="304800" y="1311275"/>
            <a:ext cx="4480155" cy="393700"/>
          </a:xfrm>
          <a:prstGeom prst="rect">
            <a:avLst/>
          </a:prstGeom>
          <a:noFill/>
        </p:spPr>
        <p:txBody>
          <a:bodyPr wrap="square" lIns="0" tIns="0" rIns="0" bIns="0" anchor="t">
            <a:noAutofit/>
          </a:bodyPr>
          <a:lstStyle/>
          <a:p>
            <a:pPr algn="l">
              <a:lnSpc>
                <a:spcPts val="3100"/>
              </a:lnSpc>
            </a:pPr>
            <a:r>
              <a:rPr lang="ro-RO" sz="2400" b="1" i="0">
                <a:solidFill>
                  <a:srgbClr val="FFFFFF"/>
                </a:solidFill>
                <a:latin typeface="IBM Plex Sans" pitchFamily="34"/>
              </a:rPr>
              <a:t>Trei pași. Apoi e pitch-ul tău.</a:t>
            </a:r>
          </a:p>
        </p:txBody>
      </p:sp>
      <p:sp>
        <p:nvSpPr>
          <p:cNvPr id="4" name="TextBox 3"/>
          <p:cNvSpPr txBox="1"/>
          <p:nvPr/>
        </p:nvSpPr>
        <p:spPr>
          <a:xfrm>
            <a:off x="304800" y="1717675"/>
            <a:ext cx="4676037" cy="158750"/>
          </a:xfrm>
          <a:prstGeom prst="rect">
            <a:avLst/>
          </a:prstGeom>
          <a:noFill/>
        </p:spPr>
        <p:txBody>
          <a:bodyPr wrap="square" lIns="0" tIns="0" rIns="0" bIns="0" anchor="t">
            <a:noAutofit/>
          </a:bodyPr>
          <a:lstStyle/>
          <a:p>
            <a:pPr algn="l">
              <a:lnSpc>
                <a:spcPts val="1250"/>
              </a:lnSpc>
            </a:pPr>
            <a:r>
              <a:rPr lang="ro-RO" sz="1000" b="0" i="0">
                <a:solidFill>
                  <a:srgbClr val="FFFFFF"/>
                </a:solidFill>
                <a:latin typeface="IBM Plex Sans" pitchFamily="34"/>
              </a:rPr>
              <a:t>Slide-urile marcate „Slide N din pitch” le copiezi. Restul te ajută să le umpli.</a:t>
            </a:r>
          </a:p>
        </p:txBody>
      </p:sp>
      <p:sp>
        <p:nvSpPr>
          <p:cNvPr id="5" name="Rectangle 4"/>
          <p:cNvSpPr/>
          <p:nvPr/>
        </p:nvSpPr>
        <p:spPr>
          <a:xfrm>
            <a:off x="304800" y="2041525"/>
            <a:ext cx="3759200" cy="1428750"/>
          </a:xfrm>
          <a:prstGeom prst="rect">
            <a:avLst/>
          </a:prstGeom>
          <a:solidFill>
            <a:srgbClr val="FFFFFF">
              <a:alpha val="5000"/>
            </a:srgbClr>
          </a:solidFill>
          <a:ln w="6350">
            <a:solidFill>
              <a:srgbClr val="FFFFFF">
                <a:alpha val="10000"/>
              </a:srgbClr>
            </a:solidFill>
          </a:ln>
        </p:spPr>
        <p:txBody>
          <a:bodyPr rtlCol="0" anchor="ctr"/>
          <a:lstStyle/>
          <a:p>
            <a:endParaRPr/>
          </a:p>
        </p:txBody>
      </p:sp>
      <p:sp>
        <p:nvSpPr>
          <p:cNvPr id="6" name="Rectangle 5"/>
          <p:cNvSpPr/>
          <p:nvPr/>
        </p:nvSpPr>
        <p:spPr>
          <a:xfrm>
            <a:off x="304800" y="2041525"/>
            <a:ext cx="25400" cy="1428750"/>
          </a:xfrm>
          <a:prstGeom prst="rect">
            <a:avLst/>
          </a:prstGeom>
          <a:solidFill>
            <a:srgbClr val="FF5640"/>
          </a:solidFill>
          <a:ln>
            <a:noFill/>
          </a:ln>
        </p:spPr>
        <p:txBody>
          <a:bodyPr rtlCol="0" anchor="ctr"/>
          <a:lstStyle/>
          <a:p>
            <a:endParaRPr/>
          </a:p>
        </p:txBody>
      </p:sp>
      <p:sp>
        <p:nvSpPr>
          <p:cNvPr id="7" name="Rounded Rectangle 6"/>
          <p:cNvSpPr/>
          <p:nvPr/>
        </p:nvSpPr>
        <p:spPr>
          <a:xfrm>
            <a:off x="482600" y="2200275"/>
            <a:ext cx="246459" cy="228600"/>
          </a:xfrm>
          <a:prstGeom prst="roundRect">
            <a:avLst>
              <a:gd name="adj" fmla="val 50000"/>
            </a:avLst>
          </a:prstGeom>
          <a:solidFill>
            <a:srgbClr val="FF5640"/>
          </a:solidFill>
          <a:ln>
            <a:noFill/>
          </a:ln>
        </p:spPr>
        <p:txBody>
          <a:bodyPr rtlCol="0" anchor="ctr"/>
          <a:lstStyle/>
          <a:p>
            <a:endParaRPr/>
          </a:p>
        </p:txBody>
      </p:sp>
      <p:sp>
        <p:nvSpPr>
          <p:cNvPr id="8" name="TextBox 7"/>
          <p:cNvSpPr txBox="1"/>
          <p:nvPr/>
        </p:nvSpPr>
        <p:spPr>
          <a:xfrm>
            <a:off x="570813" y="2225675"/>
            <a:ext cx="70033" cy="177800"/>
          </a:xfrm>
          <a:prstGeom prst="rect">
            <a:avLst/>
          </a:prstGeom>
          <a:noFill/>
        </p:spPr>
        <p:txBody>
          <a:bodyPr wrap="none" lIns="0" tIns="0" rIns="0" bIns="0" anchor="ctr">
            <a:noAutofit/>
          </a:bodyPr>
          <a:lstStyle/>
          <a:p>
            <a:pPr algn="l">
              <a:lnSpc>
                <a:spcPts val="1150"/>
              </a:lnSpc>
            </a:pPr>
            <a:r>
              <a:rPr lang="ro-RO" sz="900" b="1" i="0">
                <a:solidFill>
                  <a:srgbClr val="FFFFFF"/>
                </a:solidFill>
                <a:latin typeface="IBM Plex Sans" pitchFamily="34"/>
              </a:rPr>
              <a:t>1</a:t>
            </a:r>
          </a:p>
        </p:txBody>
      </p:sp>
      <p:sp>
        <p:nvSpPr>
          <p:cNvPr id="9" name="TextBox 8"/>
          <p:cNvSpPr txBox="1"/>
          <p:nvPr/>
        </p:nvSpPr>
        <p:spPr>
          <a:xfrm>
            <a:off x="805259" y="2212975"/>
            <a:ext cx="1410021"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Copiază structura</a:t>
            </a:r>
          </a:p>
        </p:txBody>
      </p:sp>
      <p:sp>
        <p:nvSpPr>
          <p:cNvPr id="10" name="TextBox 9"/>
          <p:cNvSpPr txBox="1"/>
          <p:nvPr/>
        </p:nvSpPr>
        <p:spPr>
          <a:xfrm>
            <a:off x="482600" y="2525712"/>
            <a:ext cx="3491103" cy="412750"/>
          </a:xfrm>
          <a:prstGeom prst="rect">
            <a:avLst/>
          </a:prstGeom>
          <a:noFill/>
        </p:spPr>
        <p:txBody>
          <a:bodyPr wrap="square" lIns="0" tIns="0" rIns="0" bIns="0" anchor="t">
            <a:noAutofit/>
          </a:bodyPr>
          <a:lstStyle/>
          <a:p>
            <a:pPr algn="l">
              <a:lnSpc>
                <a:spcPts val="1625"/>
              </a:lnSpc>
            </a:pPr>
            <a:r>
              <a:rPr lang="ro-RO" sz="1000" b="0" i="0">
                <a:solidFill>
                  <a:srgbClr val="DEE0E2"/>
                </a:solidFill>
                <a:latin typeface="IBM Plex Sans" pitchFamily="34"/>
              </a:rPr>
              <a:t>Câte un slide al tău pentru fiecare slide-șablon, în aceeași ordine. Zece slide-uri, plus anexele.</a:t>
            </a:r>
          </a:p>
        </p:txBody>
      </p:sp>
      <p:sp>
        <p:nvSpPr>
          <p:cNvPr id="11" name="Rectangle 10"/>
          <p:cNvSpPr/>
          <p:nvPr/>
        </p:nvSpPr>
        <p:spPr>
          <a:xfrm>
            <a:off x="4216400" y="2041525"/>
            <a:ext cx="3759200" cy="1428750"/>
          </a:xfrm>
          <a:prstGeom prst="rect">
            <a:avLst/>
          </a:prstGeom>
          <a:solidFill>
            <a:srgbClr val="FFFFFF">
              <a:alpha val="5000"/>
            </a:srgbClr>
          </a:solidFill>
          <a:ln w="6350">
            <a:solidFill>
              <a:srgbClr val="FFFFFF">
                <a:alpha val="10000"/>
              </a:srgbClr>
            </a:solidFill>
          </a:ln>
        </p:spPr>
        <p:txBody>
          <a:bodyPr rtlCol="0" anchor="ctr"/>
          <a:lstStyle/>
          <a:p>
            <a:endParaRPr/>
          </a:p>
        </p:txBody>
      </p:sp>
      <p:sp>
        <p:nvSpPr>
          <p:cNvPr id="12" name="Rectangle 11"/>
          <p:cNvSpPr/>
          <p:nvPr/>
        </p:nvSpPr>
        <p:spPr>
          <a:xfrm>
            <a:off x="4216400" y="2041525"/>
            <a:ext cx="25400" cy="1428750"/>
          </a:xfrm>
          <a:prstGeom prst="rect">
            <a:avLst/>
          </a:prstGeom>
          <a:solidFill>
            <a:srgbClr val="FF5640"/>
          </a:solidFill>
          <a:ln>
            <a:noFill/>
          </a:ln>
        </p:spPr>
        <p:txBody>
          <a:bodyPr rtlCol="0" anchor="ctr"/>
          <a:lstStyle/>
          <a:p>
            <a:endParaRPr/>
          </a:p>
        </p:txBody>
      </p:sp>
      <p:sp>
        <p:nvSpPr>
          <p:cNvPr id="13" name="Rounded Rectangle 12"/>
          <p:cNvSpPr/>
          <p:nvPr/>
        </p:nvSpPr>
        <p:spPr>
          <a:xfrm>
            <a:off x="4394200" y="2200275"/>
            <a:ext cx="246459" cy="228600"/>
          </a:xfrm>
          <a:prstGeom prst="roundRect">
            <a:avLst>
              <a:gd name="adj" fmla="val 50000"/>
            </a:avLst>
          </a:prstGeom>
          <a:solidFill>
            <a:srgbClr val="FF5640"/>
          </a:solidFill>
          <a:ln>
            <a:noFill/>
          </a:ln>
        </p:spPr>
        <p:txBody>
          <a:bodyPr rtlCol="0" anchor="ctr"/>
          <a:lstStyle/>
          <a:p>
            <a:endParaRPr/>
          </a:p>
        </p:txBody>
      </p:sp>
      <p:sp>
        <p:nvSpPr>
          <p:cNvPr id="14" name="TextBox 13"/>
          <p:cNvSpPr txBox="1"/>
          <p:nvPr/>
        </p:nvSpPr>
        <p:spPr>
          <a:xfrm>
            <a:off x="4482413" y="2225675"/>
            <a:ext cx="70033" cy="177800"/>
          </a:xfrm>
          <a:prstGeom prst="rect">
            <a:avLst/>
          </a:prstGeom>
          <a:noFill/>
        </p:spPr>
        <p:txBody>
          <a:bodyPr wrap="none" lIns="0" tIns="0" rIns="0" bIns="0" anchor="ctr">
            <a:noAutofit/>
          </a:bodyPr>
          <a:lstStyle/>
          <a:p>
            <a:pPr algn="l">
              <a:lnSpc>
                <a:spcPts val="1150"/>
              </a:lnSpc>
            </a:pPr>
            <a:r>
              <a:rPr lang="ro-RO" sz="900" b="1" i="0">
                <a:solidFill>
                  <a:srgbClr val="FFFFFF"/>
                </a:solidFill>
                <a:latin typeface="IBM Plex Sans" pitchFamily="34"/>
              </a:rPr>
              <a:t>2</a:t>
            </a:r>
          </a:p>
        </p:txBody>
      </p:sp>
      <p:sp>
        <p:nvSpPr>
          <p:cNvPr id="15" name="TextBox 14"/>
          <p:cNvSpPr txBox="1"/>
          <p:nvPr/>
        </p:nvSpPr>
        <p:spPr>
          <a:xfrm>
            <a:off x="4716859" y="2212975"/>
            <a:ext cx="1871329"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Înlocuiește parantezele</a:t>
            </a:r>
          </a:p>
        </p:txBody>
      </p:sp>
      <p:sp>
        <p:nvSpPr>
          <p:cNvPr id="16" name="TextBox 15"/>
          <p:cNvSpPr txBox="1"/>
          <p:nvPr/>
        </p:nvSpPr>
        <p:spPr>
          <a:xfrm>
            <a:off x="4394200" y="2525712"/>
            <a:ext cx="3491103" cy="619125"/>
          </a:xfrm>
          <a:prstGeom prst="rect">
            <a:avLst/>
          </a:prstGeom>
          <a:noFill/>
        </p:spPr>
        <p:txBody>
          <a:bodyPr wrap="square" lIns="0" tIns="0" rIns="0" bIns="0" anchor="t">
            <a:noAutofit/>
          </a:bodyPr>
          <a:lstStyle/>
          <a:p>
            <a:pPr algn="l">
              <a:lnSpc>
                <a:spcPts val="1625"/>
              </a:lnSpc>
            </a:pPr>
            <a:r>
              <a:rPr lang="ro-RO" sz="1000" b="0" i="0">
                <a:solidFill>
                  <a:srgbClr val="DEE0E2"/>
                </a:solidFill>
                <a:latin typeface="IBM Plex Sans" pitchFamily="34"/>
              </a:rPr>
              <a:t>Tot ce e între </a:t>
            </a:r>
            <a:r>
              <a:rPr lang="ro-RO" sz="800" b="0" i="0">
                <a:solidFill>
                  <a:srgbClr val="E15140"/>
                </a:solidFill>
                <a:highlight>
                  <a:srgbClr val="3A3941"/>
                </a:highlight>
                <a:latin typeface="Fira Code" pitchFamily="49"/>
              </a:rPr>
              <a:t>[PARANTEZE]</a:t>
            </a:r>
            <a:r>
              <a:rPr lang="ro-RO" sz="1000" b="0" i="0">
                <a:solidFill>
                  <a:srgbClr val="DEE0E2"/>
                </a:solidFill>
                <a:latin typeface="IBM Plex Sans" pitchFamily="34"/>
              </a:rPr>
              <a:t> devine conținutul tău. O paranteză pe care nu o poți completa nu e o problemă de design: e o întrebare la care nu ai încă răspuns.</a:t>
            </a:r>
          </a:p>
        </p:txBody>
      </p:sp>
      <p:sp>
        <p:nvSpPr>
          <p:cNvPr id="17" name="Rectangle 16"/>
          <p:cNvSpPr/>
          <p:nvPr/>
        </p:nvSpPr>
        <p:spPr>
          <a:xfrm>
            <a:off x="8128000" y="2041525"/>
            <a:ext cx="3759200" cy="1428750"/>
          </a:xfrm>
          <a:prstGeom prst="rect">
            <a:avLst/>
          </a:prstGeom>
          <a:solidFill>
            <a:srgbClr val="FFFFFF">
              <a:alpha val="5000"/>
            </a:srgbClr>
          </a:solidFill>
          <a:ln w="6350">
            <a:solidFill>
              <a:srgbClr val="FFFFFF">
                <a:alpha val="10000"/>
              </a:srgbClr>
            </a:solidFill>
          </a:ln>
        </p:spPr>
        <p:txBody>
          <a:bodyPr rtlCol="0" anchor="ctr"/>
          <a:lstStyle/>
          <a:p>
            <a:endParaRPr/>
          </a:p>
        </p:txBody>
      </p:sp>
      <p:sp>
        <p:nvSpPr>
          <p:cNvPr id="18" name="Rectangle 17"/>
          <p:cNvSpPr/>
          <p:nvPr/>
        </p:nvSpPr>
        <p:spPr>
          <a:xfrm>
            <a:off x="8128000" y="2041525"/>
            <a:ext cx="25400" cy="1428750"/>
          </a:xfrm>
          <a:prstGeom prst="rect">
            <a:avLst/>
          </a:prstGeom>
          <a:solidFill>
            <a:srgbClr val="FF5640"/>
          </a:solidFill>
          <a:ln>
            <a:noFill/>
          </a:ln>
        </p:spPr>
        <p:txBody>
          <a:bodyPr rtlCol="0" anchor="ctr"/>
          <a:lstStyle/>
          <a:p>
            <a:endParaRPr/>
          </a:p>
        </p:txBody>
      </p:sp>
      <p:sp>
        <p:nvSpPr>
          <p:cNvPr id="19" name="Rounded Rectangle 18"/>
          <p:cNvSpPr/>
          <p:nvPr/>
        </p:nvSpPr>
        <p:spPr>
          <a:xfrm>
            <a:off x="8305800" y="2200275"/>
            <a:ext cx="246459" cy="228600"/>
          </a:xfrm>
          <a:prstGeom prst="roundRect">
            <a:avLst>
              <a:gd name="adj" fmla="val 50000"/>
            </a:avLst>
          </a:prstGeom>
          <a:solidFill>
            <a:srgbClr val="FF5640"/>
          </a:solidFill>
          <a:ln>
            <a:noFill/>
          </a:ln>
        </p:spPr>
        <p:txBody>
          <a:bodyPr rtlCol="0" anchor="ctr"/>
          <a:lstStyle/>
          <a:p>
            <a:endParaRPr/>
          </a:p>
        </p:txBody>
      </p:sp>
      <p:sp>
        <p:nvSpPr>
          <p:cNvPr id="20" name="TextBox 19"/>
          <p:cNvSpPr txBox="1"/>
          <p:nvPr/>
        </p:nvSpPr>
        <p:spPr>
          <a:xfrm>
            <a:off x="8394013" y="2225675"/>
            <a:ext cx="70033" cy="177800"/>
          </a:xfrm>
          <a:prstGeom prst="rect">
            <a:avLst/>
          </a:prstGeom>
          <a:noFill/>
        </p:spPr>
        <p:txBody>
          <a:bodyPr wrap="none" lIns="0" tIns="0" rIns="0" bIns="0" anchor="ctr">
            <a:noAutofit/>
          </a:bodyPr>
          <a:lstStyle/>
          <a:p>
            <a:pPr algn="l">
              <a:lnSpc>
                <a:spcPts val="1150"/>
              </a:lnSpc>
            </a:pPr>
            <a:r>
              <a:rPr lang="ro-RO" sz="900" b="1" i="0">
                <a:solidFill>
                  <a:srgbClr val="FFFFFF"/>
                </a:solidFill>
                <a:latin typeface="IBM Plex Sans" pitchFamily="34"/>
              </a:rPr>
              <a:t>3</a:t>
            </a:r>
          </a:p>
        </p:txBody>
      </p:sp>
      <p:sp>
        <p:nvSpPr>
          <p:cNvPr id="21" name="TextBox 20"/>
          <p:cNvSpPr txBox="1"/>
          <p:nvPr/>
        </p:nvSpPr>
        <p:spPr>
          <a:xfrm>
            <a:off x="8628459" y="2212975"/>
            <a:ext cx="1205889"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Șterge ghidajul</a:t>
            </a:r>
          </a:p>
        </p:txBody>
      </p:sp>
      <p:sp>
        <p:nvSpPr>
          <p:cNvPr id="22" name="TextBox 21"/>
          <p:cNvSpPr txBox="1"/>
          <p:nvPr/>
        </p:nvSpPr>
        <p:spPr>
          <a:xfrm>
            <a:off x="8305800" y="2525712"/>
            <a:ext cx="3491103" cy="412750"/>
          </a:xfrm>
          <a:prstGeom prst="rect">
            <a:avLst/>
          </a:prstGeom>
          <a:noFill/>
        </p:spPr>
        <p:txBody>
          <a:bodyPr wrap="square" lIns="0" tIns="0" rIns="0" bIns="0" anchor="t">
            <a:noAutofit/>
          </a:bodyPr>
          <a:lstStyle/>
          <a:p>
            <a:pPr algn="l">
              <a:lnSpc>
                <a:spcPts val="1625"/>
              </a:lnSpc>
            </a:pPr>
            <a:r>
              <a:rPr lang="ro-RO" sz="1000" b="0" i="0">
                <a:solidFill>
                  <a:srgbClr val="DEE0E2"/>
                </a:solidFill>
                <a:latin typeface="IBM Plex Sans" pitchFamily="34"/>
              </a:rPr>
              <a:t>Coloana din dreapta e pentru tine, nu pentru juriu. Pe slide-ul tău rămâne doar ce e în chenarul punctat.</a:t>
            </a:r>
          </a:p>
        </p:txBody>
      </p:sp>
      <p:sp>
        <p:nvSpPr>
          <p:cNvPr id="23" name="Rounded Rectangle 22"/>
          <p:cNvSpPr/>
          <p:nvPr/>
        </p:nvSpPr>
        <p:spPr>
          <a:xfrm>
            <a:off x="304800" y="3673475"/>
            <a:ext cx="2819400" cy="596900"/>
          </a:xfrm>
          <a:prstGeom prst="roundRect">
            <a:avLst>
              <a:gd name="adj" fmla="val 12765"/>
            </a:avLst>
          </a:prstGeom>
          <a:solidFill>
            <a:srgbClr val="FFFFFF">
              <a:alpha val="4000"/>
            </a:srgbClr>
          </a:solidFill>
          <a:ln w="6350">
            <a:solidFill>
              <a:srgbClr val="FFFFFF">
                <a:alpha val="8000"/>
              </a:srgbClr>
            </a:solidFill>
          </a:ln>
        </p:spPr>
        <p:txBody>
          <a:bodyPr rtlCol="0" anchor="ctr"/>
          <a:lstStyle/>
          <a:p>
            <a:endParaRPr/>
          </a:p>
        </p:txBody>
      </p:sp>
      <p:sp>
        <p:nvSpPr>
          <p:cNvPr id="24" name="TextBox 23"/>
          <p:cNvSpPr txBox="1"/>
          <p:nvPr/>
        </p:nvSpPr>
        <p:spPr>
          <a:xfrm>
            <a:off x="450155" y="3806825"/>
            <a:ext cx="671822" cy="120650"/>
          </a:xfrm>
          <a:prstGeom prst="rect">
            <a:avLst/>
          </a:prstGeom>
          <a:noFill/>
        </p:spPr>
        <p:txBody>
          <a:bodyPr wrap="square" lIns="0" tIns="0" rIns="0" bIns="0" anchor="t">
            <a:noAutofit/>
          </a:bodyPr>
          <a:lstStyle/>
          <a:p>
            <a:pPr algn="l">
              <a:lnSpc>
                <a:spcPts val="950"/>
              </a:lnSpc>
            </a:pPr>
            <a:r>
              <a:rPr lang="ro-RO" sz="700" b="0" i="0">
                <a:solidFill>
                  <a:srgbClr val="FF5640"/>
                </a:solidFill>
                <a:highlight>
                  <a:srgbClr val="38373F"/>
                </a:highlight>
                <a:latin typeface="Fira Code" pitchFamily="49"/>
              </a:rPr>
              <a:t>[PARANTEZĂ]</a:t>
            </a:r>
          </a:p>
        </p:txBody>
      </p:sp>
      <p:sp>
        <p:nvSpPr>
          <p:cNvPr id="25" name="TextBox 24"/>
          <p:cNvSpPr txBox="1"/>
          <p:nvPr/>
        </p:nvSpPr>
        <p:spPr>
          <a:xfrm>
            <a:off x="412750" y="3997325"/>
            <a:ext cx="948285" cy="146050"/>
          </a:xfrm>
          <a:prstGeom prst="rect">
            <a:avLst/>
          </a:prstGeom>
          <a:noFill/>
        </p:spPr>
        <p:txBody>
          <a:bodyPr wrap="square" lIns="0" tIns="0" rIns="0" bIns="0" anchor="t">
            <a:noAutofit/>
          </a:bodyPr>
          <a:lstStyle/>
          <a:p>
            <a:pPr algn="l">
              <a:lnSpc>
                <a:spcPts val="1150"/>
              </a:lnSpc>
            </a:pPr>
            <a:r>
              <a:rPr lang="ro-RO" sz="900" b="0" i="0">
                <a:solidFill>
                  <a:srgbClr val="DDE0E2"/>
                </a:solidFill>
                <a:latin typeface="IBM Plex Sans" pitchFamily="34"/>
              </a:rPr>
              <a:t>ce completezi tu</a:t>
            </a:r>
          </a:p>
        </p:txBody>
      </p:sp>
      <p:sp>
        <p:nvSpPr>
          <p:cNvPr id="26" name="Rounded Rectangle 25"/>
          <p:cNvSpPr/>
          <p:nvPr/>
        </p:nvSpPr>
        <p:spPr>
          <a:xfrm>
            <a:off x="3225800" y="3673475"/>
            <a:ext cx="2819400" cy="596900"/>
          </a:xfrm>
          <a:prstGeom prst="roundRect">
            <a:avLst>
              <a:gd name="adj" fmla="val 12765"/>
            </a:avLst>
          </a:prstGeom>
          <a:solidFill>
            <a:srgbClr val="2ECC71">
              <a:alpha val="6000"/>
            </a:srgbClr>
          </a:solidFill>
          <a:ln w="6350">
            <a:solidFill>
              <a:srgbClr val="2ECC71">
                <a:alpha val="25000"/>
              </a:srgbClr>
            </a:solidFill>
          </a:ln>
        </p:spPr>
        <p:txBody>
          <a:bodyPr rtlCol="0" anchor="ctr"/>
          <a:lstStyle/>
          <a:p>
            <a:endParaRPr/>
          </a:p>
        </p:txBody>
      </p:sp>
      <p:pic>
        <p:nvPicPr>
          <p:cNvPr id="27" name="Picture 26" descr="slide2_cap0.png"/>
          <p:cNvPicPr>
            <a:picLocks noChangeAspect="1"/>
          </p:cNvPicPr>
          <p:nvPr/>
        </p:nvPicPr>
        <p:blipFill>
          <a:blip r:embed="rId2"/>
          <a:stretch>
            <a:fillRect/>
          </a:stretch>
        </p:blipFill>
        <p:spPr>
          <a:xfrm>
            <a:off x="3333750" y="3810000"/>
            <a:ext cx="101600" cy="101600"/>
          </a:xfrm>
          <a:prstGeom prst="rect">
            <a:avLst/>
          </a:prstGeom>
        </p:spPr>
      </p:pic>
      <p:sp>
        <p:nvSpPr>
          <p:cNvPr id="28" name="TextBox 27"/>
          <p:cNvSpPr txBox="1"/>
          <p:nvPr/>
        </p:nvSpPr>
        <p:spPr>
          <a:xfrm>
            <a:off x="3486150" y="3794125"/>
            <a:ext cx="772335" cy="127000"/>
          </a:xfrm>
          <a:prstGeom prst="rect">
            <a:avLst/>
          </a:prstGeom>
          <a:noFill/>
        </p:spPr>
        <p:txBody>
          <a:bodyPr wrap="square" lIns="0" tIns="0" rIns="0" bIns="0" anchor="t">
            <a:noAutofit/>
          </a:bodyPr>
          <a:lstStyle/>
          <a:p>
            <a:pPr algn="l">
              <a:lnSpc>
                <a:spcPts val="1000"/>
              </a:lnSpc>
            </a:pPr>
            <a:r>
              <a:rPr lang="ro-RO" sz="800" b="1" i="0">
                <a:solidFill>
                  <a:srgbClr val="2ECC71"/>
                </a:solidFill>
                <a:latin typeface="IBM Plex Sans" pitchFamily="34"/>
              </a:rPr>
              <a:t>Ce menționezi</a:t>
            </a:r>
          </a:p>
        </p:txBody>
      </p:sp>
      <p:sp>
        <p:nvSpPr>
          <p:cNvPr id="29" name="TextBox 28"/>
          <p:cNvSpPr txBox="1"/>
          <p:nvPr/>
        </p:nvSpPr>
        <p:spPr>
          <a:xfrm>
            <a:off x="3333750" y="3997325"/>
            <a:ext cx="1528858" cy="146050"/>
          </a:xfrm>
          <a:prstGeom prst="rect">
            <a:avLst/>
          </a:prstGeom>
          <a:noFill/>
        </p:spPr>
        <p:txBody>
          <a:bodyPr wrap="square" lIns="0" tIns="0" rIns="0" bIns="0" anchor="t">
            <a:noAutofit/>
          </a:bodyPr>
          <a:lstStyle/>
          <a:p>
            <a:pPr algn="l">
              <a:lnSpc>
                <a:spcPts val="1150"/>
              </a:lnSpc>
            </a:pPr>
            <a:r>
              <a:rPr lang="ro-RO" sz="900" b="0" i="0">
                <a:solidFill>
                  <a:srgbClr val="DCE0E1"/>
                </a:solidFill>
                <a:latin typeface="IBM Plex Sans" pitchFamily="34"/>
              </a:rPr>
              <a:t>semn că slide-ul e complet</a:t>
            </a:r>
          </a:p>
        </p:txBody>
      </p:sp>
      <p:sp>
        <p:nvSpPr>
          <p:cNvPr id="30" name="Rounded Rectangle 29"/>
          <p:cNvSpPr/>
          <p:nvPr/>
        </p:nvSpPr>
        <p:spPr>
          <a:xfrm>
            <a:off x="6146800" y="3673475"/>
            <a:ext cx="2819400" cy="596900"/>
          </a:xfrm>
          <a:prstGeom prst="roundRect">
            <a:avLst>
              <a:gd name="adj" fmla="val 12765"/>
            </a:avLst>
          </a:prstGeom>
          <a:solidFill>
            <a:srgbClr val="FFD700">
              <a:alpha val="6000"/>
            </a:srgbClr>
          </a:solidFill>
          <a:ln w="6350">
            <a:solidFill>
              <a:srgbClr val="FFD700">
                <a:alpha val="25000"/>
              </a:srgbClr>
            </a:solidFill>
          </a:ln>
        </p:spPr>
        <p:txBody>
          <a:bodyPr rtlCol="0" anchor="ctr"/>
          <a:lstStyle/>
          <a:p>
            <a:endParaRPr/>
          </a:p>
        </p:txBody>
      </p:sp>
      <p:pic>
        <p:nvPicPr>
          <p:cNvPr id="31" name="Picture 30" descr="slide2_cap1.png"/>
          <p:cNvPicPr>
            <a:picLocks noChangeAspect="1"/>
          </p:cNvPicPr>
          <p:nvPr/>
        </p:nvPicPr>
        <p:blipFill>
          <a:blip r:embed="rId3"/>
          <a:stretch>
            <a:fillRect/>
          </a:stretch>
        </p:blipFill>
        <p:spPr>
          <a:xfrm>
            <a:off x="6254750" y="3810000"/>
            <a:ext cx="101600" cy="101600"/>
          </a:xfrm>
          <a:prstGeom prst="rect">
            <a:avLst/>
          </a:prstGeom>
        </p:spPr>
      </p:pic>
      <p:sp>
        <p:nvSpPr>
          <p:cNvPr id="32" name="TextBox 31"/>
          <p:cNvSpPr txBox="1"/>
          <p:nvPr/>
        </p:nvSpPr>
        <p:spPr>
          <a:xfrm>
            <a:off x="6407150" y="3794125"/>
            <a:ext cx="750796" cy="127000"/>
          </a:xfrm>
          <a:prstGeom prst="rect">
            <a:avLst/>
          </a:prstGeom>
          <a:noFill/>
        </p:spPr>
        <p:txBody>
          <a:bodyPr wrap="square" lIns="0" tIns="0" rIns="0" bIns="0" anchor="t">
            <a:noAutofit/>
          </a:bodyPr>
          <a:lstStyle/>
          <a:p>
            <a:pPr algn="l">
              <a:lnSpc>
                <a:spcPts val="1000"/>
              </a:lnSpc>
            </a:pPr>
            <a:r>
              <a:rPr lang="ro-RO" sz="800" b="1" i="0">
                <a:solidFill>
                  <a:srgbClr val="FFD700"/>
                </a:solidFill>
                <a:latin typeface="IBM Plex Sans" pitchFamily="34"/>
              </a:rPr>
              <a:t>Juriul verifică</a:t>
            </a:r>
          </a:p>
        </p:txBody>
      </p:sp>
      <p:sp>
        <p:nvSpPr>
          <p:cNvPr id="33" name="TextBox 32"/>
          <p:cNvSpPr txBox="1"/>
          <p:nvPr/>
        </p:nvSpPr>
        <p:spPr>
          <a:xfrm>
            <a:off x="6254750" y="3997325"/>
            <a:ext cx="1650159" cy="146050"/>
          </a:xfrm>
          <a:prstGeom prst="rect">
            <a:avLst/>
          </a:prstGeom>
          <a:noFill/>
        </p:spPr>
        <p:txBody>
          <a:bodyPr wrap="square" lIns="0" tIns="0" rIns="0" bIns="0" anchor="t">
            <a:noAutofit/>
          </a:bodyPr>
          <a:lstStyle/>
          <a:p>
            <a:pPr algn="l">
              <a:lnSpc>
                <a:spcPts val="1150"/>
              </a:lnSpc>
            </a:pPr>
            <a:r>
              <a:rPr lang="ro-RO" sz="900" b="0" i="0">
                <a:solidFill>
                  <a:srgbClr val="DEE0E0"/>
                </a:solidFill>
                <a:latin typeface="IBM Plex Sans" pitchFamily="34"/>
              </a:rPr>
              <a:t>întrebarea pe care o vei primi</a:t>
            </a:r>
          </a:p>
        </p:txBody>
      </p:sp>
      <p:sp>
        <p:nvSpPr>
          <p:cNvPr id="34" name="Rounded Rectangle 33"/>
          <p:cNvSpPr/>
          <p:nvPr/>
        </p:nvSpPr>
        <p:spPr>
          <a:xfrm>
            <a:off x="9067800" y="3673475"/>
            <a:ext cx="2819400" cy="596900"/>
          </a:xfrm>
          <a:prstGeom prst="roundRect">
            <a:avLst>
              <a:gd name="adj" fmla="val 12765"/>
            </a:avLst>
          </a:prstGeom>
          <a:solidFill>
            <a:srgbClr val="E74C3C">
              <a:alpha val="6000"/>
            </a:srgbClr>
          </a:solidFill>
          <a:ln w="6350">
            <a:solidFill>
              <a:srgbClr val="E74C3C">
                <a:alpha val="25000"/>
              </a:srgbClr>
            </a:solidFill>
          </a:ln>
        </p:spPr>
        <p:txBody>
          <a:bodyPr rtlCol="0" anchor="ctr"/>
          <a:lstStyle/>
          <a:p>
            <a:endParaRPr/>
          </a:p>
        </p:txBody>
      </p:sp>
      <p:pic>
        <p:nvPicPr>
          <p:cNvPr id="35" name="Picture 34" descr="slide2_cap2.png"/>
          <p:cNvPicPr>
            <a:picLocks noChangeAspect="1"/>
          </p:cNvPicPr>
          <p:nvPr/>
        </p:nvPicPr>
        <p:blipFill>
          <a:blip r:embed="rId4"/>
          <a:stretch>
            <a:fillRect/>
          </a:stretch>
        </p:blipFill>
        <p:spPr>
          <a:xfrm>
            <a:off x="9175750" y="3816350"/>
            <a:ext cx="101600" cy="88900"/>
          </a:xfrm>
          <a:prstGeom prst="rect">
            <a:avLst/>
          </a:prstGeom>
        </p:spPr>
      </p:pic>
      <p:sp>
        <p:nvSpPr>
          <p:cNvPr id="36" name="TextBox 35"/>
          <p:cNvSpPr txBox="1"/>
          <p:nvPr/>
        </p:nvSpPr>
        <p:spPr>
          <a:xfrm>
            <a:off x="9328150" y="3794125"/>
            <a:ext cx="881741" cy="127000"/>
          </a:xfrm>
          <a:prstGeom prst="rect">
            <a:avLst/>
          </a:prstGeom>
          <a:noFill/>
        </p:spPr>
        <p:txBody>
          <a:bodyPr wrap="square" lIns="0" tIns="0" rIns="0" bIns="0" anchor="t">
            <a:noAutofit/>
          </a:bodyPr>
          <a:lstStyle/>
          <a:p>
            <a:pPr algn="l">
              <a:lnSpc>
                <a:spcPts val="1000"/>
              </a:lnSpc>
            </a:pPr>
            <a:r>
              <a:rPr lang="ro-RO" sz="800" b="1" i="0">
                <a:solidFill>
                  <a:srgbClr val="E74C3C"/>
                </a:solidFill>
                <a:latin typeface="IBM Plex Sans" pitchFamily="34"/>
              </a:rPr>
              <a:t>Greșeala clasică</a:t>
            </a:r>
          </a:p>
        </p:txBody>
      </p:sp>
      <p:sp>
        <p:nvSpPr>
          <p:cNvPr id="37" name="TextBox 36"/>
          <p:cNvSpPr txBox="1"/>
          <p:nvPr/>
        </p:nvSpPr>
        <p:spPr>
          <a:xfrm>
            <a:off x="9175750" y="3997325"/>
            <a:ext cx="1048798" cy="146050"/>
          </a:xfrm>
          <a:prstGeom prst="rect">
            <a:avLst/>
          </a:prstGeom>
          <a:noFill/>
        </p:spPr>
        <p:txBody>
          <a:bodyPr wrap="square" lIns="0" tIns="0" rIns="0" bIns="0" anchor="t">
            <a:noAutofit/>
          </a:bodyPr>
          <a:lstStyle/>
          <a:p>
            <a:pPr algn="l">
              <a:lnSpc>
                <a:spcPts val="1150"/>
              </a:lnSpc>
            </a:pPr>
            <a:r>
              <a:rPr lang="ro-RO" sz="900" b="0" i="0">
                <a:solidFill>
                  <a:srgbClr val="DEDFE1"/>
                </a:solidFill>
                <a:latin typeface="IBM Plex Sans" pitchFamily="34"/>
              </a:rPr>
              <a:t>ce te costă puncte</a:t>
            </a:r>
          </a:p>
        </p:txBody>
      </p:sp>
      <p:sp>
        <p:nvSpPr>
          <p:cNvPr id="38" name="Rectangle 37"/>
          <p:cNvSpPr/>
          <p:nvPr/>
        </p:nvSpPr>
        <p:spPr>
          <a:xfrm>
            <a:off x="304800" y="4473575"/>
            <a:ext cx="11582400" cy="635000"/>
          </a:xfrm>
          <a:prstGeom prst="rect">
            <a:avLst/>
          </a:prstGeom>
          <a:solidFill>
            <a:srgbClr val="FFFFFF">
              <a:alpha val="5000"/>
            </a:srgbClr>
          </a:solidFill>
          <a:ln w="6350">
            <a:solidFill>
              <a:srgbClr val="FFFFFF">
                <a:alpha val="10000"/>
              </a:srgbClr>
            </a:solidFill>
          </a:ln>
        </p:spPr>
        <p:txBody>
          <a:bodyPr rtlCol="0" anchor="ctr"/>
          <a:lstStyle/>
          <a:p>
            <a:endParaRPr/>
          </a:p>
        </p:txBody>
      </p:sp>
      <p:sp>
        <p:nvSpPr>
          <p:cNvPr id="39" name="Rectangle 38"/>
          <p:cNvSpPr/>
          <p:nvPr/>
        </p:nvSpPr>
        <p:spPr>
          <a:xfrm>
            <a:off x="304800" y="4473575"/>
            <a:ext cx="25400" cy="635000"/>
          </a:xfrm>
          <a:prstGeom prst="rect">
            <a:avLst/>
          </a:prstGeom>
          <a:solidFill>
            <a:srgbClr val="FFD700"/>
          </a:solidFill>
          <a:ln>
            <a:noFill/>
          </a:ln>
        </p:spPr>
        <p:txBody>
          <a:bodyPr rtlCol="0" anchor="ctr"/>
          <a:lstStyle/>
          <a:p>
            <a:endParaRPr/>
          </a:p>
        </p:txBody>
      </p:sp>
      <p:pic>
        <p:nvPicPr>
          <p:cNvPr id="40" name="Picture 39" descr="slide2_cap3.png"/>
          <p:cNvPicPr>
            <a:picLocks noChangeAspect="1"/>
          </p:cNvPicPr>
          <p:nvPr/>
        </p:nvPicPr>
        <p:blipFill>
          <a:blip r:embed="rId5"/>
          <a:stretch>
            <a:fillRect/>
          </a:stretch>
        </p:blipFill>
        <p:spPr>
          <a:xfrm>
            <a:off x="457200" y="4610100"/>
            <a:ext cx="127000" cy="101600"/>
          </a:xfrm>
          <a:prstGeom prst="rect">
            <a:avLst/>
          </a:prstGeom>
        </p:spPr>
      </p:pic>
      <p:sp>
        <p:nvSpPr>
          <p:cNvPr id="41" name="TextBox 40"/>
          <p:cNvSpPr txBox="1"/>
          <p:nvPr/>
        </p:nvSpPr>
        <p:spPr>
          <a:xfrm>
            <a:off x="635000" y="4613275"/>
            <a:ext cx="2118110" cy="88900"/>
          </a:xfrm>
          <a:prstGeom prst="rect">
            <a:avLst/>
          </a:prstGeom>
          <a:noFill/>
        </p:spPr>
        <p:txBody>
          <a:bodyPr wrap="square" lIns="0" tIns="0" rIns="0" bIns="0" anchor="t">
            <a:noAutofit/>
          </a:bodyPr>
          <a:lstStyle/>
          <a:p>
            <a:pPr algn="l">
              <a:lnSpc>
                <a:spcPts val="700"/>
              </a:lnSpc>
            </a:pPr>
            <a:r>
              <a:rPr lang="ro-RO" sz="600" b="0" i="0" spc="60">
                <a:solidFill>
                  <a:srgbClr val="FFD700"/>
                </a:solidFill>
                <a:latin typeface="Fira Code" pitchFamily="49"/>
              </a:rPr>
              <a:t>TREI REGULI PENTRU TOATE SLIDE-URILE</a:t>
            </a:r>
          </a:p>
        </p:txBody>
      </p:sp>
      <p:pic>
        <p:nvPicPr>
          <p:cNvPr id="42" name="Picture 41" descr="slide2_cap4.png"/>
          <p:cNvPicPr>
            <a:picLocks noChangeAspect="1"/>
          </p:cNvPicPr>
          <p:nvPr/>
        </p:nvPicPr>
        <p:blipFill>
          <a:blip r:embed="rId6"/>
          <a:stretch>
            <a:fillRect/>
          </a:stretch>
        </p:blipFill>
        <p:spPr>
          <a:xfrm>
            <a:off x="457200" y="4870450"/>
            <a:ext cx="88900" cy="63500"/>
          </a:xfrm>
          <a:prstGeom prst="rect">
            <a:avLst/>
          </a:prstGeom>
        </p:spPr>
      </p:pic>
      <p:sp>
        <p:nvSpPr>
          <p:cNvPr id="43" name="TextBox 42"/>
          <p:cNvSpPr txBox="1"/>
          <p:nvPr/>
        </p:nvSpPr>
        <p:spPr>
          <a:xfrm>
            <a:off x="622300" y="4791075"/>
            <a:ext cx="1464243" cy="158750"/>
          </a:xfrm>
          <a:prstGeom prst="rect">
            <a:avLst/>
          </a:prstGeom>
          <a:noFill/>
        </p:spPr>
        <p:txBody>
          <a:bodyPr wrap="square" lIns="0" tIns="0" rIns="0" bIns="0" anchor="t">
            <a:noAutofit/>
          </a:bodyPr>
          <a:lstStyle/>
          <a:p>
            <a:pPr algn="l">
              <a:lnSpc>
                <a:spcPts val="1250"/>
              </a:lnSpc>
            </a:pPr>
            <a:r>
              <a:rPr lang="ro-RO" sz="1000" b="0" i="0">
                <a:solidFill>
                  <a:srgbClr val="FFFFFF"/>
                </a:solidFill>
                <a:latin typeface="IBM Plex Sans" pitchFamily="34"/>
              </a:rPr>
              <a:t>O singură idee pe slide.</a:t>
            </a:r>
          </a:p>
        </p:txBody>
      </p:sp>
      <p:pic>
        <p:nvPicPr>
          <p:cNvPr id="44" name="Picture 43" descr="slide2_cap4.png"/>
          <p:cNvPicPr>
            <a:picLocks noChangeAspect="1"/>
          </p:cNvPicPr>
          <p:nvPr/>
        </p:nvPicPr>
        <p:blipFill>
          <a:blip r:embed="rId6"/>
          <a:stretch>
            <a:fillRect/>
          </a:stretch>
        </p:blipFill>
        <p:spPr>
          <a:xfrm>
            <a:off x="4273550" y="4870450"/>
            <a:ext cx="88900" cy="63500"/>
          </a:xfrm>
          <a:prstGeom prst="rect">
            <a:avLst/>
          </a:prstGeom>
        </p:spPr>
      </p:pic>
      <p:sp>
        <p:nvSpPr>
          <p:cNvPr id="45" name="TextBox 44"/>
          <p:cNvSpPr txBox="1"/>
          <p:nvPr/>
        </p:nvSpPr>
        <p:spPr>
          <a:xfrm>
            <a:off x="4438650" y="4791075"/>
            <a:ext cx="2283345" cy="158750"/>
          </a:xfrm>
          <a:prstGeom prst="rect">
            <a:avLst/>
          </a:prstGeom>
          <a:noFill/>
        </p:spPr>
        <p:txBody>
          <a:bodyPr wrap="square" lIns="0" tIns="0" rIns="0" bIns="0" anchor="t">
            <a:noAutofit/>
          </a:bodyPr>
          <a:lstStyle/>
          <a:p>
            <a:pPr algn="l">
              <a:lnSpc>
                <a:spcPts val="1250"/>
              </a:lnSpc>
            </a:pPr>
            <a:r>
              <a:rPr lang="ro-RO" sz="1000" b="0" i="0">
                <a:solidFill>
                  <a:srgbClr val="FFFFFF"/>
                </a:solidFill>
                <a:latin typeface="IBM Plex Sans" pitchFamily="34"/>
              </a:rPr>
              <a:t>Orice cifră are lângă ea sursa și anul.</a:t>
            </a:r>
          </a:p>
        </p:txBody>
      </p:sp>
      <p:pic>
        <p:nvPicPr>
          <p:cNvPr id="46" name="Picture 45" descr="slide2_cap4.png"/>
          <p:cNvPicPr>
            <a:picLocks noChangeAspect="1"/>
          </p:cNvPicPr>
          <p:nvPr/>
        </p:nvPicPr>
        <p:blipFill>
          <a:blip r:embed="rId6"/>
          <a:stretch>
            <a:fillRect/>
          </a:stretch>
        </p:blipFill>
        <p:spPr>
          <a:xfrm>
            <a:off x="8089900" y="4870450"/>
            <a:ext cx="88900" cy="63500"/>
          </a:xfrm>
          <a:prstGeom prst="rect">
            <a:avLst/>
          </a:prstGeom>
        </p:spPr>
      </p:pic>
      <p:sp>
        <p:nvSpPr>
          <p:cNvPr id="47" name="TextBox 46"/>
          <p:cNvSpPr txBox="1"/>
          <p:nvPr/>
        </p:nvSpPr>
        <p:spPr>
          <a:xfrm>
            <a:off x="8255000" y="4791075"/>
            <a:ext cx="2004096" cy="158750"/>
          </a:xfrm>
          <a:prstGeom prst="rect">
            <a:avLst/>
          </a:prstGeom>
          <a:noFill/>
        </p:spPr>
        <p:txBody>
          <a:bodyPr wrap="square" lIns="0" tIns="0" rIns="0" bIns="0" anchor="t">
            <a:noAutofit/>
          </a:bodyPr>
          <a:lstStyle/>
          <a:p>
            <a:pPr algn="l">
              <a:lnSpc>
                <a:spcPts val="1250"/>
              </a:lnSpc>
            </a:pPr>
            <a:r>
              <a:rPr lang="ro-RO" sz="1000" b="0" i="0">
                <a:solidFill>
                  <a:srgbClr val="FFFFFF"/>
                </a:solidFill>
                <a:latin typeface="IBM Plex Sans" pitchFamily="34"/>
              </a:rPr>
              <a:t>Textul se citește din fundul sălii.</a:t>
            </a:r>
          </a:p>
        </p:txBody>
      </p:sp>
      <p:sp>
        <p:nvSpPr>
          <p:cNvPr id="48" name="Rounded Rectangle 47"/>
          <p:cNvSpPr/>
          <p:nvPr/>
        </p:nvSpPr>
        <p:spPr>
          <a:xfrm>
            <a:off x="304800" y="5311775"/>
            <a:ext cx="11582400" cy="393700"/>
          </a:xfrm>
          <a:prstGeom prst="roundRect">
            <a:avLst>
              <a:gd name="adj" fmla="val 12903"/>
            </a:avLst>
          </a:prstGeom>
          <a:solidFill>
            <a:srgbClr val="FF5640">
              <a:alpha val="8000"/>
            </a:srgbClr>
          </a:solidFill>
          <a:ln w="6350">
            <a:solidFill>
              <a:srgbClr val="FF5640">
                <a:alpha val="30000"/>
              </a:srgbClr>
            </a:solidFill>
          </a:ln>
        </p:spPr>
        <p:txBody>
          <a:bodyPr rtlCol="0" anchor="ctr"/>
          <a:lstStyle/>
          <a:p>
            <a:endParaRPr/>
          </a:p>
        </p:txBody>
      </p:sp>
      <p:sp>
        <p:nvSpPr>
          <p:cNvPr id="49" name="TextBox 48"/>
          <p:cNvSpPr txBox="1"/>
          <p:nvPr/>
        </p:nvSpPr>
        <p:spPr>
          <a:xfrm>
            <a:off x="195453" y="5419725"/>
            <a:ext cx="11801094" cy="177800"/>
          </a:xfrm>
          <a:prstGeom prst="rect">
            <a:avLst/>
          </a:prstGeom>
          <a:noFill/>
        </p:spPr>
        <p:txBody>
          <a:bodyPr wrap="none" lIns="0" tIns="0" rIns="0" bIns="0" anchor="ctr">
            <a:noAutofit/>
          </a:bodyPr>
          <a:lstStyle/>
          <a:p>
            <a:pPr algn="ctr">
              <a:lnSpc>
                <a:spcPts val="1250"/>
              </a:lnSpc>
            </a:pPr>
            <a:r>
              <a:rPr lang="ro-RO" sz="1000" b="1" i="0">
                <a:solidFill>
                  <a:srgbClr val="FFFFFF"/>
                </a:solidFill>
                <a:latin typeface="IBM Plex Sans" pitchFamily="34"/>
              </a:rPr>
              <a:t>Un template nu scrie pitch-ul în locul tău. Îți arată unde e gol.</a:t>
            </a:r>
          </a:p>
        </p:txBody>
      </p:sp>
    </p:spTree>
  </p:cSld>
  <p:clrMapOvr>
    <a:masterClrMapping/>
  </p:clrMapOvr>
  <p:transition>
    <p:dissolv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TextBox 1"/>
          <p:cNvSpPr txBox="1"/>
          <p:nvPr/>
        </p:nvSpPr>
        <p:spPr>
          <a:xfrm>
            <a:off x="304800" y="946150"/>
            <a:ext cx="644819" cy="101600"/>
          </a:xfrm>
          <a:prstGeom prst="rect">
            <a:avLst/>
          </a:prstGeom>
          <a:noFill/>
        </p:spPr>
        <p:txBody>
          <a:bodyPr wrap="square" lIns="0" tIns="0" rIns="0" bIns="0" anchor="t">
            <a:noAutofit/>
          </a:bodyPr>
          <a:lstStyle/>
          <a:p>
            <a:pPr algn="l">
              <a:lnSpc>
                <a:spcPts val="800"/>
              </a:lnSpc>
            </a:pPr>
            <a:r>
              <a:rPr lang="ro-RO" sz="700" b="0" i="0" spc="70">
                <a:solidFill>
                  <a:srgbClr val="FF5640"/>
                </a:solidFill>
                <a:latin typeface="Fira Code" pitchFamily="49"/>
              </a:rPr>
              <a:t>STRUCTURA</a:t>
            </a:r>
          </a:p>
        </p:txBody>
      </p:sp>
      <p:sp>
        <p:nvSpPr>
          <p:cNvPr id="3" name="TextBox 2"/>
          <p:cNvSpPr txBox="1"/>
          <p:nvPr/>
        </p:nvSpPr>
        <p:spPr>
          <a:xfrm>
            <a:off x="304800" y="1092200"/>
            <a:ext cx="5389054" cy="393700"/>
          </a:xfrm>
          <a:prstGeom prst="rect">
            <a:avLst/>
          </a:prstGeom>
          <a:noFill/>
        </p:spPr>
        <p:txBody>
          <a:bodyPr wrap="square" lIns="0" tIns="0" rIns="0" bIns="0" anchor="t">
            <a:noAutofit/>
          </a:bodyPr>
          <a:lstStyle/>
          <a:p>
            <a:pPr algn="l">
              <a:lnSpc>
                <a:spcPts val="3100"/>
              </a:lnSpc>
            </a:pPr>
            <a:r>
              <a:rPr lang="ro-RO" sz="2400" b="1" i="0">
                <a:solidFill>
                  <a:srgbClr val="FFFFFF"/>
                </a:solidFill>
                <a:latin typeface="IBM Plex Sans" pitchFamily="34"/>
              </a:rPr>
              <a:t>Zece slide-uri, în ordinea deciziilor</a:t>
            </a:r>
          </a:p>
        </p:txBody>
      </p:sp>
      <p:sp>
        <p:nvSpPr>
          <p:cNvPr id="4" name="TextBox 3"/>
          <p:cNvSpPr txBox="1"/>
          <p:nvPr/>
        </p:nvSpPr>
        <p:spPr>
          <a:xfrm>
            <a:off x="304800" y="1498600"/>
            <a:ext cx="5772674" cy="158750"/>
          </a:xfrm>
          <a:prstGeom prst="rect">
            <a:avLst/>
          </a:prstGeom>
          <a:noFill/>
        </p:spPr>
        <p:txBody>
          <a:bodyPr wrap="square" lIns="0" tIns="0" rIns="0" bIns="0" anchor="t">
            <a:noAutofit/>
          </a:bodyPr>
          <a:lstStyle/>
          <a:p>
            <a:pPr algn="l">
              <a:lnSpc>
                <a:spcPts val="1250"/>
              </a:lnSpc>
            </a:pPr>
            <a:r>
              <a:rPr lang="ro-RO" sz="1000" b="0" i="0">
                <a:solidFill>
                  <a:srgbClr val="FFFFFF"/>
                </a:solidFill>
                <a:latin typeface="IBM Plex Sans" pitchFamily="34"/>
              </a:rPr>
              <a:t>Întâi omul, apoi dovada, apoi demo-ul. Banii și echipa vin după ce juriul a înțeles pe cine ajuți.</a:t>
            </a:r>
          </a:p>
        </p:txBody>
      </p:sp>
      <p:sp>
        <p:nvSpPr>
          <p:cNvPr id="5" name="Rounded Rectangle 4"/>
          <p:cNvSpPr/>
          <p:nvPr/>
        </p:nvSpPr>
        <p:spPr>
          <a:xfrm>
            <a:off x="304800" y="1822450"/>
            <a:ext cx="2255441" cy="482600"/>
          </a:xfrm>
          <a:prstGeom prst="roundRect">
            <a:avLst>
              <a:gd name="adj" fmla="val 15789"/>
            </a:avLst>
          </a:prstGeom>
          <a:solidFill>
            <a:srgbClr val="FFFFFF">
              <a:alpha val="4000"/>
            </a:srgbClr>
          </a:solidFill>
          <a:ln w="6350">
            <a:solidFill>
              <a:srgbClr val="FFFFFF">
                <a:alpha val="10000"/>
              </a:srgbClr>
            </a:solidFill>
          </a:ln>
        </p:spPr>
        <p:txBody>
          <a:bodyPr rtlCol="0" anchor="ctr"/>
          <a:lstStyle/>
          <a:p>
            <a:endParaRPr/>
          </a:p>
        </p:txBody>
      </p:sp>
      <p:sp>
        <p:nvSpPr>
          <p:cNvPr id="6" name="Rounded Rectangle 5"/>
          <p:cNvSpPr/>
          <p:nvPr/>
        </p:nvSpPr>
        <p:spPr>
          <a:xfrm>
            <a:off x="412750" y="1979910"/>
            <a:ext cx="178891" cy="167580"/>
          </a:xfrm>
          <a:prstGeom prst="roundRect">
            <a:avLst>
              <a:gd name="adj" fmla="val 50000"/>
            </a:avLst>
          </a:prstGeom>
          <a:solidFill>
            <a:srgbClr val="FFFFFF">
              <a:alpha val="14000"/>
            </a:srgbClr>
          </a:solidFill>
          <a:ln>
            <a:noFill/>
          </a:ln>
        </p:spPr>
        <p:txBody>
          <a:bodyPr rtlCol="0" anchor="ctr"/>
          <a:lstStyle/>
          <a:p>
            <a:endParaRPr/>
          </a:p>
        </p:txBody>
      </p:sp>
      <p:sp>
        <p:nvSpPr>
          <p:cNvPr id="7" name="TextBox 6"/>
          <p:cNvSpPr txBox="1"/>
          <p:nvPr/>
        </p:nvSpPr>
        <p:spPr>
          <a:xfrm>
            <a:off x="475731" y="1998960"/>
            <a:ext cx="52929" cy="129480"/>
          </a:xfrm>
          <a:prstGeom prst="rect">
            <a:avLst/>
          </a:prstGeom>
          <a:noFill/>
        </p:spPr>
        <p:txBody>
          <a:bodyPr wrap="none" lIns="0" tIns="0" rIns="0" bIns="0" anchor="ctr">
            <a:noAutofit/>
          </a:bodyPr>
          <a:lstStyle/>
          <a:p>
            <a:pPr algn="l">
              <a:lnSpc>
                <a:spcPts val="900"/>
              </a:lnSpc>
            </a:pPr>
            <a:r>
              <a:rPr lang="ro-RO" sz="700" b="1" i="0">
                <a:solidFill>
                  <a:srgbClr val="FFFFFF"/>
                </a:solidFill>
                <a:latin typeface="IBM Plex Sans" pitchFamily="34"/>
              </a:rPr>
              <a:t>1</a:t>
            </a:r>
          </a:p>
        </p:txBody>
      </p:sp>
      <p:sp>
        <p:nvSpPr>
          <p:cNvPr id="8" name="TextBox 7"/>
          <p:cNvSpPr txBox="1"/>
          <p:nvPr/>
        </p:nvSpPr>
        <p:spPr>
          <a:xfrm>
            <a:off x="667841" y="1985962"/>
            <a:ext cx="341245" cy="146050"/>
          </a:xfrm>
          <a:prstGeom prst="rect">
            <a:avLst/>
          </a:prstGeom>
          <a:noFill/>
        </p:spPr>
        <p:txBody>
          <a:bodyPr wrap="square" lIns="0" tIns="0" rIns="0" bIns="0" anchor="t">
            <a:noAutofit/>
          </a:bodyPr>
          <a:lstStyle/>
          <a:p>
            <a:pPr algn="l">
              <a:lnSpc>
                <a:spcPts val="1150"/>
              </a:lnSpc>
            </a:pPr>
            <a:r>
              <a:rPr lang="ro-RO" sz="900" b="1" i="0">
                <a:solidFill>
                  <a:srgbClr val="FFFFFF"/>
                </a:solidFill>
                <a:latin typeface="IBM Plex Sans" pitchFamily="34"/>
              </a:rPr>
              <a:t>Titlul</a:t>
            </a:r>
          </a:p>
        </p:txBody>
      </p:sp>
      <p:sp>
        <p:nvSpPr>
          <p:cNvPr id="9" name="Rounded Rectangle 8"/>
          <p:cNvSpPr/>
          <p:nvPr/>
        </p:nvSpPr>
        <p:spPr>
          <a:xfrm>
            <a:off x="2636441" y="1822450"/>
            <a:ext cx="2255540" cy="482600"/>
          </a:xfrm>
          <a:prstGeom prst="roundRect">
            <a:avLst>
              <a:gd name="adj" fmla="val 15789"/>
            </a:avLst>
          </a:prstGeom>
          <a:solidFill>
            <a:srgbClr val="FFFFFF">
              <a:alpha val="4000"/>
            </a:srgbClr>
          </a:solidFill>
          <a:ln w="6350">
            <a:solidFill>
              <a:srgbClr val="FFFFFF">
                <a:alpha val="10000"/>
              </a:srgbClr>
            </a:solidFill>
          </a:ln>
        </p:spPr>
        <p:txBody>
          <a:bodyPr rtlCol="0" anchor="ctr"/>
          <a:lstStyle/>
          <a:p>
            <a:endParaRPr/>
          </a:p>
        </p:txBody>
      </p:sp>
      <p:sp>
        <p:nvSpPr>
          <p:cNvPr id="10" name="Rounded Rectangle 9"/>
          <p:cNvSpPr/>
          <p:nvPr/>
        </p:nvSpPr>
        <p:spPr>
          <a:xfrm>
            <a:off x="2744391" y="1979910"/>
            <a:ext cx="178891" cy="167580"/>
          </a:xfrm>
          <a:prstGeom prst="roundRect">
            <a:avLst>
              <a:gd name="adj" fmla="val 50000"/>
            </a:avLst>
          </a:prstGeom>
          <a:solidFill>
            <a:srgbClr val="FFFFFF">
              <a:alpha val="14000"/>
            </a:srgbClr>
          </a:solidFill>
          <a:ln>
            <a:noFill/>
          </a:ln>
        </p:spPr>
        <p:txBody>
          <a:bodyPr rtlCol="0" anchor="ctr"/>
          <a:lstStyle/>
          <a:p>
            <a:endParaRPr/>
          </a:p>
        </p:txBody>
      </p:sp>
      <p:sp>
        <p:nvSpPr>
          <p:cNvPr id="11" name="TextBox 10"/>
          <p:cNvSpPr txBox="1"/>
          <p:nvPr/>
        </p:nvSpPr>
        <p:spPr>
          <a:xfrm>
            <a:off x="2807372" y="1998960"/>
            <a:ext cx="52929" cy="129480"/>
          </a:xfrm>
          <a:prstGeom prst="rect">
            <a:avLst/>
          </a:prstGeom>
          <a:noFill/>
        </p:spPr>
        <p:txBody>
          <a:bodyPr wrap="none" lIns="0" tIns="0" rIns="0" bIns="0" anchor="ctr">
            <a:noAutofit/>
          </a:bodyPr>
          <a:lstStyle/>
          <a:p>
            <a:pPr algn="l">
              <a:lnSpc>
                <a:spcPts val="900"/>
              </a:lnSpc>
            </a:pPr>
            <a:r>
              <a:rPr lang="ro-RO" sz="700" b="1" i="0">
                <a:solidFill>
                  <a:srgbClr val="FFFFFF"/>
                </a:solidFill>
                <a:latin typeface="IBM Plex Sans" pitchFamily="34"/>
              </a:rPr>
              <a:t>2</a:t>
            </a:r>
          </a:p>
        </p:txBody>
      </p:sp>
      <p:sp>
        <p:nvSpPr>
          <p:cNvPr id="12" name="TextBox 11"/>
          <p:cNvSpPr txBox="1"/>
          <p:nvPr/>
        </p:nvSpPr>
        <p:spPr>
          <a:xfrm>
            <a:off x="2999482" y="1985962"/>
            <a:ext cx="959537" cy="146050"/>
          </a:xfrm>
          <a:prstGeom prst="rect">
            <a:avLst/>
          </a:prstGeom>
          <a:noFill/>
        </p:spPr>
        <p:txBody>
          <a:bodyPr wrap="square" lIns="0" tIns="0" rIns="0" bIns="0" anchor="t">
            <a:noAutofit/>
          </a:bodyPr>
          <a:lstStyle/>
          <a:p>
            <a:pPr algn="l">
              <a:lnSpc>
                <a:spcPts val="1150"/>
              </a:lnSpc>
            </a:pPr>
            <a:r>
              <a:rPr lang="ro-RO" sz="900" b="1" i="0">
                <a:solidFill>
                  <a:srgbClr val="FFFFFF"/>
                </a:solidFill>
                <a:latin typeface="IBM Plex Sans" pitchFamily="34"/>
              </a:rPr>
              <a:t>Omul și durerea</a:t>
            </a:r>
          </a:p>
        </p:txBody>
      </p:sp>
      <p:sp>
        <p:nvSpPr>
          <p:cNvPr id="13" name="TextBox 12"/>
          <p:cNvSpPr txBox="1"/>
          <p:nvPr/>
        </p:nvSpPr>
        <p:spPr>
          <a:xfrm>
            <a:off x="4717355" y="2000250"/>
            <a:ext cx="110109" cy="127000"/>
          </a:xfrm>
          <a:prstGeom prst="rect">
            <a:avLst/>
          </a:prstGeom>
          <a:noFill/>
        </p:spPr>
        <p:txBody>
          <a:bodyPr wrap="square" lIns="0" tIns="0" rIns="0" bIns="0" anchor="t">
            <a:noAutofit/>
          </a:bodyPr>
          <a:lstStyle/>
          <a:p>
            <a:pPr algn="l">
              <a:lnSpc>
                <a:spcPts val="1000"/>
              </a:lnSpc>
            </a:pPr>
            <a:r>
              <a:rPr lang="ro-RO" sz="800" b="1" i="0">
                <a:solidFill>
                  <a:srgbClr val="8FA3B0"/>
                </a:solidFill>
                <a:latin typeface="IBM Plex Sans" pitchFamily="34"/>
              </a:rPr>
              <a:t>P</a:t>
            </a:r>
          </a:p>
        </p:txBody>
      </p:sp>
      <p:sp>
        <p:nvSpPr>
          <p:cNvPr id="14" name="Rounded Rectangle 13"/>
          <p:cNvSpPr/>
          <p:nvPr/>
        </p:nvSpPr>
        <p:spPr>
          <a:xfrm>
            <a:off x="4968180" y="1822450"/>
            <a:ext cx="2255540" cy="482600"/>
          </a:xfrm>
          <a:prstGeom prst="roundRect">
            <a:avLst>
              <a:gd name="adj" fmla="val 15789"/>
            </a:avLst>
          </a:prstGeom>
          <a:solidFill>
            <a:srgbClr val="FFFFFF">
              <a:alpha val="4000"/>
            </a:srgbClr>
          </a:solidFill>
          <a:ln w="6350">
            <a:solidFill>
              <a:srgbClr val="FFFFFF">
                <a:alpha val="10000"/>
              </a:srgbClr>
            </a:solidFill>
          </a:ln>
        </p:spPr>
        <p:txBody>
          <a:bodyPr rtlCol="0" anchor="ctr"/>
          <a:lstStyle/>
          <a:p>
            <a:endParaRPr/>
          </a:p>
        </p:txBody>
      </p:sp>
      <p:sp>
        <p:nvSpPr>
          <p:cNvPr id="15" name="Rounded Rectangle 14"/>
          <p:cNvSpPr/>
          <p:nvPr/>
        </p:nvSpPr>
        <p:spPr>
          <a:xfrm>
            <a:off x="5076130" y="1979910"/>
            <a:ext cx="178891" cy="167580"/>
          </a:xfrm>
          <a:prstGeom prst="roundRect">
            <a:avLst>
              <a:gd name="adj" fmla="val 50000"/>
            </a:avLst>
          </a:prstGeom>
          <a:solidFill>
            <a:srgbClr val="FFFFFF">
              <a:alpha val="14000"/>
            </a:srgbClr>
          </a:solidFill>
          <a:ln>
            <a:noFill/>
          </a:ln>
        </p:spPr>
        <p:txBody>
          <a:bodyPr rtlCol="0" anchor="ctr"/>
          <a:lstStyle/>
          <a:p>
            <a:endParaRPr/>
          </a:p>
        </p:txBody>
      </p:sp>
      <p:sp>
        <p:nvSpPr>
          <p:cNvPr id="16" name="TextBox 15"/>
          <p:cNvSpPr txBox="1"/>
          <p:nvPr/>
        </p:nvSpPr>
        <p:spPr>
          <a:xfrm>
            <a:off x="5139112" y="1998960"/>
            <a:ext cx="52929" cy="129480"/>
          </a:xfrm>
          <a:prstGeom prst="rect">
            <a:avLst/>
          </a:prstGeom>
          <a:noFill/>
        </p:spPr>
        <p:txBody>
          <a:bodyPr wrap="none" lIns="0" tIns="0" rIns="0" bIns="0" anchor="ctr">
            <a:noAutofit/>
          </a:bodyPr>
          <a:lstStyle/>
          <a:p>
            <a:pPr algn="l">
              <a:lnSpc>
                <a:spcPts val="900"/>
              </a:lnSpc>
            </a:pPr>
            <a:r>
              <a:rPr lang="ro-RO" sz="700" b="1" i="0">
                <a:solidFill>
                  <a:srgbClr val="FFFFFF"/>
                </a:solidFill>
                <a:latin typeface="IBM Plex Sans" pitchFamily="34"/>
              </a:rPr>
              <a:t>3</a:t>
            </a:r>
          </a:p>
        </p:txBody>
      </p:sp>
      <p:sp>
        <p:nvSpPr>
          <p:cNvPr id="17" name="TextBox 16"/>
          <p:cNvSpPr txBox="1"/>
          <p:nvPr/>
        </p:nvSpPr>
        <p:spPr>
          <a:xfrm>
            <a:off x="5331222" y="1985962"/>
            <a:ext cx="1123914" cy="146050"/>
          </a:xfrm>
          <a:prstGeom prst="rect">
            <a:avLst/>
          </a:prstGeom>
          <a:noFill/>
        </p:spPr>
        <p:txBody>
          <a:bodyPr wrap="square" lIns="0" tIns="0" rIns="0" bIns="0" anchor="t">
            <a:noAutofit/>
          </a:bodyPr>
          <a:lstStyle/>
          <a:p>
            <a:pPr algn="l">
              <a:lnSpc>
                <a:spcPts val="1150"/>
              </a:lnSpc>
            </a:pPr>
            <a:r>
              <a:rPr lang="ro-RO" sz="900" b="1" i="0">
                <a:solidFill>
                  <a:srgbClr val="FFFFFF"/>
                </a:solidFill>
                <a:latin typeface="IBM Plex Sans" pitchFamily="34"/>
              </a:rPr>
              <a:t>De ce nu merge azi</a:t>
            </a:r>
          </a:p>
        </p:txBody>
      </p:sp>
      <p:sp>
        <p:nvSpPr>
          <p:cNvPr id="18" name="TextBox 17"/>
          <p:cNvSpPr txBox="1"/>
          <p:nvPr/>
        </p:nvSpPr>
        <p:spPr>
          <a:xfrm>
            <a:off x="7047210" y="2000250"/>
            <a:ext cx="112145" cy="127000"/>
          </a:xfrm>
          <a:prstGeom prst="rect">
            <a:avLst/>
          </a:prstGeom>
          <a:noFill/>
        </p:spPr>
        <p:txBody>
          <a:bodyPr wrap="square" lIns="0" tIns="0" rIns="0" bIns="0" anchor="t">
            <a:noAutofit/>
          </a:bodyPr>
          <a:lstStyle/>
          <a:p>
            <a:pPr algn="l">
              <a:lnSpc>
                <a:spcPts val="1000"/>
              </a:lnSpc>
            </a:pPr>
            <a:r>
              <a:rPr lang="ro-RO" sz="800" b="1" i="0">
                <a:solidFill>
                  <a:srgbClr val="8FA3B0"/>
                </a:solidFill>
                <a:latin typeface="IBM Plex Sans" pitchFamily="34"/>
              </a:rPr>
              <a:t>R</a:t>
            </a:r>
          </a:p>
        </p:txBody>
      </p:sp>
      <p:sp>
        <p:nvSpPr>
          <p:cNvPr id="19" name="Rounded Rectangle 18"/>
          <p:cNvSpPr/>
          <p:nvPr/>
        </p:nvSpPr>
        <p:spPr>
          <a:xfrm>
            <a:off x="7299920" y="1822450"/>
            <a:ext cx="2255540" cy="482600"/>
          </a:xfrm>
          <a:prstGeom prst="roundRect">
            <a:avLst>
              <a:gd name="adj" fmla="val 15789"/>
            </a:avLst>
          </a:prstGeom>
          <a:solidFill>
            <a:srgbClr val="FFFFFF">
              <a:alpha val="4000"/>
            </a:srgbClr>
          </a:solidFill>
          <a:ln w="6350">
            <a:solidFill>
              <a:srgbClr val="FFFFFF">
                <a:alpha val="10000"/>
              </a:srgbClr>
            </a:solidFill>
          </a:ln>
        </p:spPr>
        <p:txBody>
          <a:bodyPr rtlCol="0" anchor="ctr"/>
          <a:lstStyle/>
          <a:p>
            <a:endParaRPr/>
          </a:p>
        </p:txBody>
      </p:sp>
      <p:sp>
        <p:nvSpPr>
          <p:cNvPr id="20" name="Rounded Rectangle 19"/>
          <p:cNvSpPr/>
          <p:nvPr/>
        </p:nvSpPr>
        <p:spPr>
          <a:xfrm>
            <a:off x="7407870" y="1979910"/>
            <a:ext cx="178891" cy="167580"/>
          </a:xfrm>
          <a:prstGeom prst="roundRect">
            <a:avLst>
              <a:gd name="adj" fmla="val 50000"/>
            </a:avLst>
          </a:prstGeom>
          <a:solidFill>
            <a:srgbClr val="FFFFFF">
              <a:alpha val="14000"/>
            </a:srgbClr>
          </a:solidFill>
          <a:ln>
            <a:noFill/>
          </a:ln>
        </p:spPr>
        <p:txBody>
          <a:bodyPr rtlCol="0" anchor="ctr"/>
          <a:lstStyle/>
          <a:p>
            <a:endParaRPr/>
          </a:p>
        </p:txBody>
      </p:sp>
      <p:sp>
        <p:nvSpPr>
          <p:cNvPr id="21" name="TextBox 20"/>
          <p:cNvSpPr txBox="1"/>
          <p:nvPr/>
        </p:nvSpPr>
        <p:spPr>
          <a:xfrm>
            <a:off x="7470851" y="1998960"/>
            <a:ext cx="52929" cy="129480"/>
          </a:xfrm>
          <a:prstGeom prst="rect">
            <a:avLst/>
          </a:prstGeom>
          <a:noFill/>
        </p:spPr>
        <p:txBody>
          <a:bodyPr wrap="none" lIns="0" tIns="0" rIns="0" bIns="0" anchor="ctr">
            <a:noAutofit/>
          </a:bodyPr>
          <a:lstStyle/>
          <a:p>
            <a:pPr algn="l">
              <a:lnSpc>
                <a:spcPts val="900"/>
              </a:lnSpc>
            </a:pPr>
            <a:r>
              <a:rPr lang="ro-RO" sz="700" b="1" i="0">
                <a:solidFill>
                  <a:srgbClr val="FFFFFF"/>
                </a:solidFill>
                <a:latin typeface="IBM Plex Sans" pitchFamily="34"/>
              </a:rPr>
              <a:t>4</a:t>
            </a:r>
          </a:p>
        </p:txBody>
      </p:sp>
      <p:sp>
        <p:nvSpPr>
          <p:cNvPr id="22" name="TextBox 21"/>
          <p:cNvSpPr txBox="1"/>
          <p:nvPr/>
        </p:nvSpPr>
        <p:spPr>
          <a:xfrm>
            <a:off x="7662962" y="1985962"/>
            <a:ext cx="448616" cy="146050"/>
          </a:xfrm>
          <a:prstGeom prst="rect">
            <a:avLst/>
          </a:prstGeom>
          <a:noFill/>
        </p:spPr>
        <p:txBody>
          <a:bodyPr wrap="square" lIns="0" tIns="0" rIns="0" bIns="0" anchor="t">
            <a:noAutofit/>
          </a:bodyPr>
          <a:lstStyle/>
          <a:p>
            <a:pPr algn="l">
              <a:lnSpc>
                <a:spcPts val="1150"/>
              </a:lnSpc>
            </a:pPr>
            <a:r>
              <a:rPr lang="ro-RO" sz="900" b="1" i="0">
                <a:solidFill>
                  <a:srgbClr val="FFFFFF"/>
                </a:solidFill>
                <a:latin typeface="IBM Plex Sans" pitchFamily="34"/>
              </a:rPr>
              <a:t>Soluția</a:t>
            </a:r>
          </a:p>
        </p:txBody>
      </p:sp>
      <p:sp>
        <p:nvSpPr>
          <p:cNvPr id="23" name="TextBox 22"/>
          <p:cNvSpPr txBox="1"/>
          <p:nvPr/>
        </p:nvSpPr>
        <p:spPr>
          <a:xfrm>
            <a:off x="9379645" y="2000250"/>
            <a:ext cx="111395" cy="127000"/>
          </a:xfrm>
          <a:prstGeom prst="rect">
            <a:avLst/>
          </a:prstGeom>
          <a:noFill/>
        </p:spPr>
        <p:txBody>
          <a:bodyPr wrap="square" lIns="0" tIns="0" rIns="0" bIns="0" anchor="t">
            <a:noAutofit/>
          </a:bodyPr>
          <a:lstStyle/>
          <a:p>
            <a:pPr algn="l">
              <a:lnSpc>
                <a:spcPts val="1000"/>
              </a:lnSpc>
            </a:pPr>
            <a:r>
              <a:rPr lang="ro-RO" sz="800" b="1" i="0">
                <a:solidFill>
                  <a:srgbClr val="8FA3B0"/>
                </a:solidFill>
                <a:latin typeface="IBM Plex Sans" pitchFamily="34"/>
              </a:rPr>
              <a:t>B</a:t>
            </a:r>
          </a:p>
        </p:txBody>
      </p:sp>
      <p:sp>
        <p:nvSpPr>
          <p:cNvPr id="24" name="Rounded Rectangle 23"/>
          <p:cNvSpPr/>
          <p:nvPr/>
        </p:nvSpPr>
        <p:spPr>
          <a:xfrm>
            <a:off x="9631660" y="1822450"/>
            <a:ext cx="2255540" cy="482600"/>
          </a:xfrm>
          <a:prstGeom prst="roundRect">
            <a:avLst>
              <a:gd name="adj" fmla="val 15789"/>
            </a:avLst>
          </a:prstGeom>
          <a:solidFill>
            <a:srgbClr val="FF5640">
              <a:alpha val="8000"/>
            </a:srgbClr>
          </a:solidFill>
          <a:ln w="6350">
            <a:solidFill>
              <a:srgbClr val="FF5640">
                <a:alpha val="50000"/>
              </a:srgbClr>
            </a:solidFill>
          </a:ln>
        </p:spPr>
        <p:txBody>
          <a:bodyPr rtlCol="0" anchor="ctr"/>
          <a:lstStyle/>
          <a:p>
            <a:endParaRPr/>
          </a:p>
        </p:txBody>
      </p:sp>
      <p:sp>
        <p:nvSpPr>
          <p:cNvPr id="25" name="Rounded Rectangle 24"/>
          <p:cNvSpPr/>
          <p:nvPr/>
        </p:nvSpPr>
        <p:spPr>
          <a:xfrm>
            <a:off x="9739610" y="1979910"/>
            <a:ext cx="178891" cy="167580"/>
          </a:xfrm>
          <a:prstGeom prst="roundRect">
            <a:avLst>
              <a:gd name="adj" fmla="val 50000"/>
            </a:avLst>
          </a:prstGeom>
          <a:solidFill>
            <a:srgbClr val="FF5640"/>
          </a:solidFill>
          <a:ln>
            <a:noFill/>
          </a:ln>
        </p:spPr>
        <p:txBody>
          <a:bodyPr rtlCol="0" anchor="ctr"/>
          <a:lstStyle/>
          <a:p>
            <a:endParaRPr/>
          </a:p>
        </p:txBody>
      </p:sp>
      <p:sp>
        <p:nvSpPr>
          <p:cNvPr id="26" name="TextBox 25"/>
          <p:cNvSpPr txBox="1"/>
          <p:nvPr/>
        </p:nvSpPr>
        <p:spPr>
          <a:xfrm>
            <a:off x="9802591" y="1998960"/>
            <a:ext cx="52929" cy="129480"/>
          </a:xfrm>
          <a:prstGeom prst="rect">
            <a:avLst/>
          </a:prstGeom>
          <a:noFill/>
        </p:spPr>
        <p:txBody>
          <a:bodyPr wrap="none" lIns="0" tIns="0" rIns="0" bIns="0" anchor="ctr">
            <a:noAutofit/>
          </a:bodyPr>
          <a:lstStyle/>
          <a:p>
            <a:pPr algn="l">
              <a:lnSpc>
                <a:spcPts val="900"/>
              </a:lnSpc>
            </a:pPr>
            <a:r>
              <a:rPr lang="ro-RO" sz="700" b="1" i="0">
                <a:solidFill>
                  <a:srgbClr val="FFFFFF"/>
                </a:solidFill>
                <a:latin typeface="IBM Plex Sans" pitchFamily="34"/>
              </a:rPr>
              <a:t>5</a:t>
            </a:r>
          </a:p>
        </p:txBody>
      </p:sp>
      <p:sp>
        <p:nvSpPr>
          <p:cNvPr id="27" name="TextBox 26"/>
          <p:cNvSpPr txBox="1"/>
          <p:nvPr/>
        </p:nvSpPr>
        <p:spPr>
          <a:xfrm>
            <a:off x="9994702" y="1985962"/>
            <a:ext cx="373499" cy="146050"/>
          </a:xfrm>
          <a:prstGeom prst="rect">
            <a:avLst/>
          </a:prstGeom>
          <a:noFill/>
        </p:spPr>
        <p:txBody>
          <a:bodyPr wrap="square" lIns="0" tIns="0" rIns="0" bIns="0" anchor="t">
            <a:noAutofit/>
          </a:bodyPr>
          <a:lstStyle/>
          <a:p>
            <a:pPr algn="l">
              <a:lnSpc>
                <a:spcPts val="1150"/>
              </a:lnSpc>
            </a:pPr>
            <a:r>
              <a:rPr lang="ro-RO" sz="900" b="1" i="0">
                <a:solidFill>
                  <a:srgbClr val="FFFFFF"/>
                </a:solidFill>
                <a:latin typeface="IBM Plex Sans" pitchFamily="34"/>
              </a:rPr>
              <a:t>Demo</a:t>
            </a:r>
          </a:p>
        </p:txBody>
      </p:sp>
      <p:sp>
        <p:nvSpPr>
          <p:cNvPr id="28" name="TextBox 27"/>
          <p:cNvSpPr txBox="1"/>
          <p:nvPr/>
        </p:nvSpPr>
        <p:spPr>
          <a:xfrm>
            <a:off x="11709598" y="2000250"/>
            <a:ext cx="113324" cy="127000"/>
          </a:xfrm>
          <a:prstGeom prst="rect">
            <a:avLst/>
          </a:prstGeom>
          <a:noFill/>
        </p:spPr>
        <p:txBody>
          <a:bodyPr wrap="square" lIns="0" tIns="0" rIns="0" bIns="0" anchor="t">
            <a:noAutofit/>
          </a:bodyPr>
          <a:lstStyle/>
          <a:p>
            <a:pPr algn="l">
              <a:lnSpc>
                <a:spcPts val="1000"/>
              </a:lnSpc>
            </a:pPr>
            <a:r>
              <a:rPr lang="ro-RO" sz="800" b="1" i="0">
                <a:solidFill>
                  <a:srgbClr val="FF5640"/>
                </a:solidFill>
                <a:latin typeface="IBM Plex Sans" pitchFamily="34"/>
              </a:rPr>
              <a:t>A</a:t>
            </a:r>
          </a:p>
        </p:txBody>
      </p:sp>
      <p:sp>
        <p:nvSpPr>
          <p:cNvPr id="29" name="Rounded Rectangle 28"/>
          <p:cNvSpPr/>
          <p:nvPr/>
        </p:nvSpPr>
        <p:spPr>
          <a:xfrm>
            <a:off x="304800" y="2381250"/>
            <a:ext cx="2255441" cy="482600"/>
          </a:xfrm>
          <a:prstGeom prst="roundRect">
            <a:avLst>
              <a:gd name="adj" fmla="val 15789"/>
            </a:avLst>
          </a:prstGeom>
          <a:solidFill>
            <a:srgbClr val="FFFFFF">
              <a:alpha val="4000"/>
            </a:srgbClr>
          </a:solidFill>
          <a:ln w="6350">
            <a:solidFill>
              <a:srgbClr val="FFFFFF">
                <a:alpha val="10000"/>
              </a:srgbClr>
            </a:solidFill>
          </a:ln>
        </p:spPr>
        <p:txBody>
          <a:bodyPr rtlCol="0" anchor="ctr"/>
          <a:lstStyle/>
          <a:p>
            <a:endParaRPr/>
          </a:p>
        </p:txBody>
      </p:sp>
      <p:sp>
        <p:nvSpPr>
          <p:cNvPr id="30" name="Rounded Rectangle 29"/>
          <p:cNvSpPr/>
          <p:nvPr/>
        </p:nvSpPr>
        <p:spPr>
          <a:xfrm>
            <a:off x="412750" y="2538710"/>
            <a:ext cx="178891" cy="167580"/>
          </a:xfrm>
          <a:prstGeom prst="roundRect">
            <a:avLst>
              <a:gd name="adj" fmla="val 50000"/>
            </a:avLst>
          </a:prstGeom>
          <a:solidFill>
            <a:srgbClr val="FFFFFF">
              <a:alpha val="14000"/>
            </a:srgbClr>
          </a:solidFill>
          <a:ln>
            <a:noFill/>
          </a:ln>
        </p:spPr>
        <p:txBody>
          <a:bodyPr rtlCol="0" anchor="ctr"/>
          <a:lstStyle/>
          <a:p>
            <a:endParaRPr/>
          </a:p>
        </p:txBody>
      </p:sp>
      <p:sp>
        <p:nvSpPr>
          <p:cNvPr id="31" name="TextBox 30"/>
          <p:cNvSpPr txBox="1"/>
          <p:nvPr/>
        </p:nvSpPr>
        <p:spPr>
          <a:xfrm>
            <a:off x="475731" y="2557760"/>
            <a:ext cx="52929" cy="129480"/>
          </a:xfrm>
          <a:prstGeom prst="rect">
            <a:avLst/>
          </a:prstGeom>
          <a:noFill/>
        </p:spPr>
        <p:txBody>
          <a:bodyPr wrap="none" lIns="0" tIns="0" rIns="0" bIns="0" anchor="ctr">
            <a:noAutofit/>
          </a:bodyPr>
          <a:lstStyle/>
          <a:p>
            <a:pPr algn="l">
              <a:lnSpc>
                <a:spcPts val="900"/>
              </a:lnSpc>
            </a:pPr>
            <a:r>
              <a:rPr lang="ro-RO" sz="700" b="1" i="0">
                <a:solidFill>
                  <a:srgbClr val="FFFFFF"/>
                </a:solidFill>
                <a:latin typeface="IBM Plex Sans" pitchFamily="34"/>
              </a:rPr>
              <a:t>6</a:t>
            </a:r>
          </a:p>
        </p:txBody>
      </p:sp>
      <p:sp>
        <p:nvSpPr>
          <p:cNvPr id="32" name="TextBox 31"/>
          <p:cNvSpPr txBox="1"/>
          <p:nvPr/>
        </p:nvSpPr>
        <p:spPr>
          <a:xfrm>
            <a:off x="667841" y="2544762"/>
            <a:ext cx="951071" cy="146050"/>
          </a:xfrm>
          <a:prstGeom prst="rect">
            <a:avLst/>
          </a:prstGeom>
          <a:noFill/>
        </p:spPr>
        <p:txBody>
          <a:bodyPr wrap="square" lIns="0" tIns="0" rIns="0" bIns="0" anchor="t">
            <a:noAutofit/>
          </a:bodyPr>
          <a:lstStyle/>
          <a:p>
            <a:pPr algn="l">
              <a:lnSpc>
                <a:spcPts val="1150"/>
              </a:lnSpc>
            </a:pPr>
            <a:r>
              <a:rPr lang="ro-RO" sz="900" b="1" i="0">
                <a:solidFill>
                  <a:srgbClr val="FFFFFF"/>
                </a:solidFill>
                <a:latin typeface="IBM Plex Sans" pitchFamily="34"/>
              </a:rPr>
              <a:t>Cum e construit</a:t>
            </a:r>
          </a:p>
        </p:txBody>
      </p:sp>
      <p:sp>
        <p:nvSpPr>
          <p:cNvPr id="33" name="TextBox 32"/>
          <p:cNvSpPr txBox="1"/>
          <p:nvPr/>
        </p:nvSpPr>
        <p:spPr>
          <a:xfrm>
            <a:off x="2384425" y="2559050"/>
            <a:ext cx="111395" cy="127000"/>
          </a:xfrm>
          <a:prstGeom prst="rect">
            <a:avLst/>
          </a:prstGeom>
          <a:noFill/>
        </p:spPr>
        <p:txBody>
          <a:bodyPr wrap="square" lIns="0" tIns="0" rIns="0" bIns="0" anchor="t">
            <a:noAutofit/>
          </a:bodyPr>
          <a:lstStyle/>
          <a:p>
            <a:pPr algn="l">
              <a:lnSpc>
                <a:spcPts val="1000"/>
              </a:lnSpc>
            </a:pPr>
            <a:r>
              <a:rPr lang="ro-RO" sz="800" b="1" i="0">
                <a:solidFill>
                  <a:srgbClr val="8FA3B0"/>
                </a:solidFill>
                <a:latin typeface="IBM Plex Sans" pitchFamily="34"/>
              </a:rPr>
              <a:t>B</a:t>
            </a:r>
          </a:p>
        </p:txBody>
      </p:sp>
      <p:sp>
        <p:nvSpPr>
          <p:cNvPr id="34" name="Rounded Rectangle 33"/>
          <p:cNvSpPr/>
          <p:nvPr/>
        </p:nvSpPr>
        <p:spPr>
          <a:xfrm>
            <a:off x="2636441" y="2381250"/>
            <a:ext cx="2255540" cy="482600"/>
          </a:xfrm>
          <a:prstGeom prst="roundRect">
            <a:avLst>
              <a:gd name="adj" fmla="val 15789"/>
            </a:avLst>
          </a:prstGeom>
          <a:solidFill>
            <a:srgbClr val="FFD700">
              <a:alpha val="6000"/>
            </a:srgbClr>
          </a:solidFill>
          <a:ln w="6350">
            <a:solidFill>
              <a:srgbClr val="FFD700">
                <a:alpha val="40000"/>
              </a:srgbClr>
            </a:solidFill>
          </a:ln>
        </p:spPr>
        <p:txBody>
          <a:bodyPr rtlCol="0" anchor="ctr"/>
          <a:lstStyle/>
          <a:p>
            <a:endParaRPr/>
          </a:p>
        </p:txBody>
      </p:sp>
      <p:sp>
        <p:nvSpPr>
          <p:cNvPr id="35" name="Rounded Rectangle 34"/>
          <p:cNvSpPr/>
          <p:nvPr/>
        </p:nvSpPr>
        <p:spPr>
          <a:xfrm>
            <a:off x="2744391" y="2538710"/>
            <a:ext cx="178891" cy="167580"/>
          </a:xfrm>
          <a:prstGeom prst="roundRect">
            <a:avLst>
              <a:gd name="adj" fmla="val 50000"/>
            </a:avLst>
          </a:prstGeom>
          <a:solidFill>
            <a:srgbClr val="FFD700"/>
          </a:solidFill>
          <a:ln>
            <a:noFill/>
          </a:ln>
        </p:spPr>
        <p:txBody>
          <a:bodyPr rtlCol="0" anchor="ctr"/>
          <a:lstStyle/>
          <a:p>
            <a:endParaRPr/>
          </a:p>
        </p:txBody>
      </p:sp>
      <p:sp>
        <p:nvSpPr>
          <p:cNvPr id="36" name="TextBox 35"/>
          <p:cNvSpPr txBox="1"/>
          <p:nvPr/>
        </p:nvSpPr>
        <p:spPr>
          <a:xfrm>
            <a:off x="2807372" y="2557760"/>
            <a:ext cx="52929" cy="129480"/>
          </a:xfrm>
          <a:prstGeom prst="rect">
            <a:avLst/>
          </a:prstGeom>
          <a:noFill/>
        </p:spPr>
        <p:txBody>
          <a:bodyPr wrap="none" lIns="0" tIns="0" rIns="0" bIns="0" anchor="ctr">
            <a:noAutofit/>
          </a:bodyPr>
          <a:lstStyle/>
          <a:p>
            <a:pPr algn="l">
              <a:lnSpc>
                <a:spcPts val="900"/>
              </a:lnSpc>
            </a:pPr>
            <a:r>
              <a:rPr lang="ro-RO" sz="700" b="1" i="0">
                <a:solidFill>
                  <a:srgbClr val="192B37"/>
                </a:solidFill>
                <a:latin typeface="IBM Plex Sans" pitchFamily="34"/>
              </a:rPr>
              <a:t>7</a:t>
            </a:r>
          </a:p>
        </p:txBody>
      </p:sp>
      <p:sp>
        <p:nvSpPr>
          <p:cNvPr id="37" name="TextBox 36"/>
          <p:cNvSpPr txBox="1"/>
          <p:nvPr/>
        </p:nvSpPr>
        <p:spPr>
          <a:xfrm>
            <a:off x="2999482" y="2544762"/>
            <a:ext cx="803088" cy="146050"/>
          </a:xfrm>
          <a:prstGeom prst="rect">
            <a:avLst/>
          </a:prstGeom>
          <a:noFill/>
        </p:spPr>
        <p:txBody>
          <a:bodyPr wrap="square" lIns="0" tIns="0" rIns="0" bIns="0" anchor="t">
            <a:noAutofit/>
          </a:bodyPr>
          <a:lstStyle/>
          <a:p>
            <a:pPr algn="l">
              <a:lnSpc>
                <a:spcPts val="1150"/>
              </a:lnSpc>
            </a:pPr>
            <a:r>
              <a:rPr lang="ro-RO" sz="900" b="1" i="0">
                <a:solidFill>
                  <a:srgbClr val="FFFFFF"/>
                </a:solidFill>
                <a:latin typeface="IBM Plex Sans" pitchFamily="34"/>
              </a:rPr>
              <a:t>Cine plătește</a:t>
            </a:r>
          </a:p>
        </p:txBody>
      </p:sp>
      <p:sp>
        <p:nvSpPr>
          <p:cNvPr id="38" name="TextBox 37"/>
          <p:cNvSpPr txBox="1"/>
          <p:nvPr/>
        </p:nvSpPr>
        <p:spPr>
          <a:xfrm>
            <a:off x="4355802" y="2571750"/>
            <a:ext cx="500586" cy="101600"/>
          </a:xfrm>
          <a:prstGeom prst="rect">
            <a:avLst/>
          </a:prstGeom>
          <a:noFill/>
        </p:spPr>
        <p:txBody>
          <a:bodyPr wrap="square" lIns="0" tIns="0" rIns="0" bIns="0" anchor="t">
            <a:noAutofit/>
          </a:bodyPr>
          <a:lstStyle/>
          <a:p>
            <a:pPr algn="l">
              <a:lnSpc>
                <a:spcPts val="800"/>
              </a:lnSpc>
            </a:pPr>
            <a:r>
              <a:rPr lang="ro-RO" sz="700" b="1" i="0">
                <a:solidFill>
                  <a:srgbClr val="FFD700"/>
                </a:solidFill>
                <a:latin typeface="Fira Code" pitchFamily="49"/>
              </a:rPr>
              <a:t>Business</a:t>
            </a:r>
          </a:p>
        </p:txBody>
      </p:sp>
      <p:sp>
        <p:nvSpPr>
          <p:cNvPr id="39" name="Rounded Rectangle 38"/>
          <p:cNvSpPr/>
          <p:nvPr/>
        </p:nvSpPr>
        <p:spPr>
          <a:xfrm>
            <a:off x="4968180" y="2381250"/>
            <a:ext cx="2255540" cy="482600"/>
          </a:xfrm>
          <a:prstGeom prst="roundRect">
            <a:avLst>
              <a:gd name="adj" fmla="val 15789"/>
            </a:avLst>
          </a:prstGeom>
          <a:solidFill>
            <a:srgbClr val="FFD700">
              <a:alpha val="6000"/>
            </a:srgbClr>
          </a:solidFill>
          <a:ln w="6350">
            <a:solidFill>
              <a:srgbClr val="FFD700">
                <a:alpha val="40000"/>
              </a:srgbClr>
            </a:solidFill>
          </a:ln>
        </p:spPr>
        <p:txBody>
          <a:bodyPr rtlCol="0" anchor="ctr"/>
          <a:lstStyle/>
          <a:p>
            <a:endParaRPr/>
          </a:p>
        </p:txBody>
      </p:sp>
      <p:sp>
        <p:nvSpPr>
          <p:cNvPr id="40" name="Rounded Rectangle 39"/>
          <p:cNvSpPr/>
          <p:nvPr/>
        </p:nvSpPr>
        <p:spPr>
          <a:xfrm>
            <a:off x="5076130" y="2538710"/>
            <a:ext cx="178891" cy="167580"/>
          </a:xfrm>
          <a:prstGeom prst="roundRect">
            <a:avLst>
              <a:gd name="adj" fmla="val 50000"/>
            </a:avLst>
          </a:prstGeom>
          <a:solidFill>
            <a:srgbClr val="FFD700"/>
          </a:solidFill>
          <a:ln>
            <a:noFill/>
          </a:ln>
        </p:spPr>
        <p:txBody>
          <a:bodyPr rtlCol="0" anchor="ctr"/>
          <a:lstStyle/>
          <a:p>
            <a:endParaRPr/>
          </a:p>
        </p:txBody>
      </p:sp>
      <p:sp>
        <p:nvSpPr>
          <p:cNvPr id="41" name="TextBox 40"/>
          <p:cNvSpPr txBox="1"/>
          <p:nvPr/>
        </p:nvSpPr>
        <p:spPr>
          <a:xfrm>
            <a:off x="5139112" y="2557760"/>
            <a:ext cx="52929" cy="129480"/>
          </a:xfrm>
          <a:prstGeom prst="rect">
            <a:avLst/>
          </a:prstGeom>
          <a:noFill/>
        </p:spPr>
        <p:txBody>
          <a:bodyPr wrap="none" lIns="0" tIns="0" rIns="0" bIns="0" anchor="ctr">
            <a:noAutofit/>
          </a:bodyPr>
          <a:lstStyle/>
          <a:p>
            <a:pPr algn="l">
              <a:lnSpc>
                <a:spcPts val="900"/>
              </a:lnSpc>
            </a:pPr>
            <a:r>
              <a:rPr lang="ro-RO" sz="700" b="1" i="0">
                <a:solidFill>
                  <a:srgbClr val="192B37"/>
                </a:solidFill>
                <a:latin typeface="IBM Plex Sans" pitchFamily="34"/>
              </a:rPr>
              <a:t>8</a:t>
            </a:r>
          </a:p>
        </p:txBody>
      </p:sp>
      <p:sp>
        <p:nvSpPr>
          <p:cNvPr id="42" name="TextBox 41"/>
          <p:cNvSpPr txBox="1"/>
          <p:nvPr/>
        </p:nvSpPr>
        <p:spPr>
          <a:xfrm>
            <a:off x="5331222" y="2544762"/>
            <a:ext cx="1230428" cy="146050"/>
          </a:xfrm>
          <a:prstGeom prst="rect">
            <a:avLst/>
          </a:prstGeom>
          <a:noFill/>
        </p:spPr>
        <p:txBody>
          <a:bodyPr wrap="square" lIns="0" tIns="0" rIns="0" bIns="0" anchor="t">
            <a:noAutofit/>
          </a:bodyPr>
          <a:lstStyle/>
          <a:p>
            <a:pPr algn="l">
              <a:lnSpc>
                <a:spcPts val="1150"/>
              </a:lnSpc>
            </a:pPr>
            <a:r>
              <a:rPr lang="ro-RO" sz="900" b="1" i="0">
                <a:solidFill>
                  <a:srgbClr val="FFFFFF"/>
                </a:solidFill>
                <a:latin typeface="IBM Plex Sans" pitchFamily="34"/>
              </a:rPr>
              <a:t>Piața și primii clienți</a:t>
            </a:r>
          </a:p>
        </p:txBody>
      </p:sp>
      <p:sp>
        <p:nvSpPr>
          <p:cNvPr id="43" name="TextBox 42"/>
          <p:cNvSpPr txBox="1"/>
          <p:nvPr/>
        </p:nvSpPr>
        <p:spPr>
          <a:xfrm>
            <a:off x="7047210" y="2559050"/>
            <a:ext cx="112145" cy="127000"/>
          </a:xfrm>
          <a:prstGeom prst="rect">
            <a:avLst/>
          </a:prstGeom>
          <a:noFill/>
        </p:spPr>
        <p:txBody>
          <a:bodyPr wrap="square" lIns="0" tIns="0" rIns="0" bIns="0" anchor="t">
            <a:noAutofit/>
          </a:bodyPr>
          <a:lstStyle/>
          <a:p>
            <a:pPr algn="l">
              <a:lnSpc>
                <a:spcPts val="1000"/>
              </a:lnSpc>
            </a:pPr>
            <a:r>
              <a:rPr lang="ro-RO" sz="800" b="1" i="0">
                <a:solidFill>
                  <a:srgbClr val="FFD700"/>
                </a:solidFill>
                <a:latin typeface="IBM Plex Sans" pitchFamily="34"/>
              </a:rPr>
              <a:t>R</a:t>
            </a:r>
          </a:p>
        </p:txBody>
      </p:sp>
      <p:sp>
        <p:nvSpPr>
          <p:cNvPr id="44" name="Rounded Rectangle 43"/>
          <p:cNvSpPr/>
          <p:nvPr/>
        </p:nvSpPr>
        <p:spPr>
          <a:xfrm>
            <a:off x="7299920" y="2381250"/>
            <a:ext cx="2255540" cy="482600"/>
          </a:xfrm>
          <a:prstGeom prst="roundRect">
            <a:avLst>
              <a:gd name="adj" fmla="val 15789"/>
            </a:avLst>
          </a:prstGeom>
          <a:solidFill>
            <a:srgbClr val="FFFFFF">
              <a:alpha val="4000"/>
            </a:srgbClr>
          </a:solidFill>
          <a:ln w="6350">
            <a:solidFill>
              <a:srgbClr val="FFFFFF">
                <a:alpha val="10000"/>
              </a:srgbClr>
            </a:solidFill>
          </a:ln>
        </p:spPr>
        <p:txBody>
          <a:bodyPr rtlCol="0" anchor="ctr"/>
          <a:lstStyle/>
          <a:p>
            <a:endParaRPr/>
          </a:p>
        </p:txBody>
      </p:sp>
      <p:sp>
        <p:nvSpPr>
          <p:cNvPr id="45" name="Rounded Rectangle 44"/>
          <p:cNvSpPr/>
          <p:nvPr/>
        </p:nvSpPr>
        <p:spPr>
          <a:xfrm>
            <a:off x="7407870" y="2538710"/>
            <a:ext cx="178891" cy="167580"/>
          </a:xfrm>
          <a:prstGeom prst="roundRect">
            <a:avLst>
              <a:gd name="adj" fmla="val 50000"/>
            </a:avLst>
          </a:prstGeom>
          <a:solidFill>
            <a:srgbClr val="FFFFFF">
              <a:alpha val="14000"/>
            </a:srgbClr>
          </a:solidFill>
          <a:ln>
            <a:noFill/>
          </a:ln>
        </p:spPr>
        <p:txBody>
          <a:bodyPr rtlCol="0" anchor="ctr"/>
          <a:lstStyle/>
          <a:p>
            <a:endParaRPr/>
          </a:p>
        </p:txBody>
      </p:sp>
      <p:sp>
        <p:nvSpPr>
          <p:cNvPr id="46" name="TextBox 45"/>
          <p:cNvSpPr txBox="1"/>
          <p:nvPr/>
        </p:nvSpPr>
        <p:spPr>
          <a:xfrm>
            <a:off x="7470851" y="2557760"/>
            <a:ext cx="52929" cy="129480"/>
          </a:xfrm>
          <a:prstGeom prst="rect">
            <a:avLst/>
          </a:prstGeom>
          <a:noFill/>
        </p:spPr>
        <p:txBody>
          <a:bodyPr wrap="none" lIns="0" tIns="0" rIns="0" bIns="0" anchor="ctr">
            <a:noAutofit/>
          </a:bodyPr>
          <a:lstStyle/>
          <a:p>
            <a:pPr algn="l">
              <a:lnSpc>
                <a:spcPts val="900"/>
              </a:lnSpc>
            </a:pPr>
            <a:r>
              <a:rPr lang="ro-RO" sz="700" b="1" i="0">
                <a:solidFill>
                  <a:srgbClr val="FFFFFF"/>
                </a:solidFill>
                <a:latin typeface="IBM Plex Sans" pitchFamily="34"/>
              </a:rPr>
              <a:t>9</a:t>
            </a:r>
          </a:p>
        </p:txBody>
      </p:sp>
      <p:sp>
        <p:nvSpPr>
          <p:cNvPr id="47" name="TextBox 46"/>
          <p:cNvSpPr txBox="1"/>
          <p:nvPr/>
        </p:nvSpPr>
        <p:spPr>
          <a:xfrm>
            <a:off x="7662962" y="2544762"/>
            <a:ext cx="429863" cy="146050"/>
          </a:xfrm>
          <a:prstGeom prst="rect">
            <a:avLst/>
          </a:prstGeom>
          <a:noFill/>
        </p:spPr>
        <p:txBody>
          <a:bodyPr wrap="square" lIns="0" tIns="0" rIns="0" bIns="0" anchor="t">
            <a:noAutofit/>
          </a:bodyPr>
          <a:lstStyle/>
          <a:p>
            <a:pPr algn="l">
              <a:lnSpc>
                <a:spcPts val="1150"/>
              </a:lnSpc>
            </a:pPr>
            <a:r>
              <a:rPr lang="ro-RO" sz="900" b="1" i="0">
                <a:solidFill>
                  <a:srgbClr val="FFFFFF"/>
                </a:solidFill>
                <a:latin typeface="IBM Plex Sans" pitchFamily="34"/>
              </a:rPr>
              <a:t>Echipa</a:t>
            </a:r>
          </a:p>
        </p:txBody>
      </p:sp>
      <p:sp>
        <p:nvSpPr>
          <p:cNvPr id="48" name="TextBox 47"/>
          <p:cNvSpPr txBox="1"/>
          <p:nvPr/>
        </p:nvSpPr>
        <p:spPr>
          <a:xfrm>
            <a:off x="9374882" y="2559050"/>
            <a:ext cx="116538" cy="127000"/>
          </a:xfrm>
          <a:prstGeom prst="rect">
            <a:avLst/>
          </a:prstGeom>
          <a:noFill/>
        </p:spPr>
        <p:txBody>
          <a:bodyPr wrap="square" lIns="0" tIns="0" rIns="0" bIns="0" anchor="t">
            <a:noAutofit/>
          </a:bodyPr>
          <a:lstStyle/>
          <a:p>
            <a:pPr algn="l">
              <a:lnSpc>
                <a:spcPts val="1000"/>
              </a:lnSpc>
            </a:pPr>
            <a:r>
              <a:rPr lang="ro-RO" sz="800" b="1" i="0">
                <a:solidFill>
                  <a:srgbClr val="8FA3B0"/>
                </a:solidFill>
                <a:latin typeface="IBM Plex Sans" pitchFamily="34"/>
              </a:rPr>
              <a:t>O</a:t>
            </a:r>
          </a:p>
        </p:txBody>
      </p:sp>
      <p:sp>
        <p:nvSpPr>
          <p:cNvPr id="49" name="Rounded Rectangle 48"/>
          <p:cNvSpPr/>
          <p:nvPr/>
        </p:nvSpPr>
        <p:spPr>
          <a:xfrm>
            <a:off x="9631660" y="2381250"/>
            <a:ext cx="2255540" cy="482600"/>
          </a:xfrm>
          <a:prstGeom prst="roundRect">
            <a:avLst>
              <a:gd name="adj" fmla="val 15789"/>
            </a:avLst>
          </a:prstGeom>
          <a:solidFill>
            <a:srgbClr val="FFFFFF">
              <a:alpha val="4000"/>
            </a:srgbClr>
          </a:solidFill>
          <a:ln w="6350">
            <a:solidFill>
              <a:srgbClr val="FFFFFF">
                <a:alpha val="10000"/>
              </a:srgbClr>
            </a:solidFill>
          </a:ln>
        </p:spPr>
        <p:txBody>
          <a:bodyPr rtlCol="0" anchor="ctr"/>
          <a:lstStyle/>
          <a:p>
            <a:endParaRPr/>
          </a:p>
        </p:txBody>
      </p:sp>
      <p:sp>
        <p:nvSpPr>
          <p:cNvPr id="50" name="Rounded Rectangle 49"/>
          <p:cNvSpPr/>
          <p:nvPr/>
        </p:nvSpPr>
        <p:spPr>
          <a:xfrm>
            <a:off x="9739610" y="2538710"/>
            <a:ext cx="230684" cy="167580"/>
          </a:xfrm>
          <a:prstGeom prst="roundRect">
            <a:avLst>
              <a:gd name="adj" fmla="val 50000"/>
            </a:avLst>
          </a:prstGeom>
          <a:solidFill>
            <a:srgbClr val="FFFFFF">
              <a:alpha val="14000"/>
            </a:srgbClr>
          </a:solidFill>
          <a:ln>
            <a:noFill/>
          </a:ln>
        </p:spPr>
        <p:txBody>
          <a:bodyPr rtlCol="0" anchor="ctr"/>
          <a:lstStyle/>
          <a:p>
            <a:endParaRPr/>
          </a:p>
        </p:txBody>
      </p:sp>
      <p:sp>
        <p:nvSpPr>
          <p:cNvPr id="51" name="TextBox 50"/>
          <p:cNvSpPr txBox="1"/>
          <p:nvPr/>
        </p:nvSpPr>
        <p:spPr>
          <a:xfrm>
            <a:off x="9802073" y="2557760"/>
            <a:ext cx="105757" cy="129480"/>
          </a:xfrm>
          <a:prstGeom prst="rect">
            <a:avLst/>
          </a:prstGeom>
          <a:noFill/>
        </p:spPr>
        <p:txBody>
          <a:bodyPr wrap="none" lIns="0" tIns="0" rIns="0" bIns="0" anchor="ctr">
            <a:noAutofit/>
          </a:bodyPr>
          <a:lstStyle/>
          <a:p>
            <a:pPr algn="l">
              <a:lnSpc>
                <a:spcPts val="900"/>
              </a:lnSpc>
            </a:pPr>
            <a:r>
              <a:rPr lang="ro-RO" sz="700" b="1" i="0">
                <a:solidFill>
                  <a:srgbClr val="FFFFFF"/>
                </a:solidFill>
                <a:latin typeface="IBM Plex Sans" pitchFamily="34"/>
              </a:rPr>
              <a:t>10</a:t>
            </a:r>
          </a:p>
        </p:txBody>
      </p:sp>
      <p:sp>
        <p:nvSpPr>
          <p:cNvPr id="52" name="TextBox 51"/>
          <p:cNvSpPr txBox="1"/>
          <p:nvPr/>
        </p:nvSpPr>
        <p:spPr>
          <a:xfrm>
            <a:off x="10046494" y="2544762"/>
            <a:ext cx="1320439" cy="146050"/>
          </a:xfrm>
          <a:prstGeom prst="rect">
            <a:avLst/>
          </a:prstGeom>
          <a:noFill/>
        </p:spPr>
        <p:txBody>
          <a:bodyPr wrap="square" lIns="0" tIns="0" rIns="0" bIns="0" anchor="t">
            <a:noAutofit/>
          </a:bodyPr>
          <a:lstStyle/>
          <a:p>
            <a:pPr algn="l">
              <a:lnSpc>
                <a:spcPts val="1150"/>
              </a:lnSpc>
            </a:pPr>
            <a:r>
              <a:rPr lang="ro-RO" sz="900" b="1" i="0">
                <a:solidFill>
                  <a:srgbClr val="FFFFFF"/>
                </a:solidFill>
                <a:latin typeface="IBM Plex Sans" pitchFamily="34"/>
              </a:rPr>
              <a:t>Ce urmează și cererea</a:t>
            </a:r>
          </a:p>
        </p:txBody>
      </p:sp>
      <p:sp>
        <p:nvSpPr>
          <p:cNvPr id="53" name="TextBox 52"/>
          <p:cNvSpPr txBox="1"/>
          <p:nvPr/>
        </p:nvSpPr>
        <p:spPr>
          <a:xfrm>
            <a:off x="11709598" y="2559050"/>
            <a:ext cx="113324" cy="127000"/>
          </a:xfrm>
          <a:prstGeom prst="rect">
            <a:avLst/>
          </a:prstGeom>
          <a:noFill/>
        </p:spPr>
        <p:txBody>
          <a:bodyPr wrap="square" lIns="0" tIns="0" rIns="0" bIns="0" anchor="t">
            <a:noAutofit/>
          </a:bodyPr>
          <a:lstStyle/>
          <a:p>
            <a:pPr algn="l">
              <a:lnSpc>
                <a:spcPts val="1000"/>
              </a:lnSpc>
            </a:pPr>
            <a:r>
              <a:rPr lang="ro-RO" sz="800" b="1" i="0">
                <a:solidFill>
                  <a:srgbClr val="8FA3B0"/>
                </a:solidFill>
                <a:latin typeface="IBM Plex Sans" pitchFamily="34"/>
              </a:rPr>
              <a:t>A</a:t>
            </a:r>
          </a:p>
        </p:txBody>
      </p:sp>
      <p:sp>
        <p:nvSpPr>
          <p:cNvPr id="54" name="TextBox 53"/>
          <p:cNvSpPr txBox="1"/>
          <p:nvPr/>
        </p:nvSpPr>
        <p:spPr>
          <a:xfrm>
            <a:off x="304800" y="2952750"/>
            <a:ext cx="3101804" cy="101600"/>
          </a:xfrm>
          <a:prstGeom prst="rect">
            <a:avLst/>
          </a:prstGeom>
          <a:noFill/>
        </p:spPr>
        <p:txBody>
          <a:bodyPr wrap="square" lIns="0" tIns="0" rIns="0" bIns="0" anchor="t">
            <a:noAutofit/>
          </a:bodyPr>
          <a:lstStyle/>
          <a:p>
            <a:pPr algn="l">
              <a:lnSpc>
                <a:spcPts val="800"/>
              </a:lnSpc>
            </a:pPr>
            <a:r>
              <a:rPr lang="ro-RO" sz="700" b="0" i="0">
                <a:solidFill>
                  <a:srgbClr val="8FA3B0"/>
                </a:solidFill>
                <a:latin typeface="Fira Code" pitchFamily="49"/>
              </a:rPr>
              <a:t>+ anexe pentru Q&amp;A, după slide-ul 10 — nu se prezintă</a:t>
            </a:r>
          </a:p>
        </p:txBody>
      </p:sp>
      <p:sp>
        <p:nvSpPr>
          <p:cNvPr id="55" name="TextBox 54"/>
          <p:cNvSpPr txBox="1"/>
          <p:nvPr/>
        </p:nvSpPr>
        <p:spPr>
          <a:xfrm>
            <a:off x="304800" y="3232150"/>
            <a:ext cx="1184029" cy="101600"/>
          </a:xfrm>
          <a:prstGeom prst="rect">
            <a:avLst/>
          </a:prstGeom>
          <a:noFill/>
        </p:spPr>
        <p:txBody>
          <a:bodyPr wrap="square" lIns="0" tIns="0" rIns="0" bIns="0" anchor="t">
            <a:noAutofit/>
          </a:bodyPr>
          <a:lstStyle/>
          <a:p>
            <a:pPr algn="l">
              <a:lnSpc>
                <a:spcPts val="800"/>
              </a:lnSpc>
            </a:pPr>
            <a:r>
              <a:rPr lang="ro-RO" sz="700" b="1" i="0" spc="70">
                <a:solidFill>
                  <a:srgbClr val="FF5640"/>
                </a:solidFill>
                <a:latin typeface="Fira Code" pitchFamily="49"/>
              </a:rPr>
              <a:t>PITCH DE 3 MINUTE</a:t>
            </a:r>
          </a:p>
        </p:txBody>
      </p:sp>
      <p:sp>
        <p:nvSpPr>
          <p:cNvPr id="56" name="TextBox 55"/>
          <p:cNvSpPr txBox="1"/>
          <p:nvPr/>
        </p:nvSpPr>
        <p:spPr>
          <a:xfrm>
            <a:off x="9914434" y="3244850"/>
            <a:ext cx="2168688" cy="88900"/>
          </a:xfrm>
          <a:prstGeom prst="rect">
            <a:avLst/>
          </a:prstGeom>
          <a:noFill/>
        </p:spPr>
        <p:txBody>
          <a:bodyPr wrap="square" lIns="0" tIns="0" rIns="0" bIns="0" anchor="t">
            <a:noAutofit/>
          </a:bodyPr>
          <a:lstStyle/>
          <a:p>
            <a:pPr algn="l">
              <a:lnSpc>
                <a:spcPts val="700"/>
              </a:lnSpc>
            </a:pPr>
            <a:r>
              <a:rPr lang="ro-RO" sz="600" b="0" i="0">
                <a:solidFill>
                  <a:srgbClr val="8C959B"/>
                </a:solidFill>
                <a:latin typeface="Fira Code" pitchFamily="49"/>
              </a:rPr>
              <a:t>180 s · lățimea segmentului = secundele lui</a:t>
            </a:r>
          </a:p>
        </p:txBody>
      </p:sp>
      <p:sp>
        <p:nvSpPr>
          <p:cNvPr id="57" name="Rectangle 56"/>
          <p:cNvSpPr/>
          <p:nvPr/>
        </p:nvSpPr>
        <p:spPr>
          <a:xfrm>
            <a:off x="304800" y="3397250"/>
            <a:ext cx="1930400" cy="609600"/>
          </a:xfrm>
          <a:prstGeom prst="rect">
            <a:avLst/>
          </a:prstGeom>
          <a:solidFill>
            <a:srgbClr val="8FA3B0">
              <a:alpha val="22000"/>
            </a:srgbClr>
          </a:solidFill>
          <a:ln>
            <a:noFill/>
          </a:ln>
        </p:spPr>
        <p:txBody>
          <a:bodyPr rtlCol="0" anchor="ctr"/>
          <a:lstStyle/>
          <a:p>
            <a:endParaRPr/>
          </a:p>
        </p:txBody>
      </p:sp>
      <p:sp>
        <p:nvSpPr>
          <p:cNvPr id="58" name="Rectangle 57"/>
          <p:cNvSpPr/>
          <p:nvPr/>
        </p:nvSpPr>
        <p:spPr>
          <a:xfrm>
            <a:off x="2216150" y="3397250"/>
            <a:ext cx="19050" cy="609600"/>
          </a:xfrm>
          <a:prstGeom prst="rect">
            <a:avLst/>
          </a:prstGeom>
          <a:solidFill>
            <a:srgbClr val="192B37"/>
          </a:solidFill>
          <a:ln>
            <a:noFill/>
          </a:ln>
        </p:spPr>
        <p:txBody>
          <a:bodyPr rtlCol="0" anchor="ctr"/>
          <a:lstStyle/>
          <a:p>
            <a:endParaRPr/>
          </a:p>
        </p:txBody>
      </p:sp>
      <p:sp>
        <p:nvSpPr>
          <p:cNvPr id="59" name="TextBox 58"/>
          <p:cNvSpPr txBox="1"/>
          <p:nvPr/>
        </p:nvSpPr>
        <p:spPr>
          <a:xfrm>
            <a:off x="355600" y="3532188"/>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2</a:t>
            </a:r>
          </a:p>
        </p:txBody>
      </p:sp>
      <p:sp>
        <p:nvSpPr>
          <p:cNvPr id="60" name="TextBox 59"/>
          <p:cNvSpPr txBox="1"/>
          <p:nvPr/>
        </p:nvSpPr>
        <p:spPr>
          <a:xfrm>
            <a:off x="497880" y="3621088"/>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30 s</a:t>
            </a:r>
          </a:p>
        </p:txBody>
      </p:sp>
      <p:sp>
        <p:nvSpPr>
          <p:cNvPr id="61" name="TextBox 60"/>
          <p:cNvSpPr txBox="1"/>
          <p:nvPr/>
        </p:nvSpPr>
        <p:spPr>
          <a:xfrm>
            <a:off x="355600" y="3754438"/>
            <a:ext cx="754761"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Omul și durerea</a:t>
            </a:r>
          </a:p>
        </p:txBody>
      </p:sp>
      <p:sp>
        <p:nvSpPr>
          <p:cNvPr id="62" name="Rectangle 61"/>
          <p:cNvSpPr/>
          <p:nvPr/>
        </p:nvSpPr>
        <p:spPr>
          <a:xfrm>
            <a:off x="2235200" y="3397250"/>
            <a:ext cx="1930400" cy="609600"/>
          </a:xfrm>
          <a:prstGeom prst="rect">
            <a:avLst/>
          </a:prstGeom>
          <a:solidFill>
            <a:srgbClr val="8FA3B0">
              <a:alpha val="22000"/>
            </a:srgbClr>
          </a:solidFill>
          <a:ln>
            <a:noFill/>
          </a:ln>
        </p:spPr>
        <p:txBody>
          <a:bodyPr rtlCol="0" anchor="ctr"/>
          <a:lstStyle/>
          <a:p>
            <a:endParaRPr/>
          </a:p>
        </p:txBody>
      </p:sp>
      <p:sp>
        <p:nvSpPr>
          <p:cNvPr id="63" name="Rectangle 62"/>
          <p:cNvSpPr/>
          <p:nvPr/>
        </p:nvSpPr>
        <p:spPr>
          <a:xfrm>
            <a:off x="4146550" y="3397250"/>
            <a:ext cx="19050" cy="609600"/>
          </a:xfrm>
          <a:prstGeom prst="rect">
            <a:avLst/>
          </a:prstGeom>
          <a:solidFill>
            <a:srgbClr val="192B37"/>
          </a:solidFill>
          <a:ln>
            <a:noFill/>
          </a:ln>
        </p:spPr>
        <p:txBody>
          <a:bodyPr rtlCol="0" anchor="ctr"/>
          <a:lstStyle/>
          <a:p>
            <a:endParaRPr/>
          </a:p>
        </p:txBody>
      </p:sp>
      <p:sp>
        <p:nvSpPr>
          <p:cNvPr id="64" name="TextBox 63"/>
          <p:cNvSpPr txBox="1"/>
          <p:nvPr/>
        </p:nvSpPr>
        <p:spPr>
          <a:xfrm>
            <a:off x="2286000" y="3532188"/>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3</a:t>
            </a:r>
          </a:p>
        </p:txBody>
      </p:sp>
      <p:sp>
        <p:nvSpPr>
          <p:cNvPr id="65" name="TextBox 64"/>
          <p:cNvSpPr txBox="1"/>
          <p:nvPr/>
        </p:nvSpPr>
        <p:spPr>
          <a:xfrm>
            <a:off x="2428280" y="3621088"/>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30 s</a:t>
            </a:r>
          </a:p>
        </p:txBody>
      </p:sp>
      <p:sp>
        <p:nvSpPr>
          <p:cNvPr id="66" name="TextBox 65"/>
          <p:cNvSpPr txBox="1"/>
          <p:nvPr/>
        </p:nvSpPr>
        <p:spPr>
          <a:xfrm>
            <a:off x="2286000" y="3754438"/>
            <a:ext cx="882706"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De ce nu merge azi</a:t>
            </a:r>
          </a:p>
        </p:txBody>
      </p:sp>
      <p:sp>
        <p:nvSpPr>
          <p:cNvPr id="67" name="Rectangle 66"/>
          <p:cNvSpPr/>
          <p:nvPr/>
        </p:nvSpPr>
        <p:spPr>
          <a:xfrm>
            <a:off x="4165600" y="3397250"/>
            <a:ext cx="643434" cy="609600"/>
          </a:xfrm>
          <a:prstGeom prst="rect">
            <a:avLst/>
          </a:prstGeom>
          <a:solidFill>
            <a:srgbClr val="8FA3B0">
              <a:alpha val="22000"/>
            </a:srgbClr>
          </a:solidFill>
          <a:ln>
            <a:noFill/>
          </a:ln>
        </p:spPr>
        <p:txBody>
          <a:bodyPr rtlCol="0" anchor="ctr"/>
          <a:lstStyle/>
          <a:p>
            <a:endParaRPr/>
          </a:p>
        </p:txBody>
      </p:sp>
      <p:sp>
        <p:nvSpPr>
          <p:cNvPr id="68" name="Rectangle 67"/>
          <p:cNvSpPr/>
          <p:nvPr/>
        </p:nvSpPr>
        <p:spPr>
          <a:xfrm>
            <a:off x="4789984" y="3397250"/>
            <a:ext cx="19050" cy="609600"/>
          </a:xfrm>
          <a:prstGeom prst="rect">
            <a:avLst/>
          </a:prstGeom>
          <a:solidFill>
            <a:srgbClr val="192B37"/>
          </a:solidFill>
          <a:ln>
            <a:noFill/>
          </a:ln>
        </p:spPr>
        <p:txBody>
          <a:bodyPr rtlCol="0" anchor="ctr"/>
          <a:lstStyle/>
          <a:p>
            <a:endParaRPr/>
          </a:p>
        </p:txBody>
      </p:sp>
      <p:sp>
        <p:nvSpPr>
          <p:cNvPr id="69" name="TextBox 68"/>
          <p:cNvSpPr txBox="1"/>
          <p:nvPr/>
        </p:nvSpPr>
        <p:spPr>
          <a:xfrm>
            <a:off x="4216400" y="3600450"/>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4</a:t>
            </a:r>
          </a:p>
        </p:txBody>
      </p:sp>
      <p:sp>
        <p:nvSpPr>
          <p:cNvPr id="70" name="TextBox 69"/>
          <p:cNvSpPr txBox="1"/>
          <p:nvPr/>
        </p:nvSpPr>
        <p:spPr>
          <a:xfrm>
            <a:off x="4358680" y="3689350"/>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10 s</a:t>
            </a:r>
          </a:p>
        </p:txBody>
      </p:sp>
      <p:sp>
        <p:nvSpPr>
          <p:cNvPr id="71" name="Rectangle 70"/>
          <p:cNvSpPr/>
          <p:nvPr/>
        </p:nvSpPr>
        <p:spPr>
          <a:xfrm>
            <a:off x="4809034" y="3397250"/>
            <a:ext cx="3217267" cy="609600"/>
          </a:xfrm>
          <a:prstGeom prst="rect">
            <a:avLst/>
          </a:prstGeom>
          <a:solidFill>
            <a:srgbClr val="FF5640"/>
          </a:solidFill>
          <a:ln>
            <a:noFill/>
          </a:ln>
        </p:spPr>
        <p:txBody>
          <a:bodyPr rtlCol="0" anchor="ctr"/>
          <a:lstStyle/>
          <a:p>
            <a:endParaRPr/>
          </a:p>
        </p:txBody>
      </p:sp>
      <p:sp>
        <p:nvSpPr>
          <p:cNvPr id="72" name="Rectangle 71"/>
          <p:cNvSpPr/>
          <p:nvPr/>
        </p:nvSpPr>
        <p:spPr>
          <a:xfrm>
            <a:off x="8007251" y="3397250"/>
            <a:ext cx="19050" cy="609600"/>
          </a:xfrm>
          <a:prstGeom prst="rect">
            <a:avLst/>
          </a:prstGeom>
          <a:solidFill>
            <a:srgbClr val="192B37"/>
          </a:solidFill>
          <a:ln>
            <a:noFill/>
          </a:ln>
        </p:spPr>
        <p:txBody>
          <a:bodyPr rtlCol="0" anchor="ctr"/>
          <a:lstStyle/>
          <a:p>
            <a:endParaRPr/>
          </a:p>
        </p:txBody>
      </p:sp>
      <p:sp>
        <p:nvSpPr>
          <p:cNvPr id="73" name="TextBox 72"/>
          <p:cNvSpPr txBox="1"/>
          <p:nvPr/>
        </p:nvSpPr>
        <p:spPr>
          <a:xfrm>
            <a:off x="4859834" y="3532188"/>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5</a:t>
            </a:r>
          </a:p>
        </p:txBody>
      </p:sp>
      <p:sp>
        <p:nvSpPr>
          <p:cNvPr id="74" name="TextBox 73"/>
          <p:cNvSpPr txBox="1"/>
          <p:nvPr/>
        </p:nvSpPr>
        <p:spPr>
          <a:xfrm>
            <a:off x="5002113" y="3621088"/>
            <a:ext cx="236339" cy="88900"/>
          </a:xfrm>
          <a:prstGeom prst="rect">
            <a:avLst/>
          </a:prstGeom>
          <a:noFill/>
        </p:spPr>
        <p:txBody>
          <a:bodyPr wrap="square" lIns="0" tIns="0" rIns="0" bIns="0" anchor="t">
            <a:noAutofit/>
          </a:bodyPr>
          <a:lstStyle/>
          <a:p>
            <a:pPr algn="l">
              <a:lnSpc>
                <a:spcPts val="700"/>
              </a:lnSpc>
            </a:pPr>
            <a:r>
              <a:rPr lang="ro-RO" sz="600" b="0" i="0">
                <a:solidFill>
                  <a:srgbClr val="FFDDD8"/>
                </a:solidFill>
                <a:latin typeface="Fira Code" pitchFamily="49"/>
              </a:rPr>
              <a:t>50 s</a:t>
            </a:r>
          </a:p>
        </p:txBody>
      </p:sp>
      <p:sp>
        <p:nvSpPr>
          <p:cNvPr id="75" name="TextBox 74"/>
          <p:cNvSpPr txBox="1"/>
          <p:nvPr/>
        </p:nvSpPr>
        <p:spPr>
          <a:xfrm>
            <a:off x="4859834" y="3754438"/>
            <a:ext cx="299025"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Demo</a:t>
            </a:r>
          </a:p>
        </p:txBody>
      </p:sp>
      <p:sp>
        <p:nvSpPr>
          <p:cNvPr id="76" name="Rectangle 75"/>
          <p:cNvSpPr/>
          <p:nvPr/>
        </p:nvSpPr>
        <p:spPr>
          <a:xfrm>
            <a:off x="8026301" y="3397250"/>
            <a:ext cx="1930400" cy="609600"/>
          </a:xfrm>
          <a:prstGeom prst="rect">
            <a:avLst/>
          </a:prstGeom>
          <a:solidFill>
            <a:srgbClr val="8FA3B0">
              <a:alpha val="22000"/>
            </a:srgbClr>
          </a:solidFill>
          <a:ln>
            <a:noFill/>
          </a:ln>
        </p:spPr>
        <p:txBody>
          <a:bodyPr rtlCol="0" anchor="ctr"/>
          <a:lstStyle/>
          <a:p>
            <a:endParaRPr/>
          </a:p>
        </p:txBody>
      </p:sp>
      <p:sp>
        <p:nvSpPr>
          <p:cNvPr id="77" name="Rectangle 76"/>
          <p:cNvSpPr/>
          <p:nvPr/>
        </p:nvSpPr>
        <p:spPr>
          <a:xfrm>
            <a:off x="9937651" y="3397250"/>
            <a:ext cx="19050" cy="609600"/>
          </a:xfrm>
          <a:prstGeom prst="rect">
            <a:avLst/>
          </a:prstGeom>
          <a:solidFill>
            <a:srgbClr val="192B37"/>
          </a:solidFill>
          <a:ln>
            <a:noFill/>
          </a:ln>
        </p:spPr>
        <p:txBody>
          <a:bodyPr rtlCol="0" anchor="ctr"/>
          <a:lstStyle/>
          <a:p>
            <a:endParaRPr/>
          </a:p>
        </p:txBody>
      </p:sp>
      <p:sp>
        <p:nvSpPr>
          <p:cNvPr id="78" name="TextBox 77"/>
          <p:cNvSpPr txBox="1"/>
          <p:nvPr/>
        </p:nvSpPr>
        <p:spPr>
          <a:xfrm>
            <a:off x="8077101" y="3532188"/>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6</a:t>
            </a:r>
          </a:p>
        </p:txBody>
      </p:sp>
      <p:sp>
        <p:nvSpPr>
          <p:cNvPr id="79" name="TextBox 78"/>
          <p:cNvSpPr txBox="1"/>
          <p:nvPr/>
        </p:nvSpPr>
        <p:spPr>
          <a:xfrm>
            <a:off x="8219380" y="3621088"/>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30 s</a:t>
            </a:r>
          </a:p>
        </p:txBody>
      </p:sp>
      <p:sp>
        <p:nvSpPr>
          <p:cNvPr id="80" name="TextBox 79"/>
          <p:cNvSpPr txBox="1"/>
          <p:nvPr/>
        </p:nvSpPr>
        <p:spPr>
          <a:xfrm>
            <a:off x="8077101" y="3754438"/>
            <a:ext cx="748117"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Cum e construit</a:t>
            </a:r>
          </a:p>
        </p:txBody>
      </p:sp>
      <p:sp>
        <p:nvSpPr>
          <p:cNvPr id="81" name="Rectangle 80"/>
          <p:cNvSpPr/>
          <p:nvPr/>
        </p:nvSpPr>
        <p:spPr>
          <a:xfrm>
            <a:off x="9956701" y="3397250"/>
            <a:ext cx="643434" cy="609600"/>
          </a:xfrm>
          <a:prstGeom prst="rect">
            <a:avLst/>
          </a:prstGeom>
          <a:solidFill>
            <a:srgbClr val="FFD700"/>
          </a:solidFill>
          <a:ln>
            <a:noFill/>
          </a:ln>
        </p:spPr>
        <p:txBody>
          <a:bodyPr rtlCol="0" anchor="ctr"/>
          <a:lstStyle/>
          <a:p>
            <a:endParaRPr/>
          </a:p>
        </p:txBody>
      </p:sp>
      <p:sp>
        <p:nvSpPr>
          <p:cNvPr id="82" name="Rectangle 81"/>
          <p:cNvSpPr/>
          <p:nvPr/>
        </p:nvSpPr>
        <p:spPr>
          <a:xfrm>
            <a:off x="10581084" y="3397250"/>
            <a:ext cx="19050" cy="609600"/>
          </a:xfrm>
          <a:prstGeom prst="rect">
            <a:avLst/>
          </a:prstGeom>
          <a:solidFill>
            <a:srgbClr val="192B37"/>
          </a:solidFill>
          <a:ln>
            <a:noFill/>
          </a:ln>
        </p:spPr>
        <p:txBody>
          <a:bodyPr rtlCol="0" anchor="ctr"/>
          <a:lstStyle/>
          <a:p>
            <a:endParaRPr/>
          </a:p>
        </p:txBody>
      </p:sp>
      <p:sp>
        <p:nvSpPr>
          <p:cNvPr id="83" name="TextBox 82"/>
          <p:cNvSpPr txBox="1"/>
          <p:nvPr/>
        </p:nvSpPr>
        <p:spPr>
          <a:xfrm>
            <a:off x="10007501" y="3600450"/>
            <a:ext cx="136898" cy="203200"/>
          </a:xfrm>
          <a:prstGeom prst="rect">
            <a:avLst/>
          </a:prstGeom>
          <a:noFill/>
        </p:spPr>
        <p:txBody>
          <a:bodyPr wrap="square" lIns="0" tIns="0" rIns="0" bIns="0" anchor="t">
            <a:noAutofit/>
          </a:bodyPr>
          <a:lstStyle/>
          <a:p>
            <a:pPr algn="l">
              <a:lnSpc>
                <a:spcPts val="1600"/>
              </a:lnSpc>
            </a:pPr>
            <a:r>
              <a:rPr lang="ro-RO" sz="1200" b="1" i="0">
                <a:solidFill>
                  <a:srgbClr val="192B37"/>
                </a:solidFill>
                <a:latin typeface="IBM Plex Sans" pitchFamily="34"/>
              </a:rPr>
              <a:t>7</a:t>
            </a:r>
          </a:p>
        </p:txBody>
      </p:sp>
      <p:sp>
        <p:nvSpPr>
          <p:cNvPr id="84" name="TextBox 83"/>
          <p:cNvSpPr txBox="1"/>
          <p:nvPr/>
        </p:nvSpPr>
        <p:spPr>
          <a:xfrm>
            <a:off x="10149780" y="3689350"/>
            <a:ext cx="236339" cy="88900"/>
          </a:xfrm>
          <a:prstGeom prst="rect">
            <a:avLst/>
          </a:prstGeom>
          <a:noFill/>
        </p:spPr>
        <p:txBody>
          <a:bodyPr wrap="square" lIns="0" tIns="0" rIns="0" bIns="0" anchor="t">
            <a:noAutofit/>
          </a:bodyPr>
          <a:lstStyle/>
          <a:p>
            <a:pPr algn="l">
              <a:lnSpc>
                <a:spcPts val="700"/>
              </a:lnSpc>
            </a:pPr>
            <a:r>
              <a:rPr lang="ro-RO" sz="600" b="0" i="0">
                <a:solidFill>
                  <a:srgbClr val="474D2C"/>
                </a:solidFill>
                <a:latin typeface="Fira Code" pitchFamily="49"/>
              </a:rPr>
              <a:t>10 s</a:t>
            </a:r>
          </a:p>
        </p:txBody>
      </p:sp>
      <p:sp>
        <p:nvSpPr>
          <p:cNvPr id="85" name="Rectangle 84"/>
          <p:cNvSpPr/>
          <p:nvPr/>
        </p:nvSpPr>
        <p:spPr>
          <a:xfrm>
            <a:off x="10600134" y="3397250"/>
            <a:ext cx="643434" cy="609600"/>
          </a:xfrm>
          <a:prstGeom prst="rect">
            <a:avLst/>
          </a:prstGeom>
          <a:solidFill>
            <a:srgbClr val="8FA3B0">
              <a:alpha val="22000"/>
            </a:srgbClr>
          </a:solidFill>
          <a:ln>
            <a:noFill/>
          </a:ln>
        </p:spPr>
        <p:txBody>
          <a:bodyPr rtlCol="0" anchor="ctr"/>
          <a:lstStyle/>
          <a:p>
            <a:endParaRPr/>
          </a:p>
        </p:txBody>
      </p:sp>
      <p:sp>
        <p:nvSpPr>
          <p:cNvPr id="86" name="Rectangle 85"/>
          <p:cNvSpPr/>
          <p:nvPr/>
        </p:nvSpPr>
        <p:spPr>
          <a:xfrm>
            <a:off x="11224518" y="3397250"/>
            <a:ext cx="19050" cy="609600"/>
          </a:xfrm>
          <a:prstGeom prst="rect">
            <a:avLst/>
          </a:prstGeom>
          <a:solidFill>
            <a:srgbClr val="192B37"/>
          </a:solidFill>
          <a:ln>
            <a:noFill/>
          </a:ln>
        </p:spPr>
        <p:txBody>
          <a:bodyPr rtlCol="0" anchor="ctr"/>
          <a:lstStyle/>
          <a:p>
            <a:endParaRPr/>
          </a:p>
        </p:txBody>
      </p:sp>
      <p:sp>
        <p:nvSpPr>
          <p:cNvPr id="87" name="TextBox 86"/>
          <p:cNvSpPr txBox="1"/>
          <p:nvPr/>
        </p:nvSpPr>
        <p:spPr>
          <a:xfrm>
            <a:off x="10650934" y="3600450"/>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9</a:t>
            </a:r>
          </a:p>
        </p:txBody>
      </p:sp>
      <p:sp>
        <p:nvSpPr>
          <p:cNvPr id="88" name="TextBox 87"/>
          <p:cNvSpPr txBox="1"/>
          <p:nvPr/>
        </p:nvSpPr>
        <p:spPr>
          <a:xfrm>
            <a:off x="10793214" y="3689350"/>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10 s</a:t>
            </a:r>
          </a:p>
        </p:txBody>
      </p:sp>
      <p:sp>
        <p:nvSpPr>
          <p:cNvPr id="89" name="Rectangle 88"/>
          <p:cNvSpPr/>
          <p:nvPr/>
        </p:nvSpPr>
        <p:spPr>
          <a:xfrm>
            <a:off x="11243568" y="3397250"/>
            <a:ext cx="643434" cy="609600"/>
          </a:xfrm>
          <a:prstGeom prst="rect">
            <a:avLst/>
          </a:prstGeom>
          <a:solidFill>
            <a:srgbClr val="8FA3B0">
              <a:alpha val="22000"/>
            </a:srgbClr>
          </a:solidFill>
          <a:ln>
            <a:noFill/>
          </a:ln>
        </p:spPr>
        <p:txBody>
          <a:bodyPr rtlCol="0" anchor="ctr"/>
          <a:lstStyle/>
          <a:p>
            <a:endParaRPr/>
          </a:p>
        </p:txBody>
      </p:sp>
      <p:sp>
        <p:nvSpPr>
          <p:cNvPr id="90" name="Rectangle 89"/>
          <p:cNvSpPr/>
          <p:nvPr/>
        </p:nvSpPr>
        <p:spPr>
          <a:xfrm>
            <a:off x="11867952" y="3397250"/>
            <a:ext cx="19050" cy="609600"/>
          </a:xfrm>
          <a:prstGeom prst="rect">
            <a:avLst/>
          </a:prstGeom>
          <a:solidFill>
            <a:srgbClr val="192B37"/>
          </a:solidFill>
          <a:ln>
            <a:noFill/>
          </a:ln>
        </p:spPr>
        <p:txBody>
          <a:bodyPr rtlCol="0" anchor="ctr"/>
          <a:lstStyle/>
          <a:p>
            <a:endParaRPr/>
          </a:p>
        </p:txBody>
      </p:sp>
      <p:sp>
        <p:nvSpPr>
          <p:cNvPr id="91" name="TextBox 90"/>
          <p:cNvSpPr txBox="1"/>
          <p:nvPr/>
        </p:nvSpPr>
        <p:spPr>
          <a:xfrm>
            <a:off x="11294368" y="3600450"/>
            <a:ext cx="235696"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10</a:t>
            </a:r>
          </a:p>
        </p:txBody>
      </p:sp>
      <p:sp>
        <p:nvSpPr>
          <p:cNvPr id="92" name="TextBox 91"/>
          <p:cNvSpPr txBox="1"/>
          <p:nvPr/>
        </p:nvSpPr>
        <p:spPr>
          <a:xfrm>
            <a:off x="11528127" y="3689350"/>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10 s</a:t>
            </a:r>
          </a:p>
        </p:txBody>
      </p:sp>
      <p:sp>
        <p:nvSpPr>
          <p:cNvPr id="93" name="TextBox 92"/>
          <p:cNvSpPr txBox="1"/>
          <p:nvPr/>
        </p:nvSpPr>
        <p:spPr>
          <a:xfrm>
            <a:off x="304800" y="4038600"/>
            <a:ext cx="236339" cy="88900"/>
          </a:xfrm>
          <a:prstGeom prst="rect">
            <a:avLst/>
          </a:prstGeom>
          <a:noFill/>
        </p:spPr>
        <p:txBody>
          <a:bodyPr wrap="square" lIns="0" tIns="0" rIns="0" bIns="0" anchor="t">
            <a:noAutofit/>
          </a:bodyPr>
          <a:lstStyle/>
          <a:p>
            <a:pPr algn="l">
              <a:lnSpc>
                <a:spcPts val="700"/>
              </a:lnSpc>
            </a:pPr>
            <a:r>
              <a:rPr lang="ro-RO" sz="600" b="0" i="0">
                <a:solidFill>
                  <a:srgbClr val="A3AAAF"/>
                </a:solidFill>
                <a:latin typeface="Fira Code" pitchFamily="49"/>
              </a:rPr>
              <a:t>0:00</a:t>
            </a:r>
          </a:p>
        </p:txBody>
      </p:sp>
      <p:sp>
        <p:nvSpPr>
          <p:cNvPr id="94" name="TextBox 93"/>
          <p:cNvSpPr txBox="1"/>
          <p:nvPr/>
        </p:nvSpPr>
        <p:spPr>
          <a:xfrm>
            <a:off x="4073723" y="4038600"/>
            <a:ext cx="236339" cy="88900"/>
          </a:xfrm>
          <a:prstGeom prst="rect">
            <a:avLst/>
          </a:prstGeom>
          <a:noFill/>
        </p:spPr>
        <p:txBody>
          <a:bodyPr wrap="square" lIns="0" tIns="0" rIns="0" bIns="0" anchor="t">
            <a:noAutofit/>
          </a:bodyPr>
          <a:lstStyle/>
          <a:p>
            <a:pPr algn="l">
              <a:lnSpc>
                <a:spcPts val="700"/>
              </a:lnSpc>
            </a:pPr>
            <a:r>
              <a:rPr lang="ro-RO" sz="600" b="0" i="0">
                <a:solidFill>
                  <a:srgbClr val="A3AAAF"/>
                </a:solidFill>
                <a:latin typeface="Fira Code" pitchFamily="49"/>
              </a:rPr>
              <a:t>1:00</a:t>
            </a:r>
          </a:p>
        </p:txBody>
      </p:sp>
      <p:sp>
        <p:nvSpPr>
          <p:cNvPr id="95" name="TextBox 94"/>
          <p:cNvSpPr txBox="1"/>
          <p:nvPr/>
        </p:nvSpPr>
        <p:spPr>
          <a:xfrm>
            <a:off x="7934623" y="4038600"/>
            <a:ext cx="236339" cy="88900"/>
          </a:xfrm>
          <a:prstGeom prst="rect">
            <a:avLst/>
          </a:prstGeom>
          <a:noFill/>
        </p:spPr>
        <p:txBody>
          <a:bodyPr wrap="square" lIns="0" tIns="0" rIns="0" bIns="0" anchor="t">
            <a:noAutofit/>
          </a:bodyPr>
          <a:lstStyle/>
          <a:p>
            <a:pPr algn="l">
              <a:lnSpc>
                <a:spcPts val="700"/>
              </a:lnSpc>
            </a:pPr>
            <a:r>
              <a:rPr lang="ro-RO" sz="600" b="0" i="0">
                <a:solidFill>
                  <a:srgbClr val="A3AAAF"/>
                </a:solidFill>
                <a:latin typeface="Fira Code" pitchFamily="49"/>
              </a:rPr>
              <a:t>2:00</a:t>
            </a:r>
          </a:p>
        </p:txBody>
      </p:sp>
      <p:sp>
        <p:nvSpPr>
          <p:cNvPr id="96" name="TextBox 95"/>
          <p:cNvSpPr txBox="1"/>
          <p:nvPr/>
        </p:nvSpPr>
        <p:spPr>
          <a:xfrm>
            <a:off x="11703645" y="4038600"/>
            <a:ext cx="236339" cy="88900"/>
          </a:xfrm>
          <a:prstGeom prst="rect">
            <a:avLst/>
          </a:prstGeom>
          <a:noFill/>
        </p:spPr>
        <p:txBody>
          <a:bodyPr wrap="square" lIns="0" tIns="0" rIns="0" bIns="0" anchor="t">
            <a:noAutofit/>
          </a:bodyPr>
          <a:lstStyle/>
          <a:p>
            <a:pPr algn="l">
              <a:lnSpc>
                <a:spcPts val="700"/>
              </a:lnSpc>
            </a:pPr>
            <a:r>
              <a:rPr lang="ro-RO" sz="600" b="0" i="0">
                <a:solidFill>
                  <a:srgbClr val="A3AAAF"/>
                </a:solidFill>
                <a:latin typeface="Fira Code" pitchFamily="49"/>
              </a:rPr>
              <a:t>3:00</a:t>
            </a:r>
          </a:p>
        </p:txBody>
      </p:sp>
      <p:sp>
        <p:nvSpPr>
          <p:cNvPr id="97" name="TextBox 96"/>
          <p:cNvSpPr txBox="1"/>
          <p:nvPr/>
        </p:nvSpPr>
        <p:spPr>
          <a:xfrm>
            <a:off x="304800" y="4260850"/>
            <a:ext cx="1184029" cy="101600"/>
          </a:xfrm>
          <a:prstGeom prst="rect">
            <a:avLst/>
          </a:prstGeom>
          <a:noFill/>
        </p:spPr>
        <p:txBody>
          <a:bodyPr wrap="square" lIns="0" tIns="0" rIns="0" bIns="0" anchor="t">
            <a:noAutofit/>
          </a:bodyPr>
          <a:lstStyle/>
          <a:p>
            <a:pPr algn="l">
              <a:lnSpc>
                <a:spcPts val="800"/>
              </a:lnSpc>
            </a:pPr>
            <a:r>
              <a:rPr lang="ro-RO" sz="700" b="1" i="0" spc="70">
                <a:solidFill>
                  <a:srgbClr val="FF5640"/>
                </a:solidFill>
                <a:latin typeface="Fira Code" pitchFamily="49"/>
              </a:rPr>
              <a:t>PITCH DE 5 MINUTE</a:t>
            </a:r>
          </a:p>
        </p:txBody>
      </p:sp>
      <p:sp>
        <p:nvSpPr>
          <p:cNvPr id="98" name="TextBox 97"/>
          <p:cNvSpPr txBox="1"/>
          <p:nvPr/>
        </p:nvSpPr>
        <p:spPr>
          <a:xfrm>
            <a:off x="9914434" y="4273550"/>
            <a:ext cx="2168688" cy="88900"/>
          </a:xfrm>
          <a:prstGeom prst="rect">
            <a:avLst/>
          </a:prstGeom>
          <a:noFill/>
        </p:spPr>
        <p:txBody>
          <a:bodyPr wrap="square" lIns="0" tIns="0" rIns="0" bIns="0" anchor="t">
            <a:noAutofit/>
          </a:bodyPr>
          <a:lstStyle/>
          <a:p>
            <a:pPr algn="l">
              <a:lnSpc>
                <a:spcPts val="700"/>
              </a:lnSpc>
            </a:pPr>
            <a:r>
              <a:rPr lang="ro-RO" sz="600" b="0" i="0">
                <a:solidFill>
                  <a:srgbClr val="8C959B"/>
                </a:solidFill>
                <a:latin typeface="Fira Code" pitchFamily="49"/>
              </a:rPr>
              <a:t>300 s · lățimea segmentului = secundele lui</a:t>
            </a:r>
          </a:p>
        </p:txBody>
      </p:sp>
      <p:sp>
        <p:nvSpPr>
          <p:cNvPr id="99" name="Rectangle 98"/>
          <p:cNvSpPr/>
          <p:nvPr/>
        </p:nvSpPr>
        <p:spPr>
          <a:xfrm>
            <a:off x="304800" y="4425950"/>
            <a:ext cx="1544241" cy="609600"/>
          </a:xfrm>
          <a:prstGeom prst="rect">
            <a:avLst/>
          </a:prstGeom>
          <a:solidFill>
            <a:srgbClr val="8FA3B0">
              <a:alpha val="22000"/>
            </a:srgbClr>
          </a:solidFill>
          <a:ln>
            <a:noFill/>
          </a:ln>
        </p:spPr>
        <p:txBody>
          <a:bodyPr rtlCol="0" anchor="ctr"/>
          <a:lstStyle/>
          <a:p>
            <a:endParaRPr/>
          </a:p>
        </p:txBody>
      </p:sp>
      <p:sp>
        <p:nvSpPr>
          <p:cNvPr id="100" name="Rectangle 99"/>
          <p:cNvSpPr/>
          <p:nvPr/>
        </p:nvSpPr>
        <p:spPr>
          <a:xfrm>
            <a:off x="1829991" y="4425950"/>
            <a:ext cx="19050" cy="609600"/>
          </a:xfrm>
          <a:prstGeom prst="rect">
            <a:avLst/>
          </a:prstGeom>
          <a:solidFill>
            <a:srgbClr val="192B37"/>
          </a:solidFill>
          <a:ln>
            <a:noFill/>
          </a:ln>
        </p:spPr>
        <p:txBody>
          <a:bodyPr rtlCol="0" anchor="ctr"/>
          <a:lstStyle/>
          <a:p>
            <a:endParaRPr/>
          </a:p>
        </p:txBody>
      </p:sp>
      <p:sp>
        <p:nvSpPr>
          <p:cNvPr id="101" name="TextBox 100"/>
          <p:cNvSpPr txBox="1"/>
          <p:nvPr/>
        </p:nvSpPr>
        <p:spPr>
          <a:xfrm>
            <a:off x="355600" y="4560888"/>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2</a:t>
            </a:r>
          </a:p>
        </p:txBody>
      </p:sp>
      <p:sp>
        <p:nvSpPr>
          <p:cNvPr id="102" name="TextBox 101"/>
          <p:cNvSpPr txBox="1"/>
          <p:nvPr/>
        </p:nvSpPr>
        <p:spPr>
          <a:xfrm>
            <a:off x="497880" y="4649788"/>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40 s</a:t>
            </a:r>
          </a:p>
        </p:txBody>
      </p:sp>
      <p:sp>
        <p:nvSpPr>
          <p:cNvPr id="103" name="TextBox 102"/>
          <p:cNvSpPr txBox="1"/>
          <p:nvPr/>
        </p:nvSpPr>
        <p:spPr>
          <a:xfrm>
            <a:off x="355600" y="4783138"/>
            <a:ext cx="754761"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Omul și durerea</a:t>
            </a:r>
          </a:p>
        </p:txBody>
      </p:sp>
      <p:sp>
        <p:nvSpPr>
          <p:cNvPr id="104" name="Rectangle 103"/>
          <p:cNvSpPr/>
          <p:nvPr/>
        </p:nvSpPr>
        <p:spPr>
          <a:xfrm>
            <a:off x="1849041" y="4425950"/>
            <a:ext cx="1544241" cy="609600"/>
          </a:xfrm>
          <a:prstGeom prst="rect">
            <a:avLst/>
          </a:prstGeom>
          <a:solidFill>
            <a:srgbClr val="8FA3B0">
              <a:alpha val="22000"/>
            </a:srgbClr>
          </a:solidFill>
          <a:ln>
            <a:noFill/>
          </a:ln>
        </p:spPr>
        <p:txBody>
          <a:bodyPr rtlCol="0" anchor="ctr"/>
          <a:lstStyle/>
          <a:p>
            <a:endParaRPr/>
          </a:p>
        </p:txBody>
      </p:sp>
      <p:sp>
        <p:nvSpPr>
          <p:cNvPr id="105" name="Rectangle 104"/>
          <p:cNvSpPr/>
          <p:nvPr/>
        </p:nvSpPr>
        <p:spPr>
          <a:xfrm>
            <a:off x="3374231" y="4425950"/>
            <a:ext cx="19050" cy="609600"/>
          </a:xfrm>
          <a:prstGeom prst="rect">
            <a:avLst/>
          </a:prstGeom>
          <a:solidFill>
            <a:srgbClr val="192B37"/>
          </a:solidFill>
          <a:ln>
            <a:noFill/>
          </a:ln>
        </p:spPr>
        <p:txBody>
          <a:bodyPr rtlCol="0" anchor="ctr"/>
          <a:lstStyle/>
          <a:p>
            <a:endParaRPr/>
          </a:p>
        </p:txBody>
      </p:sp>
      <p:sp>
        <p:nvSpPr>
          <p:cNvPr id="106" name="TextBox 105"/>
          <p:cNvSpPr txBox="1"/>
          <p:nvPr/>
        </p:nvSpPr>
        <p:spPr>
          <a:xfrm>
            <a:off x="1899841" y="4560888"/>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3</a:t>
            </a:r>
          </a:p>
        </p:txBody>
      </p:sp>
      <p:sp>
        <p:nvSpPr>
          <p:cNvPr id="107" name="TextBox 106"/>
          <p:cNvSpPr txBox="1"/>
          <p:nvPr/>
        </p:nvSpPr>
        <p:spPr>
          <a:xfrm>
            <a:off x="2042120" y="4649788"/>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40 s</a:t>
            </a:r>
          </a:p>
        </p:txBody>
      </p:sp>
      <p:sp>
        <p:nvSpPr>
          <p:cNvPr id="108" name="TextBox 107"/>
          <p:cNvSpPr txBox="1"/>
          <p:nvPr/>
        </p:nvSpPr>
        <p:spPr>
          <a:xfrm>
            <a:off x="1899841" y="4783138"/>
            <a:ext cx="882706"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De ce nu merge azi</a:t>
            </a:r>
          </a:p>
        </p:txBody>
      </p:sp>
      <p:sp>
        <p:nvSpPr>
          <p:cNvPr id="109" name="Rectangle 108"/>
          <p:cNvSpPr/>
          <p:nvPr/>
        </p:nvSpPr>
        <p:spPr>
          <a:xfrm>
            <a:off x="3393281" y="4425950"/>
            <a:ext cx="579041" cy="609600"/>
          </a:xfrm>
          <a:prstGeom prst="rect">
            <a:avLst/>
          </a:prstGeom>
          <a:solidFill>
            <a:srgbClr val="8FA3B0">
              <a:alpha val="22000"/>
            </a:srgbClr>
          </a:solidFill>
          <a:ln>
            <a:noFill/>
          </a:ln>
        </p:spPr>
        <p:txBody>
          <a:bodyPr rtlCol="0" anchor="ctr"/>
          <a:lstStyle/>
          <a:p>
            <a:endParaRPr/>
          </a:p>
        </p:txBody>
      </p:sp>
      <p:sp>
        <p:nvSpPr>
          <p:cNvPr id="110" name="Rectangle 109"/>
          <p:cNvSpPr/>
          <p:nvPr/>
        </p:nvSpPr>
        <p:spPr>
          <a:xfrm>
            <a:off x="3953272" y="4425950"/>
            <a:ext cx="19050" cy="609600"/>
          </a:xfrm>
          <a:prstGeom prst="rect">
            <a:avLst/>
          </a:prstGeom>
          <a:solidFill>
            <a:srgbClr val="192B37"/>
          </a:solidFill>
          <a:ln>
            <a:noFill/>
          </a:ln>
        </p:spPr>
        <p:txBody>
          <a:bodyPr rtlCol="0" anchor="ctr"/>
          <a:lstStyle/>
          <a:p>
            <a:endParaRPr/>
          </a:p>
        </p:txBody>
      </p:sp>
      <p:sp>
        <p:nvSpPr>
          <p:cNvPr id="111" name="TextBox 110"/>
          <p:cNvSpPr txBox="1"/>
          <p:nvPr/>
        </p:nvSpPr>
        <p:spPr>
          <a:xfrm>
            <a:off x="3444081" y="4560888"/>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4</a:t>
            </a:r>
          </a:p>
        </p:txBody>
      </p:sp>
      <p:sp>
        <p:nvSpPr>
          <p:cNvPr id="112" name="TextBox 111"/>
          <p:cNvSpPr txBox="1"/>
          <p:nvPr/>
        </p:nvSpPr>
        <p:spPr>
          <a:xfrm>
            <a:off x="3586361" y="4649788"/>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15 s</a:t>
            </a:r>
          </a:p>
        </p:txBody>
      </p:sp>
      <p:sp>
        <p:nvSpPr>
          <p:cNvPr id="113" name="TextBox 112"/>
          <p:cNvSpPr txBox="1"/>
          <p:nvPr/>
        </p:nvSpPr>
        <p:spPr>
          <a:xfrm>
            <a:off x="3444081" y="4783138"/>
            <a:ext cx="357426"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Soluția</a:t>
            </a:r>
          </a:p>
        </p:txBody>
      </p:sp>
      <p:sp>
        <p:nvSpPr>
          <p:cNvPr id="114" name="Rectangle 113"/>
          <p:cNvSpPr/>
          <p:nvPr/>
        </p:nvSpPr>
        <p:spPr>
          <a:xfrm>
            <a:off x="3972322" y="4425950"/>
            <a:ext cx="2895600" cy="609600"/>
          </a:xfrm>
          <a:prstGeom prst="rect">
            <a:avLst/>
          </a:prstGeom>
          <a:solidFill>
            <a:srgbClr val="FF5640"/>
          </a:solidFill>
          <a:ln>
            <a:noFill/>
          </a:ln>
        </p:spPr>
        <p:txBody>
          <a:bodyPr rtlCol="0" anchor="ctr"/>
          <a:lstStyle/>
          <a:p>
            <a:endParaRPr/>
          </a:p>
        </p:txBody>
      </p:sp>
      <p:sp>
        <p:nvSpPr>
          <p:cNvPr id="115" name="Rectangle 114"/>
          <p:cNvSpPr/>
          <p:nvPr/>
        </p:nvSpPr>
        <p:spPr>
          <a:xfrm>
            <a:off x="6848872" y="4425950"/>
            <a:ext cx="19050" cy="609600"/>
          </a:xfrm>
          <a:prstGeom prst="rect">
            <a:avLst/>
          </a:prstGeom>
          <a:solidFill>
            <a:srgbClr val="192B37"/>
          </a:solidFill>
          <a:ln>
            <a:noFill/>
          </a:ln>
        </p:spPr>
        <p:txBody>
          <a:bodyPr rtlCol="0" anchor="ctr"/>
          <a:lstStyle/>
          <a:p>
            <a:endParaRPr/>
          </a:p>
        </p:txBody>
      </p:sp>
      <p:sp>
        <p:nvSpPr>
          <p:cNvPr id="116" name="TextBox 115"/>
          <p:cNvSpPr txBox="1"/>
          <p:nvPr/>
        </p:nvSpPr>
        <p:spPr>
          <a:xfrm>
            <a:off x="4023122" y="4560888"/>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5</a:t>
            </a:r>
          </a:p>
        </p:txBody>
      </p:sp>
      <p:sp>
        <p:nvSpPr>
          <p:cNvPr id="117" name="TextBox 116"/>
          <p:cNvSpPr txBox="1"/>
          <p:nvPr/>
        </p:nvSpPr>
        <p:spPr>
          <a:xfrm>
            <a:off x="4165402" y="4649788"/>
            <a:ext cx="236339" cy="88900"/>
          </a:xfrm>
          <a:prstGeom prst="rect">
            <a:avLst/>
          </a:prstGeom>
          <a:noFill/>
        </p:spPr>
        <p:txBody>
          <a:bodyPr wrap="square" lIns="0" tIns="0" rIns="0" bIns="0" anchor="t">
            <a:noAutofit/>
          </a:bodyPr>
          <a:lstStyle/>
          <a:p>
            <a:pPr algn="l">
              <a:lnSpc>
                <a:spcPts val="700"/>
              </a:lnSpc>
            </a:pPr>
            <a:r>
              <a:rPr lang="ro-RO" sz="600" b="0" i="0">
                <a:solidFill>
                  <a:srgbClr val="FFDDD8"/>
                </a:solidFill>
                <a:latin typeface="Fira Code" pitchFamily="49"/>
              </a:rPr>
              <a:t>75 s</a:t>
            </a:r>
          </a:p>
        </p:txBody>
      </p:sp>
      <p:sp>
        <p:nvSpPr>
          <p:cNvPr id="118" name="TextBox 117"/>
          <p:cNvSpPr txBox="1"/>
          <p:nvPr/>
        </p:nvSpPr>
        <p:spPr>
          <a:xfrm>
            <a:off x="4023122" y="4783138"/>
            <a:ext cx="299025"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Demo</a:t>
            </a:r>
          </a:p>
        </p:txBody>
      </p:sp>
      <p:sp>
        <p:nvSpPr>
          <p:cNvPr id="119" name="Rectangle 118"/>
          <p:cNvSpPr/>
          <p:nvPr/>
        </p:nvSpPr>
        <p:spPr>
          <a:xfrm>
            <a:off x="6867922" y="4425950"/>
            <a:ext cx="1158180" cy="609600"/>
          </a:xfrm>
          <a:prstGeom prst="rect">
            <a:avLst/>
          </a:prstGeom>
          <a:solidFill>
            <a:srgbClr val="8FA3B0">
              <a:alpha val="22000"/>
            </a:srgbClr>
          </a:solidFill>
          <a:ln>
            <a:noFill/>
          </a:ln>
        </p:spPr>
        <p:txBody>
          <a:bodyPr rtlCol="0" anchor="ctr"/>
          <a:lstStyle/>
          <a:p>
            <a:endParaRPr/>
          </a:p>
        </p:txBody>
      </p:sp>
      <p:sp>
        <p:nvSpPr>
          <p:cNvPr id="120" name="Rectangle 119"/>
          <p:cNvSpPr/>
          <p:nvPr/>
        </p:nvSpPr>
        <p:spPr>
          <a:xfrm>
            <a:off x="8007052" y="4425950"/>
            <a:ext cx="19050" cy="609600"/>
          </a:xfrm>
          <a:prstGeom prst="rect">
            <a:avLst/>
          </a:prstGeom>
          <a:solidFill>
            <a:srgbClr val="192B37"/>
          </a:solidFill>
          <a:ln>
            <a:noFill/>
          </a:ln>
        </p:spPr>
        <p:txBody>
          <a:bodyPr rtlCol="0" anchor="ctr"/>
          <a:lstStyle/>
          <a:p>
            <a:endParaRPr/>
          </a:p>
        </p:txBody>
      </p:sp>
      <p:sp>
        <p:nvSpPr>
          <p:cNvPr id="121" name="TextBox 120"/>
          <p:cNvSpPr txBox="1"/>
          <p:nvPr/>
        </p:nvSpPr>
        <p:spPr>
          <a:xfrm>
            <a:off x="6918722" y="4560888"/>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6</a:t>
            </a:r>
          </a:p>
        </p:txBody>
      </p:sp>
      <p:sp>
        <p:nvSpPr>
          <p:cNvPr id="122" name="TextBox 121"/>
          <p:cNvSpPr txBox="1"/>
          <p:nvPr/>
        </p:nvSpPr>
        <p:spPr>
          <a:xfrm>
            <a:off x="7061002" y="4649788"/>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30 s</a:t>
            </a:r>
          </a:p>
        </p:txBody>
      </p:sp>
      <p:sp>
        <p:nvSpPr>
          <p:cNvPr id="123" name="TextBox 122"/>
          <p:cNvSpPr txBox="1"/>
          <p:nvPr/>
        </p:nvSpPr>
        <p:spPr>
          <a:xfrm>
            <a:off x="6918722" y="4783138"/>
            <a:ext cx="748117"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Cum e construit</a:t>
            </a:r>
          </a:p>
        </p:txBody>
      </p:sp>
      <p:sp>
        <p:nvSpPr>
          <p:cNvPr id="124" name="Rectangle 123"/>
          <p:cNvSpPr/>
          <p:nvPr/>
        </p:nvSpPr>
        <p:spPr>
          <a:xfrm>
            <a:off x="8026102" y="4425950"/>
            <a:ext cx="1158180" cy="609600"/>
          </a:xfrm>
          <a:prstGeom prst="rect">
            <a:avLst/>
          </a:prstGeom>
          <a:solidFill>
            <a:srgbClr val="FFD700"/>
          </a:solidFill>
          <a:ln>
            <a:noFill/>
          </a:ln>
        </p:spPr>
        <p:txBody>
          <a:bodyPr rtlCol="0" anchor="ctr"/>
          <a:lstStyle/>
          <a:p>
            <a:endParaRPr/>
          </a:p>
        </p:txBody>
      </p:sp>
      <p:sp>
        <p:nvSpPr>
          <p:cNvPr id="125" name="Rectangle 124"/>
          <p:cNvSpPr/>
          <p:nvPr/>
        </p:nvSpPr>
        <p:spPr>
          <a:xfrm>
            <a:off x="9165233" y="4425950"/>
            <a:ext cx="19050" cy="609600"/>
          </a:xfrm>
          <a:prstGeom prst="rect">
            <a:avLst/>
          </a:prstGeom>
          <a:solidFill>
            <a:srgbClr val="192B37"/>
          </a:solidFill>
          <a:ln>
            <a:noFill/>
          </a:ln>
        </p:spPr>
        <p:txBody>
          <a:bodyPr rtlCol="0" anchor="ctr"/>
          <a:lstStyle/>
          <a:p>
            <a:endParaRPr/>
          </a:p>
        </p:txBody>
      </p:sp>
      <p:sp>
        <p:nvSpPr>
          <p:cNvPr id="126" name="TextBox 125"/>
          <p:cNvSpPr txBox="1"/>
          <p:nvPr/>
        </p:nvSpPr>
        <p:spPr>
          <a:xfrm>
            <a:off x="8076902" y="4560888"/>
            <a:ext cx="136898" cy="203200"/>
          </a:xfrm>
          <a:prstGeom prst="rect">
            <a:avLst/>
          </a:prstGeom>
          <a:noFill/>
        </p:spPr>
        <p:txBody>
          <a:bodyPr wrap="square" lIns="0" tIns="0" rIns="0" bIns="0" anchor="t">
            <a:noAutofit/>
          </a:bodyPr>
          <a:lstStyle/>
          <a:p>
            <a:pPr algn="l">
              <a:lnSpc>
                <a:spcPts val="1600"/>
              </a:lnSpc>
            </a:pPr>
            <a:r>
              <a:rPr lang="ro-RO" sz="1200" b="1" i="0">
                <a:solidFill>
                  <a:srgbClr val="192B37"/>
                </a:solidFill>
                <a:latin typeface="IBM Plex Sans" pitchFamily="34"/>
              </a:rPr>
              <a:t>7</a:t>
            </a:r>
          </a:p>
        </p:txBody>
      </p:sp>
      <p:sp>
        <p:nvSpPr>
          <p:cNvPr id="127" name="TextBox 126"/>
          <p:cNvSpPr txBox="1"/>
          <p:nvPr/>
        </p:nvSpPr>
        <p:spPr>
          <a:xfrm>
            <a:off x="8219182" y="4649788"/>
            <a:ext cx="236339" cy="88900"/>
          </a:xfrm>
          <a:prstGeom prst="rect">
            <a:avLst/>
          </a:prstGeom>
          <a:noFill/>
        </p:spPr>
        <p:txBody>
          <a:bodyPr wrap="square" lIns="0" tIns="0" rIns="0" bIns="0" anchor="t">
            <a:noAutofit/>
          </a:bodyPr>
          <a:lstStyle/>
          <a:p>
            <a:pPr algn="l">
              <a:lnSpc>
                <a:spcPts val="700"/>
              </a:lnSpc>
            </a:pPr>
            <a:r>
              <a:rPr lang="ro-RO" sz="600" b="0" i="0">
                <a:solidFill>
                  <a:srgbClr val="474D2C"/>
                </a:solidFill>
                <a:latin typeface="Fira Code" pitchFamily="49"/>
              </a:rPr>
              <a:t>30 s</a:t>
            </a:r>
          </a:p>
        </p:txBody>
      </p:sp>
      <p:sp>
        <p:nvSpPr>
          <p:cNvPr id="128" name="TextBox 127"/>
          <p:cNvSpPr txBox="1"/>
          <p:nvPr/>
        </p:nvSpPr>
        <p:spPr>
          <a:xfrm>
            <a:off x="8076902" y="4783138"/>
            <a:ext cx="633139" cy="114300"/>
          </a:xfrm>
          <a:prstGeom prst="rect">
            <a:avLst/>
          </a:prstGeom>
          <a:noFill/>
        </p:spPr>
        <p:txBody>
          <a:bodyPr wrap="square" lIns="0" tIns="0" rIns="0" bIns="0" anchor="t">
            <a:noAutofit/>
          </a:bodyPr>
          <a:lstStyle/>
          <a:p>
            <a:pPr algn="l">
              <a:lnSpc>
                <a:spcPts val="900"/>
              </a:lnSpc>
            </a:pPr>
            <a:r>
              <a:rPr lang="ro-RO" sz="700" b="1" i="0">
                <a:solidFill>
                  <a:srgbClr val="192B37"/>
                </a:solidFill>
                <a:latin typeface="IBM Plex Sans" pitchFamily="34"/>
              </a:rPr>
              <a:t>Cine plătește</a:t>
            </a:r>
          </a:p>
        </p:txBody>
      </p:sp>
      <p:sp>
        <p:nvSpPr>
          <p:cNvPr id="129" name="Rectangle 128"/>
          <p:cNvSpPr/>
          <p:nvPr/>
        </p:nvSpPr>
        <p:spPr>
          <a:xfrm>
            <a:off x="9184283" y="4425950"/>
            <a:ext cx="772120" cy="609600"/>
          </a:xfrm>
          <a:prstGeom prst="rect">
            <a:avLst/>
          </a:prstGeom>
          <a:solidFill>
            <a:srgbClr val="FFD700"/>
          </a:solidFill>
          <a:ln>
            <a:noFill/>
          </a:ln>
        </p:spPr>
        <p:txBody>
          <a:bodyPr rtlCol="0" anchor="ctr"/>
          <a:lstStyle/>
          <a:p>
            <a:endParaRPr/>
          </a:p>
        </p:txBody>
      </p:sp>
      <p:sp>
        <p:nvSpPr>
          <p:cNvPr id="130" name="Rectangle 129"/>
          <p:cNvSpPr/>
          <p:nvPr/>
        </p:nvSpPr>
        <p:spPr>
          <a:xfrm>
            <a:off x="9937353" y="4425950"/>
            <a:ext cx="19050" cy="609600"/>
          </a:xfrm>
          <a:prstGeom prst="rect">
            <a:avLst/>
          </a:prstGeom>
          <a:solidFill>
            <a:srgbClr val="192B37"/>
          </a:solidFill>
          <a:ln>
            <a:noFill/>
          </a:ln>
        </p:spPr>
        <p:txBody>
          <a:bodyPr rtlCol="0" anchor="ctr"/>
          <a:lstStyle/>
          <a:p>
            <a:endParaRPr/>
          </a:p>
        </p:txBody>
      </p:sp>
      <p:sp>
        <p:nvSpPr>
          <p:cNvPr id="131" name="TextBox 130"/>
          <p:cNvSpPr txBox="1"/>
          <p:nvPr/>
        </p:nvSpPr>
        <p:spPr>
          <a:xfrm>
            <a:off x="9235083" y="4560888"/>
            <a:ext cx="136898" cy="203200"/>
          </a:xfrm>
          <a:prstGeom prst="rect">
            <a:avLst/>
          </a:prstGeom>
          <a:noFill/>
        </p:spPr>
        <p:txBody>
          <a:bodyPr wrap="square" lIns="0" tIns="0" rIns="0" bIns="0" anchor="t">
            <a:noAutofit/>
          </a:bodyPr>
          <a:lstStyle/>
          <a:p>
            <a:pPr algn="l">
              <a:lnSpc>
                <a:spcPts val="1600"/>
              </a:lnSpc>
            </a:pPr>
            <a:r>
              <a:rPr lang="ro-RO" sz="1200" b="1" i="0">
                <a:solidFill>
                  <a:srgbClr val="192B37"/>
                </a:solidFill>
                <a:latin typeface="IBM Plex Sans" pitchFamily="34"/>
              </a:rPr>
              <a:t>8</a:t>
            </a:r>
          </a:p>
        </p:txBody>
      </p:sp>
      <p:sp>
        <p:nvSpPr>
          <p:cNvPr id="132" name="TextBox 131"/>
          <p:cNvSpPr txBox="1"/>
          <p:nvPr/>
        </p:nvSpPr>
        <p:spPr>
          <a:xfrm>
            <a:off x="9377362" y="4649788"/>
            <a:ext cx="236339" cy="88900"/>
          </a:xfrm>
          <a:prstGeom prst="rect">
            <a:avLst/>
          </a:prstGeom>
          <a:noFill/>
        </p:spPr>
        <p:txBody>
          <a:bodyPr wrap="square" lIns="0" tIns="0" rIns="0" bIns="0" anchor="t">
            <a:noAutofit/>
          </a:bodyPr>
          <a:lstStyle/>
          <a:p>
            <a:pPr algn="l">
              <a:lnSpc>
                <a:spcPts val="700"/>
              </a:lnSpc>
            </a:pPr>
            <a:r>
              <a:rPr lang="ro-RO" sz="600" b="0" i="0">
                <a:solidFill>
                  <a:srgbClr val="474D2C"/>
                </a:solidFill>
                <a:latin typeface="Fira Code" pitchFamily="49"/>
              </a:rPr>
              <a:t>20 s</a:t>
            </a:r>
          </a:p>
        </p:txBody>
      </p:sp>
      <p:sp>
        <p:nvSpPr>
          <p:cNvPr id="133" name="TextBox 132"/>
          <p:cNvSpPr txBox="1"/>
          <p:nvPr/>
        </p:nvSpPr>
        <p:spPr>
          <a:xfrm>
            <a:off x="9235083" y="4783138"/>
            <a:ext cx="274594" cy="114300"/>
          </a:xfrm>
          <a:prstGeom prst="rect">
            <a:avLst/>
          </a:prstGeom>
          <a:noFill/>
        </p:spPr>
        <p:txBody>
          <a:bodyPr wrap="square" lIns="0" tIns="0" rIns="0" bIns="0" anchor="t">
            <a:noAutofit/>
          </a:bodyPr>
          <a:lstStyle/>
          <a:p>
            <a:pPr algn="l">
              <a:lnSpc>
                <a:spcPts val="900"/>
              </a:lnSpc>
            </a:pPr>
            <a:r>
              <a:rPr lang="ro-RO" sz="700" b="1" i="0">
                <a:solidFill>
                  <a:srgbClr val="192B37"/>
                </a:solidFill>
                <a:latin typeface="IBM Plex Sans" pitchFamily="34"/>
              </a:rPr>
              <a:t>Piața</a:t>
            </a:r>
          </a:p>
        </p:txBody>
      </p:sp>
      <p:sp>
        <p:nvSpPr>
          <p:cNvPr id="134" name="Rectangle 133"/>
          <p:cNvSpPr/>
          <p:nvPr/>
        </p:nvSpPr>
        <p:spPr>
          <a:xfrm>
            <a:off x="9956403" y="4425950"/>
            <a:ext cx="772120" cy="609600"/>
          </a:xfrm>
          <a:prstGeom prst="rect">
            <a:avLst/>
          </a:prstGeom>
          <a:solidFill>
            <a:srgbClr val="8FA3B0">
              <a:alpha val="22000"/>
            </a:srgbClr>
          </a:solidFill>
          <a:ln>
            <a:noFill/>
          </a:ln>
        </p:spPr>
        <p:txBody>
          <a:bodyPr rtlCol="0" anchor="ctr"/>
          <a:lstStyle/>
          <a:p>
            <a:endParaRPr/>
          </a:p>
        </p:txBody>
      </p:sp>
      <p:sp>
        <p:nvSpPr>
          <p:cNvPr id="135" name="Rectangle 134"/>
          <p:cNvSpPr/>
          <p:nvPr/>
        </p:nvSpPr>
        <p:spPr>
          <a:xfrm>
            <a:off x="10709473" y="4425950"/>
            <a:ext cx="19050" cy="609600"/>
          </a:xfrm>
          <a:prstGeom prst="rect">
            <a:avLst/>
          </a:prstGeom>
          <a:solidFill>
            <a:srgbClr val="192B37"/>
          </a:solidFill>
          <a:ln>
            <a:noFill/>
          </a:ln>
        </p:spPr>
        <p:txBody>
          <a:bodyPr rtlCol="0" anchor="ctr"/>
          <a:lstStyle/>
          <a:p>
            <a:endParaRPr/>
          </a:p>
        </p:txBody>
      </p:sp>
      <p:sp>
        <p:nvSpPr>
          <p:cNvPr id="136" name="TextBox 135"/>
          <p:cNvSpPr txBox="1"/>
          <p:nvPr/>
        </p:nvSpPr>
        <p:spPr>
          <a:xfrm>
            <a:off x="10007203" y="4560888"/>
            <a:ext cx="136898"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9</a:t>
            </a:r>
          </a:p>
        </p:txBody>
      </p:sp>
      <p:sp>
        <p:nvSpPr>
          <p:cNvPr id="137" name="TextBox 136"/>
          <p:cNvSpPr txBox="1"/>
          <p:nvPr/>
        </p:nvSpPr>
        <p:spPr>
          <a:xfrm>
            <a:off x="10149483" y="4649788"/>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20 s</a:t>
            </a:r>
          </a:p>
        </p:txBody>
      </p:sp>
      <p:sp>
        <p:nvSpPr>
          <p:cNvPr id="138" name="TextBox 137"/>
          <p:cNvSpPr txBox="1"/>
          <p:nvPr/>
        </p:nvSpPr>
        <p:spPr>
          <a:xfrm>
            <a:off x="10007203" y="4783138"/>
            <a:ext cx="342852"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Echipa</a:t>
            </a:r>
          </a:p>
        </p:txBody>
      </p:sp>
      <p:sp>
        <p:nvSpPr>
          <p:cNvPr id="139" name="Rectangle 138"/>
          <p:cNvSpPr/>
          <p:nvPr/>
        </p:nvSpPr>
        <p:spPr>
          <a:xfrm>
            <a:off x="10728523" y="4425950"/>
            <a:ext cx="1158180" cy="609600"/>
          </a:xfrm>
          <a:prstGeom prst="rect">
            <a:avLst/>
          </a:prstGeom>
          <a:solidFill>
            <a:srgbClr val="8FA3B0">
              <a:alpha val="22000"/>
            </a:srgbClr>
          </a:solidFill>
          <a:ln>
            <a:noFill/>
          </a:ln>
        </p:spPr>
        <p:txBody>
          <a:bodyPr rtlCol="0" anchor="ctr"/>
          <a:lstStyle/>
          <a:p>
            <a:endParaRPr/>
          </a:p>
        </p:txBody>
      </p:sp>
      <p:sp>
        <p:nvSpPr>
          <p:cNvPr id="140" name="Rectangle 139"/>
          <p:cNvSpPr/>
          <p:nvPr/>
        </p:nvSpPr>
        <p:spPr>
          <a:xfrm>
            <a:off x="11867654" y="4425950"/>
            <a:ext cx="19050" cy="609600"/>
          </a:xfrm>
          <a:prstGeom prst="rect">
            <a:avLst/>
          </a:prstGeom>
          <a:solidFill>
            <a:srgbClr val="192B37"/>
          </a:solidFill>
          <a:ln>
            <a:noFill/>
          </a:ln>
        </p:spPr>
        <p:txBody>
          <a:bodyPr rtlCol="0" anchor="ctr"/>
          <a:lstStyle/>
          <a:p>
            <a:endParaRPr/>
          </a:p>
        </p:txBody>
      </p:sp>
      <p:sp>
        <p:nvSpPr>
          <p:cNvPr id="141" name="TextBox 140"/>
          <p:cNvSpPr txBox="1"/>
          <p:nvPr/>
        </p:nvSpPr>
        <p:spPr>
          <a:xfrm>
            <a:off x="10779323" y="4560888"/>
            <a:ext cx="235696" cy="203200"/>
          </a:xfrm>
          <a:prstGeom prst="rect">
            <a:avLst/>
          </a:prstGeom>
          <a:noFill/>
        </p:spPr>
        <p:txBody>
          <a:bodyPr wrap="square" lIns="0" tIns="0" rIns="0" bIns="0" anchor="t">
            <a:noAutofit/>
          </a:bodyPr>
          <a:lstStyle/>
          <a:p>
            <a:pPr algn="l">
              <a:lnSpc>
                <a:spcPts val="1600"/>
              </a:lnSpc>
            </a:pPr>
            <a:r>
              <a:rPr lang="ro-RO" sz="1200" b="1" i="0">
                <a:solidFill>
                  <a:srgbClr val="FFFFFF"/>
                </a:solidFill>
                <a:latin typeface="IBM Plex Sans" pitchFamily="34"/>
              </a:rPr>
              <a:t>10</a:t>
            </a:r>
          </a:p>
        </p:txBody>
      </p:sp>
      <p:sp>
        <p:nvSpPr>
          <p:cNvPr id="142" name="TextBox 141"/>
          <p:cNvSpPr txBox="1"/>
          <p:nvPr/>
        </p:nvSpPr>
        <p:spPr>
          <a:xfrm>
            <a:off x="11013083" y="4649788"/>
            <a:ext cx="236339" cy="88900"/>
          </a:xfrm>
          <a:prstGeom prst="rect">
            <a:avLst/>
          </a:prstGeom>
          <a:noFill/>
        </p:spPr>
        <p:txBody>
          <a:bodyPr wrap="square" lIns="0" tIns="0" rIns="0" bIns="0" anchor="t">
            <a:noAutofit/>
          </a:bodyPr>
          <a:lstStyle/>
          <a:p>
            <a:pPr algn="l">
              <a:lnSpc>
                <a:spcPts val="700"/>
              </a:lnSpc>
            </a:pPr>
            <a:r>
              <a:rPr lang="ro-RO" sz="600" b="0" i="0">
                <a:solidFill>
                  <a:srgbClr val="D6D9DC"/>
                </a:solidFill>
                <a:latin typeface="Fira Code" pitchFamily="49"/>
              </a:rPr>
              <a:t>30 s</a:t>
            </a:r>
          </a:p>
        </p:txBody>
      </p:sp>
      <p:sp>
        <p:nvSpPr>
          <p:cNvPr id="143" name="TextBox 142"/>
          <p:cNvSpPr txBox="1"/>
          <p:nvPr/>
        </p:nvSpPr>
        <p:spPr>
          <a:xfrm>
            <a:off x="10779323" y="4783138"/>
            <a:ext cx="572060" cy="114300"/>
          </a:xfrm>
          <a:prstGeom prst="rect">
            <a:avLst/>
          </a:prstGeom>
          <a:noFill/>
        </p:spPr>
        <p:txBody>
          <a:bodyPr wrap="square" lIns="0" tIns="0" rIns="0" bIns="0" anchor="t">
            <a:noAutofit/>
          </a:bodyPr>
          <a:lstStyle/>
          <a:p>
            <a:pPr algn="l">
              <a:lnSpc>
                <a:spcPts val="900"/>
              </a:lnSpc>
            </a:pPr>
            <a:r>
              <a:rPr lang="ro-RO" sz="700" b="1" i="0">
                <a:solidFill>
                  <a:srgbClr val="FFFFFF"/>
                </a:solidFill>
                <a:latin typeface="IBM Plex Sans" pitchFamily="34"/>
              </a:rPr>
              <a:t>Ce urmează</a:t>
            </a:r>
          </a:p>
        </p:txBody>
      </p:sp>
      <p:sp>
        <p:nvSpPr>
          <p:cNvPr id="144" name="TextBox 143"/>
          <p:cNvSpPr txBox="1"/>
          <p:nvPr/>
        </p:nvSpPr>
        <p:spPr>
          <a:xfrm>
            <a:off x="304800" y="5067300"/>
            <a:ext cx="236339" cy="88900"/>
          </a:xfrm>
          <a:prstGeom prst="rect">
            <a:avLst/>
          </a:prstGeom>
          <a:noFill/>
        </p:spPr>
        <p:txBody>
          <a:bodyPr wrap="square" lIns="0" tIns="0" rIns="0" bIns="0" anchor="t">
            <a:noAutofit/>
          </a:bodyPr>
          <a:lstStyle/>
          <a:p>
            <a:pPr algn="l">
              <a:lnSpc>
                <a:spcPts val="700"/>
              </a:lnSpc>
            </a:pPr>
            <a:r>
              <a:rPr lang="ro-RO" sz="600" b="0" i="0">
                <a:solidFill>
                  <a:srgbClr val="A3AAAF"/>
                </a:solidFill>
                <a:latin typeface="Fira Code" pitchFamily="49"/>
              </a:rPr>
              <a:t>0:00</a:t>
            </a:r>
          </a:p>
        </p:txBody>
      </p:sp>
      <p:sp>
        <p:nvSpPr>
          <p:cNvPr id="145" name="TextBox 144"/>
          <p:cNvSpPr txBox="1"/>
          <p:nvPr/>
        </p:nvSpPr>
        <p:spPr>
          <a:xfrm>
            <a:off x="2529483" y="5067300"/>
            <a:ext cx="236339" cy="88900"/>
          </a:xfrm>
          <a:prstGeom prst="rect">
            <a:avLst/>
          </a:prstGeom>
          <a:noFill/>
        </p:spPr>
        <p:txBody>
          <a:bodyPr wrap="square" lIns="0" tIns="0" rIns="0" bIns="0" anchor="t">
            <a:noAutofit/>
          </a:bodyPr>
          <a:lstStyle/>
          <a:p>
            <a:pPr algn="l">
              <a:lnSpc>
                <a:spcPts val="700"/>
              </a:lnSpc>
            </a:pPr>
            <a:r>
              <a:rPr lang="ro-RO" sz="600" b="0" i="0">
                <a:solidFill>
                  <a:srgbClr val="A3AAAF"/>
                </a:solidFill>
                <a:latin typeface="Fira Code" pitchFamily="49"/>
              </a:rPr>
              <a:t>1:00</a:t>
            </a:r>
          </a:p>
        </p:txBody>
      </p:sp>
      <p:sp>
        <p:nvSpPr>
          <p:cNvPr id="146" name="TextBox 145"/>
          <p:cNvSpPr txBox="1"/>
          <p:nvPr/>
        </p:nvSpPr>
        <p:spPr>
          <a:xfrm>
            <a:off x="4845943" y="5067300"/>
            <a:ext cx="236339" cy="88900"/>
          </a:xfrm>
          <a:prstGeom prst="rect">
            <a:avLst/>
          </a:prstGeom>
          <a:noFill/>
        </p:spPr>
        <p:txBody>
          <a:bodyPr wrap="square" lIns="0" tIns="0" rIns="0" bIns="0" anchor="t">
            <a:noAutofit/>
          </a:bodyPr>
          <a:lstStyle/>
          <a:p>
            <a:pPr algn="l">
              <a:lnSpc>
                <a:spcPts val="700"/>
              </a:lnSpc>
            </a:pPr>
            <a:r>
              <a:rPr lang="ro-RO" sz="600" b="0" i="0">
                <a:solidFill>
                  <a:srgbClr val="A3AAAF"/>
                </a:solidFill>
                <a:latin typeface="Fira Code" pitchFamily="49"/>
              </a:rPr>
              <a:t>2:00</a:t>
            </a:r>
          </a:p>
        </p:txBody>
      </p:sp>
      <p:sp>
        <p:nvSpPr>
          <p:cNvPr id="147" name="TextBox 146"/>
          <p:cNvSpPr txBox="1"/>
          <p:nvPr/>
        </p:nvSpPr>
        <p:spPr>
          <a:xfrm>
            <a:off x="7162403" y="5067300"/>
            <a:ext cx="236339" cy="88900"/>
          </a:xfrm>
          <a:prstGeom prst="rect">
            <a:avLst/>
          </a:prstGeom>
          <a:noFill/>
        </p:spPr>
        <p:txBody>
          <a:bodyPr wrap="square" lIns="0" tIns="0" rIns="0" bIns="0" anchor="t">
            <a:noAutofit/>
          </a:bodyPr>
          <a:lstStyle/>
          <a:p>
            <a:pPr algn="l">
              <a:lnSpc>
                <a:spcPts val="700"/>
              </a:lnSpc>
            </a:pPr>
            <a:r>
              <a:rPr lang="ro-RO" sz="600" b="0" i="0">
                <a:solidFill>
                  <a:srgbClr val="A3AAAF"/>
                </a:solidFill>
                <a:latin typeface="Fira Code" pitchFamily="49"/>
              </a:rPr>
              <a:t>3:00</a:t>
            </a:r>
          </a:p>
        </p:txBody>
      </p:sp>
      <p:sp>
        <p:nvSpPr>
          <p:cNvPr id="148" name="TextBox 147"/>
          <p:cNvSpPr txBox="1"/>
          <p:nvPr/>
        </p:nvSpPr>
        <p:spPr>
          <a:xfrm>
            <a:off x="9478863" y="5067300"/>
            <a:ext cx="236339" cy="88900"/>
          </a:xfrm>
          <a:prstGeom prst="rect">
            <a:avLst/>
          </a:prstGeom>
          <a:noFill/>
        </p:spPr>
        <p:txBody>
          <a:bodyPr wrap="square" lIns="0" tIns="0" rIns="0" bIns="0" anchor="t">
            <a:noAutofit/>
          </a:bodyPr>
          <a:lstStyle/>
          <a:p>
            <a:pPr algn="l">
              <a:lnSpc>
                <a:spcPts val="700"/>
              </a:lnSpc>
            </a:pPr>
            <a:r>
              <a:rPr lang="ro-RO" sz="600" b="0" i="0">
                <a:solidFill>
                  <a:srgbClr val="A3AAAF"/>
                </a:solidFill>
                <a:latin typeface="Fira Code" pitchFamily="49"/>
              </a:rPr>
              <a:t>4:00</a:t>
            </a:r>
          </a:p>
        </p:txBody>
      </p:sp>
      <p:sp>
        <p:nvSpPr>
          <p:cNvPr id="149" name="TextBox 148"/>
          <p:cNvSpPr txBox="1"/>
          <p:nvPr/>
        </p:nvSpPr>
        <p:spPr>
          <a:xfrm>
            <a:off x="11703645" y="5067300"/>
            <a:ext cx="236339" cy="88900"/>
          </a:xfrm>
          <a:prstGeom prst="rect">
            <a:avLst/>
          </a:prstGeom>
          <a:noFill/>
        </p:spPr>
        <p:txBody>
          <a:bodyPr wrap="square" lIns="0" tIns="0" rIns="0" bIns="0" anchor="t">
            <a:noAutofit/>
          </a:bodyPr>
          <a:lstStyle/>
          <a:p>
            <a:pPr algn="l">
              <a:lnSpc>
                <a:spcPts val="700"/>
              </a:lnSpc>
            </a:pPr>
            <a:r>
              <a:rPr lang="ro-RO" sz="600" b="0" i="0">
                <a:solidFill>
                  <a:srgbClr val="A3AAAF"/>
                </a:solidFill>
                <a:latin typeface="Fira Code" pitchFamily="49"/>
              </a:rPr>
              <a:t>5:00</a:t>
            </a:r>
          </a:p>
        </p:txBody>
      </p:sp>
      <p:sp>
        <p:nvSpPr>
          <p:cNvPr id="150" name="TextBox 149"/>
          <p:cNvSpPr txBox="1"/>
          <p:nvPr/>
        </p:nvSpPr>
        <p:spPr>
          <a:xfrm>
            <a:off x="304800" y="5289550"/>
            <a:ext cx="8361890" cy="101600"/>
          </a:xfrm>
          <a:prstGeom prst="rect">
            <a:avLst/>
          </a:prstGeom>
          <a:noFill/>
        </p:spPr>
        <p:txBody>
          <a:bodyPr wrap="square" lIns="0" tIns="0" rIns="0" bIns="0" anchor="t">
            <a:noAutofit/>
          </a:bodyPr>
          <a:lstStyle/>
          <a:p>
            <a:pPr algn="l">
              <a:lnSpc>
                <a:spcPts val="800"/>
              </a:lnSpc>
            </a:pPr>
            <a:r>
              <a:rPr lang="ro-RO" sz="700" b="0" i="0">
                <a:solidFill>
                  <a:srgbClr val="FFFFFF"/>
                </a:solidFill>
                <a:latin typeface="Fira Code" pitchFamily="49"/>
              </a:rPr>
              <a:t>Slide-ul 1 stă pe ecran cât începi cu omul. La 3 minute, slide-ul 8 trece în anexe. Timpii sunt prescripții, nu măsurători — pune un cronometru.</a:t>
            </a:r>
          </a:p>
        </p:txBody>
      </p:sp>
      <p:sp>
        <p:nvSpPr>
          <p:cNvPr id="151" name="Rounded Rectangle 150"/>
          <p:cNvSpPr/>
          <p:nvPr/>
        </p:nvSpPr>
        <p:spPr>
          <a:xfrm>
            <a:off x="304800" y="5530850"/>
            <a:ext cx="11582400" cy="393700"/>
          </a:xfrm>
          <a:prstGeom prst="roundRect">
            <a:avLst>
              <a:gd name="adj" fmla="val 12903"/>
            </a:avLst>
          </a:prstGeom>
          <a:solidFill>
            <a:srgbClr val="FF5640">
              <a:alpha val="8000"/>
            </a:srgbClr>
          </a:solidFill>
          <a:ln w="6350">
            <a:solidFill>
              <a:srgbClr val="FF5640">
                <a:alpha val="30000"/>
              </a:srgbClr>
            </a:solidFill>
          </a:ln>
        </p:spPr>
        <p:txBody>
          <a:bodyPr rtlCol="0" anchor="ctr"/>
          <a:lstStyle/>
          <a:p>
            <a:endParaRPr/>
          </a:p>
        </p:txBody>
      </p:sp>
      <p:sp>
        <p:nvSpPr>
          <p:cNvPr id="152" name="TextBox 151"/>
          <p:cNvSpPr txBox="1"/>
          <p:nvPr/>
        </p:nvSpPr>
        <p:spPr>
          <a:xfrm>
            <a:off x="195453" y="5638800"/>
            <a:ext cx="11801094" cy="177800"/>
          </a:xfrm>
          <a:prstGeom prst="rect">
            <a:avLst/>
          </a:prstGeom>
          <a:noFill/>
        </p:spPr>
        <p:txBody>
          <a:bodyPr wrap="none" lIns="0" tIns="0" rIns="0" bIns="0" anchor="ctr">
            <a:noAutofit/>
          </a:bodyPr>
          <a:lstStyle/>
          <a:p>
            <a:pPr algn="ctr">
              <a:lnSpc>
                <a:spcPts val="1250"/>
              </a:lnSpc>
            </a:pPr>
            <a:r>
              <a:rPr lang="ro-RO" sz="1000" b="1" i="0">
                <a:solidFill>
                  <a:srgbClr val="FFFFFF"/>
                </a:solidFill>
                <a:latin typeface="IBM Plex Sans" pitchFamily="34"/>
              </a:rPr>
              <a:t>Ordinea nu se negociază. Doar timpul se ajustează.</a:t>
            </a:r>
          </a:p>
        </p:txBody>
      </p:sp>
    </p:spTree>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INTRODUCERE &amp; PROMISIUNE</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01 / 10 · TITLUL</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ARTERIA: Digital Twin Urban &amp; Simulare de Trafic</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Platformă B2G pentru inginerii de mobilitate și administrațiile locale care vor certitudine înainte de a interveni pe străzi.</a:t>
            </a:r>
          </a:p>
        </p:txBody>
      </p:sp>
      <p:sp>
        <p:nvSpPr>
          <p:cNvPr id="7" name="Rounded Rectangle 6"/>
          <p:cNvSpPr/>
          <p:nvPr/>
        </p:nvSpPr>
        <p:spPr>
          <a:xfrm>
            <a:off x="731520" y="1691640"/>
            <a:ext cx="6217920" cy="46634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6217920" cy="4663440"/>
          </a:xfrm>
          <a:prstGeom prst="rect">
            <a:avLst/>
          </a:prstGeom>
          <a:noFill/>
        </p:spPr>
        <p:txBody>
          <a:bodyPr wrap="square" lIns="228600" tIns="228600" rIns="228600" bIns="228600">
            <a:spAutoFit/>
          </a:bodyPr>
          <a:lstStyle/>
          <a:p>
            <a:pPr algn="l">
              <a:spcAft>
                <a:spcPts val="800"/>
              </a:spcAft>
              <a:defRPr sz="1100" b="1" i="0">
                <a:solidFill>
                  <a:srgbClr val="38BDF8"/>
                </a:solidFill>
                <a:latin typeface="Calibri"/>
              </a:defRPr>
            </a:pPr>
            <a:r>
              <a:t>MISIUNEA PRODUSULUI</a:t>
            </a:r>
          </a:p>
          <a:p>
            <a:pPr algn="l">
              <a:spcAft>
                <a:spcPts val="1200"/>
              </a:spcAft>
              <a:defRPr sz="1800" b="1" i="0">
                <a:solidFill>
                  <a:srgbClr val="FFFFFF"/>
                </a:solidFill>
                <a:latin typeface="Calibri"/>
              </a:defRPr>
            </a:pPr>
            <a:r>
              <a:t>Optimizare de semaforizare prin simulare microscopică</a:t>
            </a:r>
          </a:p>
          <a:p>
            <a:pPr algn="l">
              <a:spcAft>
                <a:spcPts val="1600"/>
              </a:spcAft>
              <a:defRPr sz="1400" b="1" i="1">
                <a:solidFill>
                  <a:srgbClr val="BAE6FD"/>
                </a:solidFill>
                <a:latin typeface="Calibri"/>
              </a:defRPr>
            </a:pPr>
            <a:r>
              <a:t>„Fiecare secundă de verde la semafor trebuie calculată matematic, nu ghicită prin încercări pe șoferi.”</a:t>
            </a:r>
          </a:p>
          <a:p>
            <a:pPr algn="l">
              <a:spcAft>
                <a:spcPts val="1000"/>
              </a:spcAft>
            </a:pPr>
            <a:r>
              <a:rPr sz="1300" b="1">
                <a:solidFill>
                  <a:srgbClr val="FFFFFF"/>
                </a:solidFill>
                <a:latin typeface="Calibri"/>
              </a:rPr>
              <a:t>1. Geometrie Urbană Reală: </a:t>
            </a:r>
            <a:r>
              <a:rPr sz="1300" b="0">
                <a:solidFill>
                  <a:srgbClr val="E2E8F0"/>
                </a:solidFill>
                <a:latin typeface="Calibri"/>
              </a:rPr>
              <a:t>Import OSMnx instant pentru orice nod sau coridor critic din Iași, cu benzi, direcții și priorități exacte.</a:t>
            </a:r>
          </a:p>
          <a:p>
            <a:pPr algn="l">
              <a:spcAft>
                <a:spcPts val="1000"/>
              </a:spcAft>
            </a:pPr>
            <a:r>
              <a:rPr sz="1300" b="1">
                <a:solidFill>
                  <a:srgbClr val="FFFFFF"/>
                </a:solidFill>
                <a:latin typeface="Calibri"/>
              </a:rPr>
              <a:t>2. Simulare Microscopică SUMO: </a:t>
            </a:r>
            <a:r>
              <a:rPr sz="1300" b="0">
                <a:solidFill>
                  <a:srgbClr val="E2E8F0"/>
                </a:solidFill>
                <a:latin typeface="Calibri"/>
              </a:rPr>
              <a:t>Modelare fizică TraCI la nivel de vehicul individual: accelerare, frânare, schimbare de bandă și propagare cozi.</a:t>
            </a:r>
          </a:p>
          <a:p>
            <a:pPr algn="l">
              <a:spcAft>
                <a:spcPts val="1400"/>
              </a:spcAft>
            </a:pPr>
            <a:r>
              <a:rPr sz="1300" b="1">
                <a:solidFill>
                  <a:srgbClr val="FFFFFF"/>
                </a:solidFill>
                <a:latin typeface="Calibri"/>
              </a:rPr>
              <a:t>3. Optimizare Semaforică Webster: </a:t>
            </a:r>
            <a:r>
              <a:rPr sz="1300" b="0">
                <a:solidFill>
                  <a:srgbClr val="E2E8F0"/>
                </a:solidFill>
                <a:latin typeface="Calibri"/>
              </a:rPr>
              <a:t>Calcul matematic al duratei optime de ciclu și alocării fracțiilor de verde cu timp de rulare &lt;1 secundă.</a:t>
            </a:r>
          </a:p>
          <a:p>
            <a:pPr algn="l">
              <a:spcAft>
                <a:spcPts val="0"/>
              </a:spcAft>
              <a:defRPr sz="1200" b="1" i="0">
                <a:solidFill>
                  <a:srgbClr val="34D399"/>
                </a:solidFill>
                <a:latin typeface="Calibri"/>
              </a:defRPr>
            </a:pPr>
            <a:r>
              <a:t>Rezultat măsurat pe Podu Roșu: Întârziere redusă cu -34% și viteză medie mărită de la 14 la 21 km/h.</a:t>
            </a:r>
          </a:p>
        </p:txBody>
      </p:sp>
      <p:sp>
        <p:nvSpPr>
          <p:cNvPr id="9" name="Rounded Rectangle 8"/>
          <p:cNvSpPr/>
          <p:nvPr/>
        </p:nvSpPr>
        <p:spPr>
          <a:xfrm>
            <a:off x="7251192" y="1691640"/>
            <a:ext cx="4206240" cy="2423160"/>
          </a:xfrm>
          <a:prstGeom prst="roundRect">
            <a:avLst/>
          </a:prstGeom>
          <a:solidFill>
            <a:srgbClr val="1E2D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51192" y="1691640"/>
            <a:ext cx="4206240" cy="2423160"/>
          </a:xfrm>
          <a:prstGeom prst="rect">
            <a:avLst/>
          </a:prstGeom>
          <a:noFill/>
        </p:spPr>
        <p:txBody>
          <a:bodyPr wrap="square" lIns="182880" tIns="182880" rIns="182880" bIns="182880">
            <a:spAutoFit/>
          </a:bodyPr>
          <a:lstStyle/>
          <a:p>
            <a:pPr algn="l">
              <a:spcAft>
                <a:spcPts val="800"/>
              </a:spcAft>
              <a:defRPr sz="1100" b="1" i="0">
                <a:solidFill>
                  <a:srgbClr val="38BDF8"/>
                </a:solidFill>
                <a:latin typeface="Calibri"/>
              </a:defRPr>
            </a:pPr>
            <a:r>
              <a:t>PENTRU CINE ESTE CONSTRUIT</a:t>
            </a:r>
          </a:p>
          <a:p>
            <a:pPr algn="l">
              <a:spcAft>
                <a:spcPts val="800"/>
              </a:spcAft>
            </a:pPr>
            <a:r>
              <a:rPr sz="1200" b="1">
                <a:solidFill>
                  <a:srgbClr val="FFFFFF"/>
                </a:solidFill>
                <a:latin typeface="Calibri"/>
              </a:rPr>
              <a:t>• Primăria Municipiului Iași: </a:t>
            </a:r>
            <a:r>
              <a:rPr sz="1200" b="0">
                <a:solidFill>
                  <a:srgbClr val="E2E8F0"/>
                </a:solidFill>
                <a:latin typeface="Calibri"/>
              </a:rPr>
              <a:t>Direcția Tehnică &amp; Siguranța Circulației — fundamentare matematică a oricărei investiții sau modificări de semafor.</a:t>
            </a:r>
          </a:p>
          <a:p>
            <a:pPr algn="l">
              <a:spcAft>
                <a:spcPts val="800"/>
              </a:spcAft>
            </a:pPr>
            <a:r>
              <a:rPr sz="1200" b="1">
                <a:solidFill>
                  <a:srgbClr val="FFFFFF"/>
                </a:solidFill>
                <a:latin typeface="Calibri"/>
              </a:rPr>
              <a:t>• CTP Iași (Transport Public): </a:t>
            </a:r>
            <a:r>
              <a:rPr sz="1200" b="0">
                <a:solidFill>
                  <a:srgbClr val="E2E8F0"/>
                </a:solidFill>
                <a:latin typeface="Calibri"/>
              </a:rPr>
              <a:t>Prioritizarea tramvaielor și autobuzelor pe coridoarele aglomerate fără a paraliza mașinile personale.</a:t>
            </a:r>
          </a:p>
          <a:p>
            <a:pPr algn="l">
              <a:spcAft>
                <a:spcPts val="0"/>
              </a:spcAft>
            </a:pPr>
            <a:r>
              <a:rPr sz="1200" b="1">
                <a:solidFill>
                  <a:srgbClr val="FFFFFF"/>
                </a:solidFill>
                <a:latin typeface="Calibri"/>
              </a:rPr>
              <a:t>• Proiectanți de Mobilitate: </a:t>
            </a:r>
            <a:r>
              <a:rPr sz="1200" b="0">
                <a:solidFill>
                  <a:srgbClr val="E2E8F0"/>
                </a:solidFill>
                <a:latin typeface="Calibri"/>
              </a:rPr>
              <a:t>Instrument agil de modelare a traficului, fără costuri exorbitante de licențe SCADA de milioane de euro.</a:t>
            </a:r>
          </a:p>
        </p:txBody>
      </p:sp>
      <p:sp>
        <p:nvSpPr>
          <p:cNvPr id="11" name="Rounded Rectangle 10"/>
          <p:cNvSpPr/>
          <p:nvPr/>
        </p:nvSpPr>
        <p:spPr>
          <a:xfrm>
            <a:off x="7251192" y="4297680"/>
            <a:ext cx="4206240" cy="2057400"/>
          </a:xfrm>
          <a:prstGeom prst="roundRect">
            <a:avLst/>
          </a:prstGeom>
          <a:solidFill>
            <a:srgbClr val="152E4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51192" y="4297680"/>
            <a:ext cx="4206240" cy="2057400"/>
          </a:xfrm>
          <a:prstGeom prst="rect">
            <a:avLst/>
          </a:prstGeom>
          <a:noFill/>
        </p:spPr>
        <p:txBody>
          <a:bodyPr wrap="square" lIns="182880" tIns="182880" rIns="182880" bIns="182880">
            <a:spAutoFit/>
          </a:bodyPr>
          <a:lstStyle/>
          <a:p>
            <a:pPr algn="l">
              <a:spcAft>
                <a:spcPts val="600"/>
              </a:spcAft>
              <a:defRPr sz="1100" b="1" i="0">
                <a:solidFill>
                  <a:srgbClr val="38BDF8"/>
                </a:solidFill>
                <a:latin typeface="Calibri"/>
              </a:defRPr>
            </a:pPr>
            <a:r>
              <a:t>ACCESIBILITATE &amp; DEMO OPERAȚIONAL</a:t>
            </a:r>
          </a:p>
          <a:p>
            <a:pPr algn="l">
              <a:spcAft>
                <a:spcPts val="500"/>
              </a:spcAft>
            </a:pPr>
            <a:r>
              <a:rPr sz="1200" b="1">
                <a:solidFill>
                  <a:srgbClr val="FFFFFF"/>
                </a:solidFill>
                <a:latin typeface="Calibri"/>
              </a:rPr>
              <a:t>• Web Dashboard: </a:t>
            </a:r>
            <a:r>
              <a:rPr sz="1200" b="0">
                <a:solidFill>
                  <a:srgbClr val="E2E8F0"/>
                </a:solidFill>
                <a:latin typeface="Calibri"/>
              </a:rPr>
              <a:t>Next.js 14 + MapLibre GL la arteria.ai-iasi.ro</a:t>
            </a:r>
          </a:p>
          <a:p>
            <a:pPr algn="l">
              <a:spcAft>
                <a:spcPts val="500"/>
              </a:spcAft>
            </a:pPr>
            <a:r>
              <a:rPr sz="1200" b="1">
                <a:solidFill>
                  <a:srgbClr val="FFFFFF"/>
                </a:solidFill>
                <a:latin typeface="Calibri"/>
              </a:rPr>
              <a:t>• Client Mobil: </a:t>
            </a:r>
            <a:r>
              <a:rPr sz="1200" b="0">
                <a:solidFill>
                  <a:srgbClr val="E2E8F0"/>
                </a:solidFill>
                <a:latin typeface="Calibri"/>
              </a:rPr>
              <a:t>Aplicație Expo Android pentru operatorii de teren</a:t>
            </a:r>
          </a:p>
          <a:p>
            <a:pPr algn="l">
              <a:spcAft>
                <a:spcPts val="500"/>
              </a:spcAft>
            </a:pPr>
            <a:r>
              <a:rPr sz="1200" b="1">
                <a:solidFill>
                  <a:srgbClr val="FFFFFF"/>
                </a:solidFill>
                <a:latin typeface="Calibri"/>
              </a:rPr>
              <a:t>• Backend API: </a:t>
            </a:r>
            <a:r>
              <a:rPr sz="1200" b="0">
                <a:solidFill>
                  <a:srgbClr val="E2E8F0"/>
                </a:solidFill>
                <a:latin typeface="Calibri"/>
              </a:rPr>
              <a:t>FastAPI + SUMO TraCI în cloud, răspuns instant</a:t>
            </a:r>
          </a:p>
          <a:p>
            <a:pPr algn="l">
              <a:spcAft>
                <a:spcPts val="0"/>
              </a:spcAft>
            </a:pPr>
            <a:r>
              <a:rPr sz="1200" b="1">
                <a:solidFill>
                  <a:srgbClr val="FFFFFF"/>
                </a:solidFill>
                <a:latin typeface="Calibri"/>
              </a:rPr>
              <a:t>• Echipa Tehnică: </a:t>
            </a:r>
            <a:r>
              <a:rPr sz="1200" b="0">
                <a:solidFill>
                  <a:srgbClr val="FFFFFF"/>
                </a:solidFill>
                <a:latin typeface="Calibri"/>
              </a:rPr>
              <a:t>Iustin Fagateanu &amp; Alex Pintilie (ARION)</a:t>
            </a:r>
          </a:p>
        </p:txBody>
      </p:sp>
    </p:spTree>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PROBLEMA CRITICĂ</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02 / 10 · PROBLEMA</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Problema: Blocajul Cronic din Podu Roșu</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Inginerul de mobilitate nu are un simulator rapid — orice intervenție directă pe semafoare riscă să blocheze un sfert de oraș.</a:t>
            </a:r>
          </a:p>
        </p:txBody>
      </p:sp>
      <p:sp>
        <p:nvSpPr>
          <p:cNvPr id="7" name="Rounded Rectangle 6"/>
          <p:cNvSpPr/>
          <p:nvPr/>
        </p:nvSpPr>
        <p:spPr>
          <a:xfrm>
            <a:off x="731520" y="1691640"/>
            <a:ext cx="3364992" cy="46634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3364992" cy="4663440"/>
          </a:xfrm>
          <a:prstGeom prst="rect">
            <a:avLst/>
          </a:prstGeom>
          <a:noFill/>
        </p:spPr>
        <p:txBody>
          <a:bodyPr wrap="square" lIns="201168" tIns="201168" rIns="201168" bIns="201168">
            <a:spAutoFit/>
          </a:bodyPr>
          <a:lstStyle/>
          <a:p>
            <a:pPr algn="l">
              <a:spcAft>
                <a:spcPts val="600"/>
              </a:spcAft>
              <a:defRPr sz="1100" b="1" i="0">
                <a:solidFill>
                  <a:srgbClr val="F87171"/>
                </a:solidFill>
                <a:latin typeface="Calibri"/>
              </a:defRPr>
            </a:pPr>
            <a:r>
              <a:t>MOMENTUL CRITIC (ORA 08:15)</a:t>
            </a:r>
          </a:p>
          <a:p>
            <a:pPr algn="l">
              <a:spcAft>
                <a:spcPts val="0"/>
              </a:spcAft>
              <a:defRPr sz="4000" b="1" i="0">
                <a:solidFill>
                  <a:srgbClr val="F87171"/>
                </a:solidFill>
                <a:latin typeface="Calibri"/>
              </a:defRPr>
            </a:pPr>
            <a:r>
              <a:t>2.180</a:t>
            </a:r>
          </a:p>
          <a:p>
            <a:pPr algn="l">
              <a:spcAft>
                <a:spcPts val="1600"/>
              </a:spcAft>
              <a:defRPr sz="1100" b="0" i="0">
                <a:solidFill>
                  <a:srgbClr val="94A3B8"/>
                </a:solidFill>
                <a:latin typeface="Calibri"/>
              </a:defRPr>
            </a:pPr>
            <a:r>
              <a:t>vehicule / oră în sensul Podu Roșu</a:t>
            </a:r>
          </a:p>
          <a:p>
            <a:pPr algn="l">
              <a:spcAft>
                <a:spcPts val="1000"/>
              </a:spcAft>
            </a:pPr>
            <a:r>
              <a:rPr sz="1200" b="1">
                <a:solidFill>
                  <a:srgbClr val="FFFFFF"/>
                </a:solidFill>
                <a:latin typeface="Calibri"/>
              </a:rPr>
              <a:t>• Coadă de 340 metri: </a:t>
            </a:r>
            <a:r>
              <a:rPr sz="1200" b="0">
                <a:solidFill>
                  <a:srgbClr val="E2E8F0"/>
                </a:solidFill>
                <a:latin typeface="Calibri"/>
              </a:rPr>
              <a:t>Formată continuu pe Bd. Socola și Nicolina către intersecție.</a:t>
            </a:r>
          </a:p>
          <a:p>
            <a:pPr algn="l">
              <a:spcAft>
                <a:spcPts val="1000"/>
              </a:spcAft>
            </a:pPr>
            <a:r>
              <a:rPr sz="1200" b="1">
                <a:solidFill>
                  <a:srgbClr val="FFFFFF"/>
                </a:solidFill>
                <a:latin typeface="Calibri"/>
              </a:rPr>
              <a:t>• Nivel de Serviciu LOS F: </a:t>
            </a:r>
            <a:r>
              <a:rPr sz="1200" b="0">
                <a:solidFill>
                  <a:srgbClr val="E2E8F0"/>
                </a:solidFill>
                <a:latin typeface="Calibri"/>
              </a:rPr>
              <a:t>Colaps cronic de capacitate; întârzieri de peste 85 secunde per mașină.</a:t>
            </a:r>
          </a:p>
          <a:p>
            <a:pPr algn="l">
              <a:spcAft>
                <a:spcPts val="0"/>
              </a:spcAft>
            </a:pPr>
            <a:r>
              <a:rPr sz="1200" b="1">
                <a:solidFill>
                  <a:srgbClr val="FFFFFF"/>
                </a:solidFill>
                <a:latin typeface="Calibri"/>
              </a:rPr>
              <a:t>• Transport Public Blocat: </a:t>
            </a:r>
            <a:r>
              <a:rPr sz="1200" b="0">
                <a:solidFill>
                  <a:srgbClr val="E2E8F0"/>
                </a:solidFill>
                <a:latin typeface="Calibri"/>
              </a:rPr>
              <a:t>Autobuzele CTP (linia 28) și ambulanțele pierd 15-25 minute în blocaj.</a:t>
            </a:r>
          </a:p>
        </p:txBody>
      </p:sp>
      <p:sp>
        <p:nvSpPr>
          <p:cNvPr id="9" name="Rounded Rectangle 8"/>
          <p:cNvSpPr/>
          <p:nvPr/>
        </p:nvSpPr>
        <p:spPr>
          <a:xfrm>
            <a:off x="4407408" y="1691640"/>
            <a:ext cx="3364992" cy="4663440"/>
          </a:xfrm>
          <a:prstGeom prst="roundRect">
            <a:avLst/>
          </a:prstGeom>
          <a:solidFill>
            <a:srgbClr val="1E2D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07408" y="1691640"/>
            <a:ext cx="3364992" cy="4663440"/>
          </a:xfrm>
          <a:prstGeom prst="rect">
            <a:avLst/>
          </a:prstGeom>
          <a:noFill/>
        </p:spPr>
        <p:txBody>
          <a:bodyPr wrap="square" lIns="201168" tIns="201168" rIns="201168" bIns="201168">
            <a:spAutoFit/>
          </a:bodyPr>
          <a:lstStyle/>
          <a:p>
            <a:pPr algn="l">
              <a:spcAft>
                <a:spcPts val="600"/>
              </a:spcAft>
              <a:defRPr sz="1100" b="1" i="0">
                <a:solidFill>
                  <a:srgbClr val="FBBF24"/>
                </a:solidFill>
                <a:latin typeface="Calibri"/>
              </a:defRPr>
            </a:pPr>
            <a:r>
              <a:t>VOCEA INGINERULUI DE MOBILITATE</a:t>
            </a:r>
          </a:p>
          <a:p>
            <a:pPr algn="l">
              <a:spcAft>
                <a:spcPts val="0"/>
              </a:spcAft>
              <a:defRPr sz="4000" b="1" i="0">
                <a:solidFill>
                  <a:srgbClr val="FBBF24"/>
                </a:solidFill>
                <a:latin typeface="Calibri"/>
              </a:defRPr>
            </a:pPr>
            <a:r>
              <a:t>ZERO</a:t>
            </a:r>
          </a:p>
          <a:p>
            <a:pPr algn="l">
              <a:spcAft>
                <a:spcPts val="1600"/>
              </a:spcAft>
              <a:defRPr sz="1100" b="0" i="0">
                <a:solidFill>
                  <a:srgbClr val="94A3B8"/>
                </a:solidFill>
                <a:latin typeface="Calibri"/>
              </a:defRPr>
            </a:pPr>
            <a:r>
              <a:t>toleranță la erori în deciziile de trafic</a:t>
            </a:r>
          </a:p>
          <a:p>
            <a:pPr algn="l">
              <a:spcAft>
                <a:spcPts val="1400"/>
              </a:spcAft>
              <a:defRPr sz="1300" b="0" i="1">
                <a:solidFill>
                  <a:srgbClr val="FFFFFF"/>
                </a:solidFill>
                <a:latin typeface="Calibri"/>
              </a:defRPr>
            </a:pPr>
            <a:r>
              <a:t>„Știm exact unde se blochează Iașul în fiecare dimineață, dar nu putem experimenta pe șoferi în direct.</a:t>
            </a:r>
            <a:br/>
            <a:br/>
            <a:r>
              <a:t>Dacă modificăm timpii de verde pe o arteră, riscăm să paralizăm o altă axă fără să știm dinainte consecințele în lanț.”</a:t>
            </a:r>
          </a:p>
          <a:p>
            <a:pPr algn="l">
              <a:spcAft>
                <a:spcPts val="0"/>
              </a:spcAft>
              <a:defRPr sz="1100" b="0" i="0">
                <a:solidFill>
                  <a:srgbClr val="94A3B8"/>
                </a:solidFill>
                <a:latin typeface="Calibri"/>
              </a:defRPr>
            </a:pPr>
            <a:r>
              <a:t>— Inginer specialist, Management Trafic Iași</a:t>
            </a:r>
          </a:p>
        </p:txBody>
      </p:sp>
      <p:sp>
        <p:nvSpPr>
          <p:cNvPr id="11" name="Rounded Rectangle 10"/>
          <p:cNvSpPr/>
          <p:nvPr/>
        </p:nvSpPr>
        <p:spPr>
          <a:xfrm>
            <a:off x="8083296" y="1691640"/>
            <a:ext cx="3364992" cy="46634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83296" y="1691640"/>
            <a:ext cx="3364992" cy="4663440"/>
          </a:xfrm>
          <a:prstGeom prst="rect">
            <a:avLst/>
          </a:prstGeom>
          <a:noFill/>
        </p:spPr>
        <p:txBody>
          <a:bodyPr wrap="square" lIns="201168" tIns="201168" rIns="201168" bIns="201168">
            <a:spAutoFit/>
          </a:bodyPr>
          <a:lstStyle/>
          <a:p>
            <a:pPr algn="l">
              <a:spcAft>
                <a:spcPts val="600"/>
              </a:spcAft>
              <a:defRPr sz="1100" b="1" i="0">
                <a:solidFill>
                  <a:srgbClr val="F87171"/>
                </a:solidFill>
                <a:latin typeface="Calibri"/>
              </a:defRPr>
            </a:pPr>
            <a:r>
              <a:t>COSTUL INACȚIUNII PENTRU ORAȘ</a:t>
            </a:r>
          </a:p>
          <a:p>
            <a:pPr algn="l">
              <a:spcAft>
                <a:spcPts val="0"/>
              </a:spcAft>
              <a:defRPr sz="4000" b="1" i="0">
                <a:solidFill>
                  <a:srgbClr val="FFFFFF"/>
                </a:solidFill>
                <a:latin typeface="Calibri"/>
              </a:defRPr>
            </a:pPr>
            <a:r>
              <a:t>42 min</a:t>
            </a:r>
          </a:p>
          <a:p>
            <a:pPr algn="l">
              <a:spcAft>
                <a:spcPts val="1600"/>
              </a:spcAft>
              <a:defRPr sz="1100" b="0" i="0">
                <a:solidFill>
                  <a:srgbClr val="94A3B8"/>
                </a:solidFill>
                <a:latin typeface="Calibri"/>
              </a:defRPr>
            </a:pPr>
            <a:r>
              <a:t>întârziere medie / navetist la ore de vârf</a:t>
            </a:r>
          </a:p>
          <a:p>
            <a:pPr algn="l">
              <a:spcAft>
                <a:spcPts val="1000"/>
              </a:spcAft>
            </a:pPr>
            <a:r>
              <a:rPr sz="1200" b="1">
                <a:solidFill>
                  <a:srgbClr val="FFFFFF"/>
                </a:solidFill>
                <a:latin typeface="Calibri"/>
              </a:rPr>
              <a:t>• 3.2x Emisii CO2: </a:t>
            </a:r>
            <a:r>
              <a:rPr sz="1200" b="0">
                <a:solidFill>
                  <a:srgbClr val="E2E8F0"/>
                </a:solidFill>
                <a:latin typeface="Calibri"/>
              </a:rPr>
              <a:t>Generate suplimentar în regim stop-and-go la traversarea coridorului.</a:t>
            </a:r>
          </a:p>
          <a:p>
            <a:pPr algn="l">
              <a:spcAft>
                <a:spcPts val="1000"/>
              </a:spcAft>
            </a:pPr>
            <a:r>
              <a:rPr sz="1200" b="1">
                <a:solidFill>
                  <a:srgbClr val="FFFFFF"/>
                </a:solidFill>
                <a:latin typeface="Calibri"/>
              </a:rPr>
              <a:t>• &gt;12 Milioane € Anual: </a:t>
            </a:r>
            <a:r>
              <a:rPr sz="1200" b="0">
                <a:solidFill>
                  <a:srgbClr val="E2E8F0"/>
                </a:solidFill>
                <a:latin typeface="Calibri"/>
              </a:rPr>
              <a:t>Cost economic cumulat din combustibil irosit și productivitate pierdută.</a:t>
            </a:r>
          </a:p>
          <a:p>
            <a:pPr algn="l">
              <a:spcAft>
                <a:spcPts val="0"/>
              </a:spcAft>
            </a:pPr>
            <a:r>
              <a:rPr sz="1200" b="1">
                <a:solidFill>
                  <a:srgbClr val="FFFFFF"/>
                </a:solidFill>
                <a:latin typeface="Calibri"/>
              </a:rPr>
              <a:t>• Sursă Oficială: </a:t>
            </a:r>
            <a:r>
              <a:rPr sz="1200" b="0">
                <a:solidFill>
                  <a:srgbClr val="94A3B8"/>
                </a:solidFill>
                <a:latin typeface="Calibri"/>
              </a:rPr>
              <a:t>PMUD Iași (2023), senzori trafic municipiu și TomTom Traffic Index 2024.</a:t>
            </a:r>
          </a:p>
        </p:txBody>
      </p:sp>
    </p:spTree>
  </p:cSld>
  <p:clrMapOvr>
    <a:masterClrMapping/>
  </p:clrMapOvr>
  <p:transition>
    <p:dissolv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PEISAJUL ALTERNATIVELOR</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03 / 10 · ALTERNATIVE</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De Ce Eșuează Soluțiile Tradiționale</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Administrațiile locale sunt prinse între rapoarte pe hârtie care durează un an și sisteme SCADA rigide de milioane de euro.</a:t>
            </a:r>
          </a:p>
        </p:txBody>
      </p:sp>
      <p:sp>
        <p:nvSpPr>
          <p:cNvPr id="7" name="Rounded Rectangle 6"/>
          <p:cNvSpPr/>
          <p:nvPr/>
        </p:nvSpPr>
        <p:spPr>
          <a:xfrm>
            <a:off x="731520" y="1691640"/>
            <a:ext cx="3364992" cy="393192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3364992" cy="3931920"/>
          </a:xfrm>
          <a:prstGeom prst="rect">
            <a:avLst/>
          </a:prstGeom>
          <a:noFill/>
        </p:spPr>
        <p:txBody>
          <a:bodyPr wrap="square" lIns="201168" tIns="201168" rIns="201168" bIns="201168">
            <a:spAutoFit/>
          </a:bodyPr>
          <a:lstStyle/>
          <a:p>
            <a:pPr algn="l">
              <a:spcAft>
                <a:spcPts val="600"/>
              </a:spcAft>
              <a:defRPr sz="1100" b="1" i="0">
                <a:solidFill>
                  <a:srgbClr val="94A3B8"/>
                </a:solidFill>
                <a:latin typeface="Calibri"/>
              </a:defRPr>
            </a:pPr>
            <a:r>
              <a:t>CONSULTANȚĂ CLASICĂ DE TRAFIC</a:t>
            </a:r>
          </a:p>
          <a:p>
            <a:pPr algn="l">
              <a:spcAft>
                <a:spcPts val="400"/>
              </a:spcAft>
              <a:defRPr sz="2000" b="1" i="0">
                <a:solidFill>
                  <a:srgbClr val="FFFFFF"/>
                </a:solidFill>
                <a:latin typeface="Calibri"/>
              </a:defRPr>
            </a:pPr>
            <a:r>
              <a:t>40.000€ – 70.000€</a:t>
            </a:r>
          </a:p>
          <a:p>
            <a:pPr algn="l">
              <a:spcAft>
                <a:spcPts val="1400"/>
              </a:spcAft>
              <a:defRPr sz="1100" b="0" i="0">
                <a:solidFill>
                  <a:srgbClr val="94A3B8"/>
                </a:solidFill>
                <a:latin typeface="Calibri"/>
              </a:defRPr>
            </a:pPr>
            <a:r>
              <a:t>per studiu de trafic de specialitate</a:t>
            </a:r>
          </a:p>
          <a:p>
            <a:pPr algn="l">
              <a:spcAft>
                <a:spcPts val="800"/>
              </a:spcAft>
            </a:pPr>
            <a:r>
              <a:rPr sz="1200" b="1">
                <a:solidFill>
                  <a:srgbClr val="FFFFFF"/>
                </a:solidFill>
                <a:latin typeface="Calibri"/>
              </a:rPr>
              <a:t>• Timp livrare: </a:t>
            </a:r>
            <a:r>
              <a:rPr sz="1200" b="0">
                <a:solidFill>
                  <a:srgbClr val="E2E8F0"/>
                </a:solidFill>
                <a:latin typeface="Calibri"/>
              </a:rPr>
              <a:t>12 – 18 luni până la recepție</a:t>
            </a:r>
          </a:p>
          <a:p>
            <a:pPr algn="l">
              <a:spcAft>
                <a:spcPts val="800"/>
              </a:spcAft>
            </a:pPr>
            <a:r>
              <a:rPr sz="1200" b="1">
                <a:solidFill>
                  <a:srgbClr val="FFFFFF"/>
                </a:solidFill>
                <a:latin typeface="Calibri"/>
              </a:rPr>
              <a:t>• Livrabil: </a:t>
            </a:r>
            <a:r>
              <a:rPr sz="1200" b="0">
                <a:solidFill>
                  <a:srgbClr val="E2E8F0"/>
                </a:solidFill>
                <a:latin typeface="Calibri"/>
              </a:rPr>
              <a:t>Raport PDF static de 300 de pagini</a:t>
            </a:r>
          </a:p>
          <a:p>
            <a:pPr algn="l">
              <a:spcAft>
                <a:spcPts val="0"/>
              </a:spcAft>
            </a:pPr>
            <a:r>
              <a:rPr sz="1200" b="1">
                <a:solidFill>
                  <a:srgbClr val="FFFFFF"/>
                </a:solidFill>
                <a:latin typeface="Calibri"/>
              </a:rPr>
              <a:t>• Limită critică: </a:t>
            </a:r>
            <a:r>
              <a:rPr sz="1200" b="0">
                <a:solidFill>
                  <a:srgbClr val="F87171"/>
                </a:solidFill>
                <a:latin typeface="Calibri"/>
              </a:rPr>
              <a:t>Când este predat, datele sunt deja caduce. Orice scenariu nou cere un alt studiu plătit.</a:t>
            </a:r>
          </a:p>
        </p:txBody>
      </p:sp>
      <p:sp>
        <p:nvSpPr>
          <p:cNvPr id="9" name="Rounded Rectangle 8"/>
          <p:cNvSpPr/>
          <p:nvPr/>
        </p:nvSpPr>
        <p:spPr>
          <a:xfrm>
            <a:off x="4407408" y="1691640"/>
            <a:ext cx="3364992" cy="393192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07408" y="1691640"/>
            <a:ext cx="3364992" cy="3931920"/>
          </a:xfrm>
          <a:prstGeom prst="rect">
            <a:avLst/>
          </a:prstGeom>
          <a:noFill/>
        </p:spPr>
        <p:txBody>
          <a:bodyPr wrap="square" lIns="201168" tIns="201168" rIns="201168" bIns="201168">
            <a:spAutoFit/>
          </a:bodyPr>
          <a:lstStyle/>
          <a:p>
            <a:pPr algn="l">
              <a:spcAft>
                <a:spcPts val="600"/>
              </a:spcAft>
              <a:defRPr sz="1100" b="1" i="0">
                <a:solidFill>
                  <a:srgbClr val="FBBF24"/>
                </a:solidFill>
                <a:latin typeface="Calibri"/>
              </a:defRPr>
            </a:pPr>
            <a:r>
              <a:t>SISTEME SCADA / UTCS RIGIDE</a:t>
            </a:r>
          </a:p>
          <a:p>
            <a:pPr algn="l">
              <a:spcAft>
                <a:spcPts val="400"/>
              </a:spcAft>
              <a:defRPr sz="2000" b="1" i="0">
                <a:solidFill>
                  <a:srgbClr val="FFFFFF"/>
                </a:solidFill>
                <a:latin typeface="Calibri"/>
              </a:defRPr>
            </a:pPr>
            <a:r>
              <a:t>&gt; 1.000.000€</a:t>
            </a:r>
          </a:p>
          <a:p>
            <a:pPr algn="l">
              <a:spcAft>
                <a:spcPts val="1400"/>
              </a:spcAft>
              <a:defRPr sz="1100" b="0" i="0">
                <a:solidFill>
                  <a:srgbClr val="94A3B8"/>
                </a:solidFill>
                <a:latin typeface="Calibri"/>
              </a:defRPr>
            </a:pPr>
            <a:r>
              <a:t>implementare greoaie hardware în teren</a:t>
            </a:r>
          </a:p>
          <a:p>
            <a:pPr algn="l">
              <a:spcAft>
                <a:spcPts val="800"/>
              </a:spcAft>
            </a:pPr>
            <a:r>
              <a:rPr sz="1200" b="1">
                <a:solidFill>
                  <a:srgbClr val="FFFFFF"/>
                </a:solidFill>
                <a:latin typeface="Calibri"/>
              </a:rPr>
              <a:t>• Timp instalare: </a:t>
            </a:r>
            <a:r>
              <a:rPr sz="1200" b="0">
                <a:solidFill>
                  <a:srgbClr val="E2E8F0"/>
                </a:solidFill>
                <a:latin typeface="Calibri"/>
              </a:rPr>
              <a:t>2 – 3 ani de licitații și lucrări</a:t>
            </a:r>
          </a:p>
          <a:p>
            <a:pPr algn="l">
              <a:spcAft>
                <a:spcPts val="800"/>
              </a:spcAft>
            </a:pPr>
            <a:r>
              <a:rPr sz="1200" b="1">
                <a:solidFill>
                  <a:srgbClr val="FFFFFF"/>
                </a:solidFill>
                <a:latin typeface="Calibri"/>
              </a:rPr>
              <a:t>• Arhitectură: </a:t>
            </a:r>
            <a:r>
              <a:rPr sz="1200" b="0">
                <a:solidFill>
                  <a:srgbClr val="E2E8F0"/>
                </a:solidFill>
                <a:latin typeface="Calibri"/>
              </a:rPr>
              <a:t>Bucle inductive rigide în carosabil</a:t>
            </a:r>
          </a:p>
          <a:p>
            <a:pPr algn="l">
              <a:spcAft>
                <a:spcPts val="0"/>
              </a:spcAft>
            </a:pPr>
            <a:r>
              <a:rPr sz="1200" b="1">
                <a:solidFill>
                  <a:srgbClr val="FFFFFF"/>
                </a:solidFill>
                <a:latin typeface="Calibri"/>
              </a:rPr>
              <a:t>• Limită critică: </a:t>
            </a:r>
            <a:r>
              <a:rPr sz="1200" b="0">
                <a:solidFill>
                  <a:srgbClr val="FBBF24"/>
                </a:solidFill>
                <a:latin typeface="Calibri"/>
              </a:rPr>
              <a:t>Nu are capabilități predictive de simulare microscopică. Nu permite testarea de ipoteze.</a:t>
            </a:r>
          </a:p>
        </p:txBody>
      </p:sp>
      <p:sp>
        <p:nvSpPr>
          <p:cNvPr id="11" name="Rounded Rectangle 10"/>
          <p:cNvSpPr/>
          <p:nvPr/>
        </p:nvSpPr>
        <p:spPr>
          <a:xfrm>
            <a:off x="8083296" y="1691640"/>
            <a:ext cx="3364992" cy="3931920"/>
          </a:xfrm>
          <a:prstGeom prst="roundRect">
            <a:avLst/>
          </a:prstGeom>
          <a:solidFill>
            <a:srgbClr val="152E4D"/>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83296" y="1691640"/>
            <a:ext cx="3364992" cy="3931920"/>
          </a:xfrm>
          <a:prstGeom prst="rect">
            <a:avLst/>
          </a:prstGeom>
          <a:noFill/>
        </p:spPr>
        <p:txBody>
          <a:bodyPr wrap="square" lIns="201168" tIns="201168" rIns="201168" bIns="201168">
            <a:spAutoFit/>
          </a:bodyPr>
          <a:lstStyle/>
          <a:p>
            <a:pPr algn="l">
              <a:spcAft>
                <a:spcPts val="600"/>
              </a:spcAft>
              <a:defRPr sz="1100" b="1" i="0">
                <a:solidFill>
                  <a:srgbClr val="38BDF8"/>
                </a:solidFill>
                <a:latin typeface="Calibri"/>
              </a:defRPr>
            </a:pPr>
            <a:r>
              <a:t>ARTERIA: DIGITAL TWIN B2G</a:t>
            </a:r>
          </a:p>
          <a:p>
            <a:pPr algn="l">
              <a:spcAft>
                <a:spcPts val="400"/>
              </a:spcAft>
              <a:defRPr sz="2000" b="1" i="0">
                <a:solidFill>
                  <a:srgbClr val="34D399"/>
                </a:solidFill>
                <a:latin typeface="Calibri"/>
              </a:defRPr>
            </a:pPr>
            <a:r>
              <a:t>18.000€ / an</a:t>
            </a:r>
          </a:p>
          <a:p>
            <a:pPr algn="l">
              <a:spcAft>
                <a:spcPts val="1400"/>
              </a:spcAft>
              <a:defRPr sz="1100" b="0" i="0">
                <a:solidFill>
                  <a:srgbClr val="94A3B8"/>
                </a:solidFill>
                <a:latin typeface="Calibri"/>
              </a:defRPr>
            </a:pPr>
            <a:r>
              <a:t>achiziție directă legală, SaaS cloud</a:t>
            </a:r>
          </a:p>
          <a:p>
            <a:pPr algn="l">
              <a:spcAft>
                <a:spcPts val="800"/>
              </a:spcAft>
            </a:pPr>
            <a:r>
              <a:rPr sz="1200" b="1">
                <a:solidFill>
                  <a:srgbClr val="FFFFFF"/>
                </a:solidFill>
                <a:latin typeface="Calibri"/>
              </a:rPr>
              <a:t>• Rulare simulare: </a:t>
            </a:r>
            <a:r>
              <a:rPr sz="1200" b="0">
                <a:solidFill>
                  <a:srgbClr val="34D399"/>
                </a:solidFill>
                <a:latin typeface="Calibri"/>
              </a:rPr>
              <a:t>5 secunde calcul interactiv</a:t>
            </a:r>
          </a:p>
          <a:p>
            <a:pPr algn="l">
              <a:spcAft>
                <a:spcPts val="800"/>
              </a:spcAft>
            </a:pPr>
            <a:r>
              <a:rPr sz="1200" b="1">
                <a:solidFill>
                  <a:srgbClr val="FFFFFF"/>
                </a:solidFill>
                <a:latin typeface="Calibri"/>
              </a:rPr>
              <a:t>• Tehnologie: </a:t>
            </a:r>
            <a:r>
              <a:rPr sz="1200" b="0">
                <a:solidFill>
                  <a:srgbClr val="E2E8F0"/>
                </a:solidFill>
                <a:latin typeface="Calibri"/>
              </a:rPr>
              <a:t>SUMO TraCI + Model Webster + OSMnx</a:t>
            </a:r>
          </a:p>
          <a:p>
            <a:pPr algn="l">
              <a:spcAft>
                <a:spcPts val="0"/>
              </a:spcAft>
            </a:pPr>
            <a:r>
              <a:rPr sz="1200" b="1">
                <a:solidFill>
                  <a:srgbClr val="FFFFFF"/>
                </a:solidFill>
                <a:latin typeface="Calibri"/>
              </a:rPr>
              <a:t>• Avantaj unic: </a:t>
            </a:r>
            <a:r>
              <a:rPr sz="1200" b="0">
                <a:solidFill>
                  <a:srgbClr val="FFFFFF"/>
                </a:solidFill>
                <a:latin typeface="Calibri"/>
              </a:rPr>
              <a:t>Simulează fizic fluxurile înainte de a modifica semafoarele pe stradă. Risc zero.</a:t>
            </a:r>
          </a:p>
        </p:txBody>
      </p:sp>
      <p:sp>
        <p:nvSpPr>
          <p:cNvPr id="13" name="Rounded Rectangle 12"/>
          <p:cNvSpPr/>
          <p:nvPr/>
        </p:nvSpPr>
        <p:spPr>
          <a:xfrm>
            <a:off x="731520" y="5760720"/>
            <a:ext cx="10725912" cy="594360"/>
          </a:xfrm>
          <a:prstGeom prst="roundRect">
            <a:avLst/>
          </a:prstGeom>
          <a:solidFill>
            <a:srgbClr val="1E2D4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5760720"/>
            <a:ext cx="10725912" cy="594360"/>
          </a:xfrm>
          <a:prstGeom prst="rect">
            <a:avLst/>
          </a:prstGeom>
          <a:noFill/>
        </p:spPr>
        <p:txBody>
          <a:bodyPr wrap="square" lIns="137160" tIns="137160" rIns="137160" bIns="137160">
            <a:spAutoFit/>
          </a:bodyPr>
          <a:lstStyle/>
          <a:p>
            <a:pPr algn="ctr">
              <a:spcAft>
                <a:spcPts val="400"/>
              </a:spcAft>
              <a:defRPr sz="1300" b="1" i="0">
                <a:solidFill>
                  <a:srgbClr val="FFFFFF"/>
                </a:solidFill>
                <a:latin typeface="Calibri"/>
              </a:defRPr>
            </a:pPr>
            <a:r>
              <a:t>AVANTAJUL DECISIV: Reducem ciclul de validare a unei decizii de la 12 luni la sub 1 minut · Risc ZERO de blocare a traficului real.</a:t>
            </a:r>
          </a:p>
        </p:txBody>
      </p:sp>
    </p:spTree>
  </p:cSld>
  <p:clrMapOvr>
    <a:masterClrMapping/>
  </p:clrMapOvr>
  <p:transition>
    <p:dissolv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ARHITECTURA DE FLUX</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04 / 10 · SOLUȚIA</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Soluția: Digital Twin în Trei Etape Simple</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ARTERIA preia rețeaua reală a Iașului, rulează simularea microscopică și livrează planul optimizat de semaforizare.</a:t>
            </a:r>
          </a:p>
        </p:txBody>
      </p:sp>
      <p:sp>
        <p:nvSpPr>
          <p:cNvPr id="7" name="Rounded Rectangle 6"/>
          <p:cNvSpPr/>
          <p:nvPr/>
        </p:nvSpPr>
        <p:spPr>
          <a:xfrm>
            <a:off x="731520" y="1691640"/>
            <a:ext cx="3364992" cy="370332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3364992" cy="3703320"/>
          </a:xfrm>
          <a:prstGeom prst="rect">
            <a:avLst/>
          </a:prstGeom>
          <a:noFill/>
        </p:spPr>
        <p:txBody>
          <a:bodyPr wrap="square" lIns="201168" tIns="201168" rIns="201168" bIns="201168">
            <a:spAutoFit/>
          </a:bodyPr>
          <a:lstStyle/>
          <a:p>
            <a:pPr algn="l">
              <a:spcAft>
                <a:spcPts val="400"/>
              </a:spcAft>
              <a:defRPr sz="1100" b="1" i="0">
                <a:solidFill>
                  <a:srgbClr val="38BDF8"/>
                </a:solidFill>
                <a:latin typeface="Calibri"/>
              </a:defRPr>
            </a:pPr>
            <a:r>
              <a:t>01. DATE DE INTRARE</a:t>
            </a:r>
          </a:p>
          <a:p>
            <a:pPr algn="l">
              <a:spcAft>
                <a:spcPts val="1200"/>
              </a:spcAft>
              <a:defRPr sz="1700" b="1" i="0">
                <a:solidFill>
                  <a:srgbClr val="FFFFFF"/>
                </a:solidFill>
                <a:latin typeface="Calibri"/>
              </a:defRPr>
            </a:pPr>
            <a:r>
              <a:t>Rețeaua Reală a Iașului</a:t>
            </a:r>
          </a:p>
          <a:p>
            <a:pPr algn="l">
              <a:spcAft>
                <a:spcPts val="800"/>
              </a:spcAft>
            </a:pPr>
            <a:r>
              <a:rPr sz="1200" b="1">
                <a:solidFill>
                  <a:srgbClr val="FFFFFF"/>
                </a:solidFill>
                <a:latin typeface="Calibri"/>
              </a:rPr>
              <a:t>• Geometrie OSMnx: </a:t>
            </a:r>
            <a:r>
              <a:rPr sz="1200" b="0">
                <a:solidFill>
                  <a:srgbClr val="E2E8F0"/>
                </a:solidFill>
                <a:latin typeface="Calibri"/>
              </a:rPr>
              <a:t>Străzi, benzi, priorități și sensuri giratorii extrase instant din OpenStreetMap.</a:t>
            </a:r>
          </a:p>
          <a:p>
            <a:pPr algn="l">
              <a:spcAft>
                <a:spcPts val="800"/>
              </a:spcAft>
            </a:pPr>
            <a:r>
              <a:rPr sz="1200" b="1">
                <a:solidFill>
                  <a:srgbClr val="FFFFFF"/>
                </a:solidFill>
                <a:latin typeface="Calibri"/>
              </a:rPr>
              <a:t>• Volume din Senzori: </a:t>
            </a:r>
            <a:r>
              <a:rPr sz="1200" b="0">
                <a:solidFill>
                  <a:srgbClr val="E2E8F0"/>
                </a:solidFill>
                <a:latin typeface="Calibri"/>
              </a:rPr>
              <a:t>2.180 vehicule/oră înregistrate pe direcțiile Socola, Nicolina și Palat.</a:t>
            </a:r>
          </a:p>
          <a:p>
            <a:pPr algn="l">
              <a:spcAft>
                <a:spcPts val="0"/>
              </a:spcAft>
            </a:pPr>
            <a:r>
              <a:rPr sz="1200" b="1">
                <a:solidFill>
                  <a:srgbClr val="FFFFFF"/>
                </a:solidFill>
                <a:latin typeface="Calibri"/>
              </a:rPr>
              <a:t>• Faze Semafoare: </a:t>
            </a:r>
            <a:r>
              <a:rPr sz="1200" b="0">
                <a:solidFill>
                  <a:srgbClr val="E2E8F0"/>
                </a:solidFill>
                <a:latin typeface="Calibri"/>
              </a:rPr>
              <a:t>Planurile curente de verde ale Primăriei Iași încărcate ca punct de plecare.</a:t>
            </a:r>
          </a:p>
        </p:txBody>
      </p:sp>
      <p:sp>
        <p:nvSpPr>
          <p:cNvPr id="9" name="Rounded Rectangle 8"/>
          <p:cNvSpPr/>
          <p:nvPr/>
        </p:nvSpPr>
        <p:spPr>
          <a:xfrm>
            <a:off x="4407408" y="1691640"/>
            <a:ext cx="3364992" cy="3703320"/>
          </a:xfrm>
          <a:prstGeom prst="roundRect">
            <a:avLst/>
          </a:prstGeom>
          <a:solidFill>
            <a:srgbClr val="1E2D40"/>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07408" y="1691640"/>
            <a:ext cx="3364992" cy="3703320"/>
          </a:xfrm>
          <a:prstGeom prst="rect">
            <a:avLst/>
          </a:prstGeom>
          <a:noFill/>
        </p:spPr>
        <p:txBody>
          <a:bodyPr wrap="square" lIns="201168" tIns="201168" rIns="201168" bIns="201168">
            <a:spAutoFit/>
          </a:bodyPr>
          <a:lstStyle/>
          <a:p>
            <a:pPr algn="l">
              <a:spcAft>
                <a:spcPts val="400"/>
              </a:spcAft>
              <a:defRPr sz="1100" b="1" i="0">
                <a:solidFill>
                  <a:srgbClr val="34D399"/>
                </a:solidFill>
                <a:latin typeface="Calibri"/>
              </a:defRPr>
            </a:pPr>
            <a:r>
              <a:t>02. SIMULARE &amp; CALCUL</a:t>
            </a:r>
          </a:p>
          <a:p>
            <a:pPr algn="l">
              <a:spcAft>
                <a:spcPts val="1200"/>
              </a:spcAft>
              <a:defRPr sz="1700" b="1" i="0">
                <a:solidFill>
                  <a:srgbClr val="FFFFFF"/>
                </a:solidFill>
                <a:latin typeface="Calibri"/>
              </a:defRPr>
            </a:pPr>
            <a:r>
              <a:t>Simulare Microscopică SUMO</a:t>
            </a:r>
          </a:p>
          <a:p>
            <a:pPr algn="l">
              <a:spcAft>
                <a:spcPts val="800"/>
              </a:spcAft>
            </a:pPr>
            <a:r>
              <a:rPr sz="1200" b="1">
                <a:solidFill>
                  <a:srgbClr val="FFFFFF"/>
                </a:solidFill>
                <a:latin typeface="Calibri"/>
              </a:rPr>
              <a:t>• Comportament Multi-Vehicul: </a:t>
            </a:r>
            <a:r>
              <a:rPr sz="1200" b="0">
                <a:solidFill>
                  <a:srgbClr val="E2E8F0"/>
                </a:solidFill>
                <a:latin typeface="Calibri"/>
              </a:rPr>
              <a:t>Accelerații, frânări, distanțe de siguranță și cozi multi-bandă simulate via TraCI.</a:t>
            </a:r>
          </a:p>
          <a:p>
            <a:pPr algn="l">
              <a:spcAft>
                <a:spcPts val="800"/>
              </a:spcAft>
            </a:pPr>
            <a:r>
              <a:rPr sz="1200" b="1">
                <a:solidFill>
                  <a:srgbClr val="FFFFFF"/>
                </a:solidFill>
                <a:latin typeface="Calibri"/>
              </a:rPr>
              <a:t>• Algoritm Webster: </a:t>
            </a:r>
            <a:r>
              <a:rPr sz="1200" b="0">
                <a:solidFill>
                  <a:srgbClr val="E2E8F0"/>
                </a:solidFill>
                <a:latin typeface="Calibri"/>
              </a:rPr>
              <a:t>Calcul instant (&lt;1s) al duratei optime de ciclu și al fracției de verde per direcție.</a:t>
            </a:r>
          </a:p>
          <a:p>
            <a:pPr algn="l">
              <a:spcAft>
                <a:spcPts val="0"/>
              </a:spcAft>
            </a:pPr>
            <a:r>
              <a:rPr sz="1200" b="1">
                <a:solidFill>
                  <a:srgbClr val="FFFFFF"/>
                </a:solidFill>
                <a:latin typeface="Calibri"/>
              </a:rPr>
              <a:t>• Detecție Gâtuiri: </a:t>
            </a:r>
            <a:r>
              <a:rPr sz="1200" b="0">
                <a:solidFill>
                  <a:srgbClr val="E2E8F0"/>
                </a:solidFill>
                <a:latin typeface="Calibri"/>
              </a:rPr>
              <a:t>Evidențierea exactă a punctelor de conflict înainte de propagarea blocajului.</a:t>
            </a:r>
          </a:p>
        </p:txBody>
      </p:sp>
      <p:sp>
        <p:nvSpPr>
          <p:cNvPr id="11" name="Rounded Rectangle 10"/>
          <p:cNvSpPr/>
          <p:nvPr/>
        </p:nvSpPr>
        <p:spPr>
          <a:xfrm>
            <a:off x="8083296" y="1691640"/>
            <a:ext cx="3364992" cy="370332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83296" y="1691640"/>
            <a:ext cx="3364992" cy="3703320"/>
          </a:xfrm>
          <a:prstGeom prst="rect">
            <a:avLst/>
          </a:prstGeom>
          <a:noFill/>
        </p:spPr>
        <p:txBody>
          <a:bodyPr wrap="square" lIns="201168" tIns="201168" rIns="201168" bIns="201168">
            <a:spAutoFit/>
          </a:bodyPr>
          <a:lstStyle/>
          <a:p>
            <a:pPr algn="l">
              <a:spcAft>
                <a:spcPts val="400"/>
              </a:spcAft>
              <a:defRPr sz="1100" b="1" i="0">
                <a:solidFill>
                  <a:srgbClr val="38BDF8"/>
                </a:solidFill>
                <a:latin typeface="Calibri"/>
              </a:defRPr>
            </a:pPr>
            <a:r>
              <a:t>03. REZULTAT &amp; DECIZIE</a:t>
            </a:r>
          </a:p>
          <a:p>
            <a:pPr algn="l">
              <a:spcAft>
                <a:spcPts val="1200"/>
              </a:spcAft>
              <a:defRPr sz="1700" b="1" i="0">
                <a:solidFill>
                  <a:srgbClr val="FFFFFF"/>
                </a:solidFill>
                <a:latin typeface="Calibri"/>
              </a:defRPr>
            </a:pPr>
            <a:r>
              <a:t>Plan Optimizat de Verde</a:t>
            </a:r>
          </a:p>
          <a:p>
            <a:pPr algn="l">
              <a:spcAft>
                <a:spcPts val="800"/>
              </a:spcAft>
            </a:pPr>
            <a:r>
              <a:rPr sz="1200" b="1">
                <a:solidFill>
                  <a:srgbClr val="FFFFFF"/>
                </a:solidFill>
                <a:latin typeface="Calibri"/>
              </a:rPr>
              <a:t>• Întârziere -34%: </a:t>
            </a:r>
            <a:r>
              <a:rPr sz="1200" b="0">
                <a:solidFill>
                  <a:srgbClr val="34D399"/>
                </a:solidFill>
                <a:latin typeface="Calibri"/>
              </a:rPr>
              <a:t>Timpul mediu de așteptare scade de la 85s la 56s per vehicul la ore de vârf.</a:t>
            </a:r>
          </a:p>
          <a:p>
            <a:pPr algn="l">
              <a:spcAft>
                <a:spcPts val="800"/>
              </a:spcAft>
            </a:pPr>
            <a:r>
              <a:rPr sz="1200" b="1">
                <a:solidFill>
                  <a:srgbClr val="FFFFFF"/>
                </a:solidFill>
                <a:latin typeface="Calibri"/>
              </a:rPr>
              <a:t>• Cozi Maxime -44%: </a:t>
            </a:r>
            <a:r>
              <a:rPr sz="1200" b="0">
                <a:solidFill>
                  <a:srgbClr val="34D399"/>
                </a:solidFill>
                <a:latin typeface="Calibri"/>
              </a:rPr>
              <a:t>Lungimea cozii se reduce de la 340m la 190m pe Bd. Socola.</a:t>
            </a:r>
          </a:p>
          <a:p>
            <a:pPr algn="l">
              <a:spcAft>
                <a:spcPts val="0"/>
              </a:spcAft>
            </a:pPr>
            <a:r>
              <a:rPr sz="1200" b="1">
                <a:solidFill>
                  <a:srgbClr val="FFFFFF"/>
                </a:solidFill>
                <a:latin typeface="Calibri"/>
              </a:rPr>
              <a:t>• Export Imediat: </a:t>
            </a:r>
            <a:r>
              <a:rPr sz="1200" b="0">
                <a:solidFill>
                  <a:srgbClr val="E2E8F0"/>
                </a:solidFill>
                <a:latin typeface="Calibri"/>
              </a:rPr>
              <a:t>Planul de verde poate fi programat direct în automatele de dirijare din teren.</a:t>
            </a:r>
          </a:p>
        </p:txBody>
      </p:sp>
      <p:sp>
        <p:nvSpPr>
          <p:cNvPr id="13" name="Rounded Rectangle 12"/>
          <p:cNvSpPr/>
          <p:nvPr/>
        </p:nvSpPr>
        <p:spPr>
          <a:xfrm>
            <a:off x="731520" y="5532120"/>
            <a:ext cx="10725912" cy="822960"/>
          </a:xfrm>
          <a:prstGeom prst="roundRect">
            <a:avLst/>
          </a:prstGeom>
          <a:solidFill>
            <a:srgbClr val="152E4D"/>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5532120"/>
            <a:ext cx="10725912" cy="822960"/>
          </a:xfrm>
          <a:prstGeom prst="rect">
            <a:avLst/>
          </a:prstGeom>
          <a:noFill/>
        </p:spPr>
        <p:txBody>
          <a:bodyPr wrap="square" lIns="137160" tIns="137160" rIns="137160" bIns="137160">
            <a:spAutoFit/>
          </a:bodyPr>
          <a:lstStyle/>
          <a:p>
            <a:pPr algn="l">
              <a:spcAft>
                <a:spcPts val="300"/>
              </a:spcAft>
              <a:defRPr sz="1100" b="1" i="0">
                <a:solidFill>
                  <a:srgbClr val="38BDF8"/>
                </a:solidFill>
                <a:latin typeface="Calibri"/>
              </a:defRPr>
            </a:pPr>
            <a:r>
              <a:t>TRANSPARENȚĂ COMPLETĂ: CE E REAL ȘI CE E SIMULAT</a:t>
            </a:r>
          </a:p>
          <a:p>
            <a:pPr algn="l">
              <a:spcAft>
                <a:spcPts val="0"/>
              </a:spcAft>
              <a:defRPr sz="1100" b="0" i="0">
                <a:solidFill>
                  <a:srgbClr val="E2E8F0"/>
                </a:solidFill>
                <a:latin typeface="Calibri"/>
              </a:defRPr>
            </a:pPr>
            <a:r>
              <a:t>100% REAL: Rețeaua rutieră OSMnx Iași, formulele de optimizare Webster, calculele de capacitate și aplicațiile Web/Mobile.</a:t>
            </a:r>
            <a:br/>
            <a:r>
              <a:t>SIMULAT CU FIDELITATE: Volumele microscopice de trafic generate în SUMO pe baza distribuțiilor orare oficiale din PMUD Iași.</a:t>
            </a:r>
          </a:p>
        </p:txBody>
      </p:sp>
    </p:spTree>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DEMONSTRAȚIE LIVE</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05 / 10 · DEMO</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Demo Live: Optimizarea Nodului Podu Roșu</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Trei pași simpli de la identificarea blocajului la scenariul optimizat testat în timp real pe ecran și pe mobil.</a:t>
            </a:r>
          </a:p>
        </p:txBody>
      </p:sp>
      <p:sp>
        <p:nvSpPr>
          <p:cNvPr id="7" name="Rounded Rectangle 6"/>
          <p:cNvSpPr/>
          <p:nvPr/>
        </p:nvSpPr>
        <p:spPr>
          <a:xfrm>
            <a:off x="731520" y="1691640"/>
            <a:ext cx="10725912" cy="2240280"/>
          </a:xfrm>
          <a:prstGeom prst="roundRect">
            <a:avLst/>
          </a:prstGeom>
          <a:solidFill>
            <a:srgbClr val="152E4D"/>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10725912" cy="2240280"/>
          </a:xfrm>
          <a:prstGeom prst="rect">
            <a:avLst/>
          </a:prstGeom>
          <a:noFill/>
        </p:spPr>
        <p:txBody>
          <a:bodyPr wrap="square" lIns="201168" tIns="201168" rIns="201168" bIns="201168">
            <a:spAutoFit/>
          </a:bodyPr>
          <a:lstStyle/>
          <a:p>
            <a:pPr algn="l">
              <a:spcAft>
                <a:spcPts val="400"/>
              </a:spcAft>
              <a:defRPr sz="1100" b="1" i="0">
                <a:solidFill>
                  <a:srgbClr val="38BDF8"/>
                </a:solidFill>
                <a:latin typeface="Calibri"/>
              </a:defRPr>
            </a:pPr>
            <a:r>
              <a:t>ARTERIA CONTROL CENTER · IAȘI DIGITAL TWIN [SIMULARE ACTIVĂ]</a:t>
            </a:r>
          </a:p>
          <a:p>
            <a:pPr algn="l">
              <a:spcAft>
                <a:spcPts val="1200"/>
              </a:spcAft>
              <a:defRPr sz="1700" b="1" i="0">
                <a:solidFill>
                  <a:srgbClr val="FFFFFF"/>
                </a:solidFill>
                <a:latin typeface="Calibri"/>
              </a:defRPr>
            </a:pPr>
            <a:r>
              <a:t>Vizualizare Interactivă MapLibre GL · Coridor Podu Roșu – Bd. Socola</a:t>
            </a:r>
          </a:p>
          <a:p>
            <a:pPr algn="l">
              <a:spcAft>
                <a:spcPts val="600"/>
              </a:spcAft>
            </a:pPr>
            <a:r>
              <a:rPr sz="1300" b="1">
                <a:solidFill>
                  <a:srgbClr val="FFFFFF"/>
                </a:solidFill>
                <a:latin typeface="Calibri"/>
              </a:rPr>
              <a:t>• ÎNTÂRZIERE MEDIE PE CORIDOR: </a:t>
            </a:r>
            <a:r>
              <a:rPr sz="1300" b="0">
                <a:solidFill>
                  <a:srgbClr val="34D399"/>
                </a:solidFill>
                <a:latin typeface="Calibri"/>
              </a:rPr>
              <a:t>85 secunde  ➔  56 secunde (-34% reducere timp)</a:t>
            </a:r>
          </a:p>
          <a:p>
            <a:pPr algn="l">
              <a:spcAft>
                <a:spcPts val="600"/>
              </a:spcAft>
            </a:pPr>
            <a:r>
              <a:rPr sz="1300" b="1">
                <a:solidFill>
                  <a:srgbClr val="FFFFFF"/>
                </a:solidFill>
                <a:latin typeface="Calibri"/>
              </a:rPr>
              <a:t>• LUNGIME COADĂ BD. SOCOLA: </a:t>
            </a:r>
            <a:r>
              <a:rPr sz="1300" b="0">
                <a:solidFill>
                  <a:srgbClr val="34D399"/>
                </a:solidFill>
                <a:latin typeface="Calibri"/>
              </a:rPr>
              <a:t>340 metri  ➔  190 metri (-44% reducere coadă)</a:t>
            </a:r>
          </a:p>
          <a:p>
            <a:pPr algn="l">
              <a:spcAft>
                <a:spcPts val="0"/>
              </a:spcAft>
            </a:pPr>
            <a:r>
              <a:rPr sz="1300" b="1">
                <a:solidFill>
                  <a:srgbClr val="FFFFFF"/>
                </a:solidFill>
                <a:latin typeface="Calibri"/>
              </a:rPr>
              <a:t>• VITEZĂ MEDIE ÎN ORA DE VÂRF: </a:t>
            </a:r>
            <a:r>
              <a:rPr sz="1300" b="0">
                <a:solidFill>
                  <a:srgbClr val="34D399"/>
                </a:solidFill>
                <a:latin typeface="Calibri"/>
              </a:rPr>
              <a:t>14 km/h  ➔  21 km/h (+50% creștere viteză)</a:t>
            </a:r>
          </a:p>
        </p:txBody>
      </p:sp>
      <p:sp>
        <p:nvSpPr>
          <p:cNvPr id="9" name="Rounded Rectangle 8"/>
          <p:cNvSpPr/>
          <p:nvPr/>
        </p:nvSpPr>
        <p:spPr>
          <a:xfrm>
            <a:off x="731520" y="4069080"/>
            <a:ext cx="3364992" cy="228600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4069080"/>
            <a:ext cx="3364992" cy="2286000"/>
          </a:xfrm>
          <a:prstGeom prst="rect">
            <a:avLst/>
          </a:prstGeom>
          <a:noFill/>
        </p:spPr>
        <p:txBody>
          <a:bodyPr wrap="square" lIns="182880" tIns="182880" rIns="182880" bIns="182880">
            <a:spAutoFit/>
          </a:bodyPr>
          <a:lstStyle/>
          <a:p>
            <a:pPr algn="l">
              <a:spcAft>
                <a:spcPts val="600"/>
              </a:spcAft>
              <a:defRPr sz="1100" b="1" i="0">
                <a:solidFill>
                  <a:srgbClr val="38BDF8"/>
                </a:solidFill>
                <a:latin typeface="Calibri"/>
              </a:defRPr>
            </a:pPr>
            <a:r>
              <a:t>PASUL 1: SELECTARE SCENARIU</a:t>
            </a:r>
          </a:p>
          <a:p>
            <a:pPr algn="l">
              <a:spcAft>
                <a:spcPts val="600"/>
              </a:spcAft>
            </a:pPr>
            <a:r>
              <a:rPr sz="1200" b="1">
                <a:solidFill>
                  <a:srgbClr val="FFFFFF"/>
                </a:solidFill>
                <a:latin typeface="Calibri"/>
              </a:rPr>
              <a:t>• Nod Critic: </a:t>
            </a:r>
            <a:r>
              <a:rPr sz="1200" b="0">
                <a:solidFill>
                  <a:srgbClr val="E2E8F0"/>
                </a:solidFill>
                <a:latin typeface="Calibri"/>
              </a:rPr>
              <a:t>Podu Roșu cu 6 intrări rutiere.</a:t>
            </a:r>
          </a:p>
          <a:p>
            <a:pPr algn="l">
              <a:spcAft>
                <a:spcPts val="600"/>
              </a:spcAft>
            </a:pPr>
            <a:r>
              <a:rPr sz="1200" b="1">
                <a:solidFill>
                  <a:srgbClr val="FFFFFF"/>
                </a:solidFill>
                <a:latin typeface="Calibri"/>
              </a:rPr>
              <a:t>• Profil: </a:t>
            </a:r>
            <a:r>
              <a:rPr sz="1200" b="0">
                <a:solidFill>
                  <a:srgbClr val="E2E8F0"/>
                </a:solidFill>
                <a:latin typeface="Calibri"/>
              </a:rPr>
              <a:t>„Vârf Dimineață (08:00–09:00)”.</a:t>
            </a:r>
          </a:p>
          <a:p>
            <a:pPr algn="l">
              <a:spcAft>
                <a:spcPts val="0"/>
              </a:spcAft>
            </a:pPr>
            <a:r>
              <a:rPr sz="1200" b="1">
                <a:solidFill>
                  <a:srgbClr val="FFFFFF"/>
                </a:solidFill>
                <a:latin typeface="Calibri"/>
              </a:rPr>
              <a:t>• Diagnostic: </a:t>
            </a:r>
            <a:r>
              <a:rPr sz="1200" b="0">
                <a:solidFill>
                  <a:srgbClr val="E2E8F0"/>
                </a:solidFill>
                <a:latin typeface="Calibri"/>
              </a:rPr>
              <a:t>Flux masiv 2.180 veh/h spre centru; blocaj pe banda de dreapta Socola.</a:t>
            </a:r>
          </a:p>
        </p:txBody>
      </p:sp>
      <p:sp>
        <p:nvSpPr>
          <p:cNvPr id="11" name="Rounded Rectangle 10"/>
          <p:cNvSpPr/>
          <p:nvPr/>
        </p:nvSpPr>
        <p:spPr>
          <a:xfrm>
            <a:off x="4407408" y="4069080"/>
            <a:ext cx="3364992" cy="228600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07408" y="4069080"/>
            <a:ext cx="3364992" cy="2286000"/>
          </a:xfrm>
          <a:prstGeom prst="rect">
            <a:avLst/>
          </a:prstGeom>
          <a:noFill/>
        </p:spPr>
        <p:txBody>
          <a:bodyPr wrap="square" lIns="182880" tIns="182880" rIns="182880" bIns="182880">
            <a:spAutoFit/>
          </a:bodyPr>
          <a:lstStyle/>
          <a:p>
            <a:pPr algn="l">
              <a:spcAft>
                <a:spcPts val="600"/>
              </a:spcAft>
              <a:defRPr sz="1100" b="1" i="0">
                <a:solidFill>
                  <a:srgbClr val="FBBF24"/>
                </a:solidFill>
                <a:latin typeface="Calibri"/>
              </a:defRPr>
            </a:pPr>
            <a:r>
              <a:t>PASUL 2: RULARE SIMULARE SUMO</a:t>
            </a:r>
          </a:p>
          <a:p>
            <a:pPr algn="l">
              <a:spcAft>
                <a:spcPts val="600"/>
              </a:spcAft>
            </a:pPr>
            <a:r>
              <a:rPr sz="1200" b="1">
                <a:solidFill>
                  <a:srgbClr val="FFFFFF"/>
                </a:solidFill>
                <a:latin typeface="Calibri"/>
              </a:rPr>
              <a:t>• Pornire TraCI: </a:t>
            </a:r>
            <a:r>
              <a:rPr sz="1200" b="0">
                <a:solidFill>
                  <a:srgbClr val="E2E8F0"/>
                </a:solidFill>
                <a:latin typeface="Calibri"/>
              </a:rPr>
              <a:t>Un click declanșează micro-simularea.</a:t>
            </a:r>
          </a:p>
          <a:p>
            <a:pPr algn="l">
              <a:spcAft>
                <a:spcPts val="600"/>
              </a:spcAft>
            </a:pPr>
            <a:r>
              <a:rPr sz="1200" b="1">
                <a:solidFill>
                  <a:srgbClr val="FFFFFF"/>
                </a:solidFill>
                <a:latin typeface="Calibri"/>
              </a:rPr>
              <a:t>• Animație Vehicule: </a:t>
            </a:r>
            <a:r>
              <a:rPr sz="1200" b="0">
                <a:solidFill>
                  <a:srgbClr val="E2E8F0"/>
                </a:solidFill>
                <a:latin typeface="Calibri"/>
              </a:rPr>
              <a:t>Traiectorii fizice individuale pe benzi.</a:t>
            </a:r>
          </a:p>
          <a:p>
            <a:pPr algn="l">
              <a:spcAft>
                <a:spcPts val="0"/>
              </a:spcAft>
            </a:pPr>
            <a:r>
              <a:rPr sz="1200" b="1">
                <a:solidFill>
                  <a:srgbClr val="FFFFFF"/>
                </a:solidFill>
                <a:latin typeface="Calibri"/>
              </a:rPr>
              <a:t>• Validare: </a:t>
            </a:r>
            <a:r>
              <a:rPr sz="1200" b="0">
                <a:solidFill>
                  <a:srgbClr val="E2E8F0"/>
                </a:solidFill>
                <a:latin typeface="Calibri"/>
              </a:rPr>
              <a:t>Identifică exact momentul în care coada blochează accesul ambulanțelor.</a:t>
            </a:r>
          </a:p>
        </p:txBody>
      </p:sp>
      <p:sp>
        <p:nvSpPr>
          <p:cNvPr id="13" name="Rounded Rectangle 12"/>
          <p:cNvSpPr/>
          <p:nvPr/>
        </p:nvSpPr>
        <p:spPr>
          <a:xfrm>
            <a:off x="8083296" y="4069080"/>
            <a:ext cx="3364992" cy="2286000"/>
          </a:xfrm>
          <a:prstGeom prst="roundRect">
            <a:avLst/>
          </a:prstGeom>
          <a:solidFill>
            <a:srgbClr val="1E2D4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83296" y="4069080"/>
            <a:ext cx="3364992" cy="2286000"/>
          </a:xfrm>
          <a:prstGeom prst="rect">
            <a:avLst/>
          </a:prstGeom>
          <a:noFill/>
        </p:spPr>
        <p:txBody>
          <a:bodyPr wrap="square" lIns="182880" tIns="182880" rIns="182880" bIns="182880">
            <a:spAutoFit/>
          </a:bodyPr>
          <a:lstStyle/>
          <a:p>
            <a:pPr algn="l">
              <a:spcAft>
                <a:spcPts val="600"/>
              </a:spcAft>
              <a:defRPr sz="1100" b="1" i="0">
                <a:solidFill>
                  <a:srgbClr val="34D399"/>
                </a:solidFill>
                <a:latin typeface="Calibri"/>
              </a:defRPr>
            </a:pPr>
            <a:r>
              <a:t>PASUL 3: APLICARE MODEL WEBSTER</a:t>
            </a:r>
          </a:p>
          <a:p>
            <a:pPr algn="l">
              <a:spcAft>
                <a:spcPts val="600"/>
              </a:spcAft>
            </a:pPr>
            <a:r>
              <a:rPr sz="1200" b="1">
                <a:solidFill>
                  <a:srgbClr val="FFFFFF"/>
                </a:solidFill>
                <a:latin typeface="Calibri"/>
              </a:rPr>
              <a:t>• Optimizare: </a:t>
            </a:r>
            <a:r>
              <a:rPr sz="1200" b="0">
                <a:solidFill>
                  <a:srgbClr val="E2E8F0"/>
                </a:solidFill>
                <a:latin typeface="Calibri"/>
              </a:rPr>
              <a:t>Recalculare ciclu optim la 110 secunde.</a:t>
            </a:r>
          </a:p>
          <a:p>
            <a:pPr algn="l">
              <a:spcAft>
                <a:spcPts val="600"/>
              </a:spcAft>
            </a:pPr>
            <a:r>
              <a:rPr sz="1200" b="1">
                <a:solidFill>
                  <a:srgbClr val="FFFFFF"/>
                </a:solidFill>
                <a:latin typeface="Calibri"/>
              </a:rPr>
              <a:t>• Redistribuire: </a:t>
            </a:r>
            <a:r>
              <a:rPr sz="1200" b="0">
                <a:solidFill>
                  <a:srgbClr val="E2E8F0"/>
                </a:solidFill>
                <a:latin typeface="Calibri"/>
              </a:rPr>
              <a:t>+14s verde pe axa aglomerată.</a:t>
            </a:r>
          </a:p>
          <a:p>
            <a:pPr algn="l">
              <a:spcAft>
                <a:spcPts val="0"/>
              </a:spcAft>
            </a:pPr>
            <a:r>
              <a:rPr sz="1200" b="1">
                <a:solidFill>
                  <a:srgbClr val="FFFFFF"/>
                </a:solidFill>
                <a:latin typeface="Calibri"/>
              </a:rPr>
              <a:t>• Rezultat: </a:t>
            </a:r>
            <a:r>
              <a:rPr sz="1200" b="0">
                <a:solidFill>
                  <a:srgbClr val="E2E8F0"/>
                </a:solidFill>
                <a:latin typeface="Calibri"/>
              </a:rPr>
              <a:t>Comparație Before/After instant pe ecran și în aplicația mobilă Expo.</a:t>
            </a:r>
          </a:p>
        </p:txBody>
      </p:sp>
    </p:spTree>
  </p:cSld>
  <p:clrMapOvr>
    <a:masterClrMapping/>
  </p:clrMapOvr>
  <p:transition>
    <p:dissolv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ARHITECTURĂ &amp; DECIZII TEHNICE</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06 / 10 · ARHITECTURĂ</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Arhitectura Tehnică și Deciziile de Sistem</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Arhitectură decuplată: calcul analitic instant (&lt;1s) combinat cu validare microscopică fizică în fundal.</a:t>
            </a:r>
          </a:p>
        </p:txBody>
      </p:sp>
      <p:sp>
        <p:nvSpPr>
          <p:cNvPr id="7" name="Rounded Rectangle 6"/>
          <p:cNvSpPr/>
          <p:nvPr/>
        </p:nvSpPr>
        <p:spPr>
          <a:xfrm>
            <a:off x="731520" y="1691640"/>
            <a:ext cx="2450592" cy="196596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2450592" cy="1965960"/>
          </a:xfrm>
          <a:prstGeom prst="rect">
            <a:avLst/>
          </a:prstGeom>
          <a:noFill/>
        </p:spPr>
        <p:txBody>
          <a:bodyPr wrap="square" lIns="146304" tIns="146304" rIns="146304" bIns="146304">
            <a:spAutoFit/>
          </a:bodyPr>
          <a:lstStyle/>
          <a:p>
            <a:pPr algn="l">
              <a:spcAft>
                <a:spcPts val="400"/>
              </a:spcAft>
              <a:defRPr sz="1000" b="1" i="0">
                <a:solidFill>
                  <a:srgbClr val="38BDF8"/>
                </a:solidFill>
                <a:latin typeface="Calibri"/>
              </a:defRPr>
            </a:pPr>
            <a:r>
              <a:t>1. INGESTIE GEOMETRIE</a:t>
            </a:r>
          </a:p>
          <a:p>
            <a:pPr algn="l">
              <a:spcAft>
                <a:spcPts val="600"/>
              </a:spcAft>
              <a:defRPr sz="1300" b="1" i="0">
                <a:solidFill>
                  <a:srgbClr val="FFFFFF"/>
                </a:solidFill>
                <a:latin typeface="Calibri"/>
              </a:defRPr>
            </a:pPr>
            <a:r>
              <a:t>OSMnx &amp; Overpass</a:t>
            </a:r>
          </a:p>
          <a:p>
            <a:pPr algn="l">
              <a:spcAft>
                <a:spcPts val="0"/>
              </a:spcAft>
              <a:defRPr sz="1100" b="0" i="0">
                <a:solidFill>
                  <a:srgbClr val="E2E8F0"/>
                </a:solidFill>
                <a:latin typeface="Calibri"/>
              </a:defRPr>
            </a:pPr>
            <a:r>
              <a:t>Extrage automat topologia străzilor, benzi, priorități și sensuri giratorii din OpenStreetMap pentru Iași.</a:t>
            </a:r>
          </a:p>
        </p:txBody>
      </p:sp>
      <p:sp>
        <p:nvSpPr>
          <p:cNvPr id="9" name="Rounded Rectangle 8"/>
          <p:cNvSpPr/>
          <p:nvPr/>
        </p:nvSpPr>
        <p:spPr>
          <a:xfrm>
            <a:off x="3483864" y="1691640"/>
            <a:ext cx="2450592" cy="196596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3864" y="1691640"/>
            <a:ext cx="2450592" cy="1965960"/>
          </a:xfrm>
          <a:prstGeom prst="rect">
            <a:avLst/>
          </a:prstGeom>
          <a:noFill/>
        </p:spPr>
        <p:txBody>
          <a:bodyPr wrap="square" lIns="146304" tIns="146304" rIns="146304" bIns="146304">
            <a:spAutoFit/>
          </a:bodyPr>
          <a:lstStyle/>
          <a:p>
            <a:pPr algn="l">
              <a:spcAft>
                <a:spcPts val="400"/>
              </a:spcAft>
              <a:defRPr sz="1000" b="1" i="0">
                <a:solidFill>
                  <a:srgbClr val="34D399"/>
                </a:solidFill>
                <a:latin typeface="Calibri"/>
              </a:defRPr>
            </a:pPr>
            <a:r>
              <a:t>2. COMPUTE ENGINES</a:t>
            </a:r>
          </a:p>
          <a:p>
            <a:pPr algn="l">
              <a:spcAft>
                <a:spcPts val="600"/>
              </a:spcAft>
              <a:defRPr sz="1300" b="1" i="0">
                <a:solidFill>
                  <a:srgbClr val="FFFFFF"/>
                </a:solidFill>
                <a:latin typeface="Calibri"/>
              </a:defRPr>
            </a:pPr>
            <a:r>
              <a:t>FastAPI + SUMO + Webster</a:t>
            </a:r>
          </a:p>
          <a:p>
            <a:pPr algn="l">
              <a:spcAft>
                <a:spcPts val="0"/>
              </a:spcAft>
              <a:defRPr sz="1100" b="0" i="0">
                <a:solidFill>
                  <a:srgbClr val="E2E8F0"/>
                </a:solidFill>
                <a:latin typeface="Calibri"/>
              </a:defRPr>
            </a:pPr>
            <a:r>
              <a:t>Model analitic Webster (&lt;1s) pentru UI + Eclipse SUMO 1.28.0 (TraCI) pentru micro-simulare fizică detaliată.</a:t>
            </a:r>
          </a:p>
        </p:txBody>
      </p:sp>
      <p:sp>
        <p:nvSpPr>
          <p:cNvPr id="11" name="Rounded Rectangle 10"/>
          <p:cNvSpPr/>
          <p:nvPr/>
        </p:nvSpPr>
        <p:spPr>
          <a:xfrm>
            <a:off x="6236208" y="1691640"/>
            <a:ext cx="2450592" cy="196596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36208" y="1691640"/>
            <a:ext cx="2450592" cy="1965960"/>
          </a:xfrm>
          <a:prstGeom prst="rect">
            <a:avLst/>
          </a:prstGeom>
          <a:noFill/>
        </p:spPr>
        <p:txBody>
          <a:bodyPr wrap="square" lIns="146304" tIns="146304" rIns="146304" bIns="146304">
            <a:spAutoFit/>
          </a:bodyPr>
          <a:lstStyle/>
          <a:p>
            <a:pPr algn="l">
              <a:spcAft>
                <a:spcPts val="400"/>
              </a:spcAft>
              <a:defRPr sz="1000" b="1" i="0">
                <a:solidFill>
                  <a:srgbClr val="38BDF8"/>
                </a:solidFill>
                <a:latin typeface="Calibri"/>
              </a:defRPr>
            </a:pPr>
            <a:r>
              <a:t>3. STATE &amp; DATA VALIDATION</a:t>
            </a:r>
          </a:p>
          <a:p>
            <a:pPr algn="l">
              <a:spcAft>
                <a:spcPts val="600"/>
              </a:spcAft>
              <a:defRPr sz="1300" b="1" i="0">
                <a:solidFill>
                  <a:srgbClr val="FFFFFF"/>
                </a:solidFill>
                <a:latin typeface="Calibri"/>
              </a:defRPr>
            </a:pPr>
            <a:r>
              <a:t>Pydantic v2 + Caching</a:t>
            </a:r>
          </a:p>
          <a:p>
            <a:pPr algn="l">
              <a:spcAft>
                <a:spcPts val="0"/>
              </a:spcAft>
              <a:defRPr sz="1100" b="0" i="0">
                <a:solidFill>
                  <a:srgbClr val="E2E8F0"/>
                </a:solidFill>
                <a:latin typeface="Calibri"/>
              </a:defRPr>
            </a:pPr>
            <a:r>
              <a:t>Scheme stricte de validare a datelor, serializare GeoJSON standard și gestionare a istoricului scenariilor.</a:t>
            </a:r>
          </a:p>
        </p:txBody>
      </p:sp>
      <p:sp>
        <p:nvSpPr>
          <p:cNvPr id="13" name="Rounded Rectangle 12"/>
          <p:cNvSpPr/>
          <p:nvPr/>
        </p:nvSpPr>
        <p:spPr>
          <a:xfrm>
            <a:off x="8988552" y="1691640"/>
            <a:ext cx="2450592" cy="196596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88552" y="1691640"/>
            <a:ext cx="2450592" cy="1965960"/>
          </a:xfrm>
          <a:prstGeom prst="rect">
            <a:avLst/>
          </a:prstGeom>
          <a:noFill/>
        </p:spPr>
        <p:txBody>
          <a:bodyPr wrap="square" lIns="146304" tIns="146304" rIns="146304" bIns="146304">
            <a:spAutoFit/>
          </a:bodyPr>
          <a:lstStyle/>
          <a:p>
            <a:pPr algn="l">
              <a:spcAft>
                <a:spcPts val="400"/>
              </a:spcAft>
              <a:defRPr sz="1000" b="1" i="0">
                <a:solidFill>
                  <a:srgbClr val="FBBF24"/>
                </a:solidFill>
                <a:latin typeface="Calibri"/>
              </a:defRPr>
            </a:pPr>
            <a:r>
              <a:t>4. CLIENȚI MULTIPLATFORMĂ</a:t>
            </a:r>
          </a:p>
          <a:p>
            <a:pPr algn="l">
              <a:spcAft>
                <a:spcPts val="600"/>
              </a:spcAft>
              <a:defRPr sz="1300" b="1" i="0">
                <a:solidFill>
                  <a:srgbClr val="FFFFFF"/>
                </a:solidFill>
                <a:latin typeface="Calibri"/>
              </a:defRPr>
            </a:pPr>
            <a:r>
              <a:t>Next.js 14 &amp; Expo Android</a:t>
            </a:r>
          </a:p>
          <a:p>
            <a:pPr algn="l">
              <a:spcAft>
                <a:spcPts val="0"/>
              </a:spcAft>
              <a:defRPr sz="1100" b="0" i="0">
                <a:solidFill>
                  <a:srgbClr val="E2E8F0"/>
                </a:solidFill>
                <a:latin typeface="Calibri"/>
              </a:defRPr>
            </a:pPr>
            <a:r>
              <a:t>Rendare GPU cu MapLibre GL pe Web și aplicație nativă React Native pentru inspecția pe teren a nodurilor.</a:t>
            </a:r>
          </a:p>
        </p:txBody>
      </p:sp>
      <p:sp>
        <p:nvSpPr>
          <p:cNvPr id="15" name="Rounded Rectangle 14"/>
          <p:cNvSpPr/>
          <p:nvPr/>
        </p:nvSpPr>
        <p:spPr>
          <a:xfrm>
            <a:off x="731520" y="3822191"/>
            <a:ext cx="5193792" cy="2532888"/>
          </a:xfrm>
          <a:prstGeom prst="roundRect">
            <a:avLst/>
          </a:prstGeom>
          <a:solidFill>
            <a:srgbClr val="1E2D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822191"/>
            <a:ext cx="5193792" cy="2532888"/>
          </a:xfrm>
          <a:prstGeom prst="rect">
            <a:avLst/>
          </a:prstGeom>
          <a:noFill/>
        </p:spPr>
        <p:txBody>
          <a:bodyPr wrap="square" lIns="201168" tIns="201168" rIns="201168" bIns="201168">
            <a:spAutoFit/>
          </a:bodyPr>
          <a:lstStyle/>
          <a:p>
            <a:pPr algn="l">
              <a:spcAft>
                <a:spcPts val="600"/>
              </a:spcAft>
              <a:defRPr sz="1100" b="1" i="0">
                <a:solidFill>
                  <a:srgbClr val="38BDF8"/>
                </a:solidFill>
                <a:latin typeface="Calibri"/>
              </a:defRPr>
            </a:pPr>
            <a:r>
              <a:t>DECIZIA CHEIE: ARHITECTURĂ HIBRIDĂ WEBSTER + SUMO</a:t>
            </a:r>
          </a:p>
          <a:p>
            <a:pPr algn="l">
              <a:spcAft>
                <a:spcPts val="800"/>
              </a:spcAft>
              <a:defRPr sz="1500" b="1" i="0">
                <a:solidFill>
                  <a:srgbClr val="FFFFFF"/>
                </a:solidFill>
                <a:latin typeface="Calibri"/>
              </a:defRPr>
            </a:pPr>
            <a:r>
              <a:t>De ce două motoare de calcul?</a:t>
            </a:r>
          </a:p>
          <a:p>
            <a:pPr algn="l">
              <a:spcAft>
                <a:spcPts val="800"/>
              </a:spcAft>
            </a:pPr>
            <a:r>
              <a:rPr sz="1200" b="1">
                <a:solidFill>
                  <a:srgbClr val="FFFFFF"/>
                </a:solidFill>
                <a:latin typeface="Calibri"/>
              </a:rPr>
              <a:t>• Problema SUMO: </a:t>
            </a:r>
            <a:r>
              <a:rPr sz="1200" b="0">
                <a:solidFill>
                  <a:srgbClr val="E2E8F0"/>
                </a:solidFill>
                <a:latin typeface="Calibri"/>
              </a:rPr>
              <a:t>O simulare microscopică completă TraCI pe coridor durează 30-60 de secunde pe server. Într-o ședință de lucru la primărie, utilizatorul nu poate aștepta un minut la fiecare click.</a:t>
            </a:r>
          </a:p>
          <a:p>
            <a:pPr algn="l">
              <a:spcAft>
                <a:spcPts val="0"/>
              </a:spcAft>
            </a:pPr>
            <a:r>
              <a:rPr sz="1200" b="1">
                <a:solidFill>
                  <a:srgbClr val="FFFFFF"/>
                </a:solidFill>
                <a:latin typeface="Calibri"/>
              </a:rPr>
              <a:t>• Soluția Noastră: </a:t>
            </a:r>
            <a:r>
              <a:rPr sz="1200" b="0">
                <a:solidFill>
                  <a:srgbClr val="34D399"/>
                </a:solidFill>
                <a:latin typeface="Calibri"/>
              </a:rPr>
              <a:t>Modelul matematic analitic Webster calculează soluția optimă în &lt;1 secundă direct în interfață, în timp ce SUMO rulează asincron în fundal pentru confirmarea microscopică fizică.</a:t>
            </a:r>
          </a:p>
        </p:txBody>
      </p:sp>
      <p:sp>
        <p:nvSpPr>
          <p:cNvPr id="17" name="Rounded Rectangle 16"/>
          <p:cNvSpPr/>
          <p:nvPr/>
        </p:nvSpPr>
        <p:spPr>
          <a:xfrm>
            <a:off x="6263640" y="3822191"/>
            <a:ext cx="5193792" cy="2532888"/>
          </a:xfrm>
          <a:prstGeom prst="roundRect">
            <a:avLst/>
          </a:prstGeom>
          <a:solidFill>
            <a:srgbClr val="152E4D"/>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3822191"/>
            <a:ext cx="5193792" cy="2532888"/>
          </a:xfrm>
          <a:prstGeom prst="rect">
            <a:avLst/>
          </a:prstGeom>
          <a:noFill/>
        </p:spPr>
        <p:txBody>
          <a:bodyPr wrap="square" lIns="201168" tIns="201168" rIns="201168" bIns="201168">
            <a:spAutoFit/>
          </a:bodyPr>
          <a:lstStyle/>
          <a:p>
            <a:pPr algn="l">
              <a:spcAft>
                <a:spcPts val="600"/>
              </a:spcAft>
              <a:defRPr sz="1100" b="1" i="0">
                <a:solidFill>
                  <a:srgbClr val="FBBF24"/>
                </a:solidFill>
                <a:latin typeface="Calibri"/>
              </a:defRPr>
            </a:pPr>
            <a:r>
              <a:t>TRANSPARENȚĂ: CE A FĂCUT AI vs. CE AM DEȚINUT NOI</a:t>
            </a:r>
          </a:p>
          <a:p>
            <a:pPr algn="l">
              <a:spcAft>
                <a:spcPts val="800"/>
              </a:spcAft>
              <a:defRPr sz="1500" b="1" i="0">
                <a:solidFill>
                  <a:srgbClr val="FFFFFF"/>
                </a:solidFill>
                <a:latin typeface="Calibri"/>
              </a:defRPr>
            </a:pPr>
            <a:r>
              <a:t>Unde a fost folosit AI-ul și unde e meritul echipei?</a:t>
            </a:r>
          </a:p>
          <a:p>
            <a:pPr algn="l">
              <a:spcAft>
                <a:spcPts val="800"/>
              </a:spcAft>
            </a:pPr>
            <a:r>
              <a:rPr sz="1200" b="1">
                <a:solidFill>
                  <a:srgbClr val="FFFFFF"/>
                </a:solidFill>
                <a:latin typeface="Calibri"/>
              </a:rPr>
              <a:t>• Accelerat de AI (Copilot/Gemini): </a:t>
            </a:r>
            <a:r>
              <a:rPr sz="1200" b="0">
                <a:solidFill>
                  <a:srgbClr val="E2E8F0"/>
                </a:solidFill>
                <a:latin typeface="Calibri"/>
              </a:rPr>
              <a:t>Generarea de boilerplate Python/TypeScript, scheme Pydantic repetitive, conversie de stiluri CSS și mock-uri GeoJSON inițiale.</a:t>
            </a:r>
          </a:p>
          <a:p>
            <a:pPr algn="l">
              <a:spcAft>
                <a:spcPts val="0"/>
              </a:spcAft>
            </a:pPr>
            <a:r>
              <a:rPr sz="1200" b="1">
                <a:solidFill>
                  <a:srgbClr val="FFFFFF"/>
                </a:solidFill>
                <a:latin typeface="Calibri"/>
              </a:rPr>
              <a:t>• Deciziile Noastre (Iustin &amp; Alex): </a:t>
            </a:r>
            <a:r>
              <a:rPr sz="1200" b="0">
                <a:solidFill>
                  <a:srgbClr val="FFFFFF"/>
                </a:solidFill>
                <a:latin typeface="Calibri"/>
              </a:rPr>
              <a:t>Arhitectura hibridă de simulare, calibrarea parametrilor de trafic pe Podu Roșu, logica de prioritizare a transportului public și design-ul de produs.</a:t>
            </a:r>
          </a:p>
        </p:txBody>
      </p:sp>
    </p:spTree>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MODEL ECONOMIC &amp; SUSTENABILITATE</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07 / 10 · MODEL ECONOMIC</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Model Economic: B2G SaaS pentru Orașe Medii</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Preț calibrat sub pragul de achiziție directă pentru a asigura o vânzare rapidă în 14 zile, fără licitații de 18 luni.</a:t>
            </a:r>
          </a:p>
        </p:txBody>
      </p:sp>
      <p:sp>
        <p:nvSpPr>
          <p:cNvPr id="7" name="Rounded Rectangle 6"/>
          <p:cNvSpPr/>
          <p:nvPr/>
        </p:nvSpPr>
        <p:spPr>
          <a:xfrm>
            <a:off x="731520" y="1691640"/>
            <a:ext cx="3364992" cy="46634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3364992" cy="4663440"/>
          </a:xfrm>
          <a:prstGeom prst="rect">
            <a:avLst/>
          </a:prstGeom>
          <a:noFill/>
        </p:spPr>
        <p:txBody>
          <a:bodyPr wrap="square" lIns="201168" tIns="201168" rIns="201168" bIns="201168">
            <a:spAutoFit/>
          </a:bodyPr>
          <a:lstStyle/>
          <a:p>
            <a:pPr algn="l">
              <a:spcAft>
                <a:spcPts val="600"/>
              </a:spcAft>
              <a:defRPr sz="1100" b="1" i="0">
                <a:solidFill>
                  <a:srgbClr val="38BDF8"/>
                </a:solidFill>
                <a:latin typeface="Calibri"/>
              </a:defRPr>
            </a:pPr>
            <a:r>
              <a:t>CINE PLĂTEȘTE (CLIENTUL B2G)</a:t>
            </a:r>
          </a:p>
          <a:p>
            <a:pPr algn="l">
              <a:spcAft>
                <a:spcPts val="1200"/>
              </a:spcAft>
              <a:defRPr sz="1800" b="1" i="0">
                <a:solidFill>
                  <a:srgbClr val="FFFFFF"/>
                </a:solidFill>
                <a:latin typeface="Calibri"/>
              </a:defRPr>
            </a:pPr>
            <a:r>
              <a:t>Administrația Locală</a:t>
            </a:r>
          </a:p>
          <a:p>
            <a:pPr algn="l">
              <a:spcAft>
                <a:spcPts val="1000"/>
              </a:spcAft>
            </a:pPr>
            <a:r>
              <a:rPr sz="1200" b="1">
                <a:solidFill>
                  <a:srgbClr val="FFFFFF"/>
                </a:solidFill>
                <a:latin typeface="Calibri"/>
              </a:rPr>
              <a:t>• Primăria Municipiului Iași: </a:t>
            </a:r>
            <a:r>
              <a:rPr sz="1200" b="0">
                <a:solidFill>
                  <a:srgbClr val="E2E8F0"/>
                </a:solidFill>
                <a:latin typeface="Calibri"/>
              </a:rPr>
              <a:t>Direcția Tehnică, Serviciul Siguranța Circulației și Managementul Traficului.</a:t>
            </a:r>
          </a:p>
          <a:p>
            <a:pPr algn="l">
              <a:spcAft>
                <a:spcPts val="1000"/>
              </a:spcAft>
            </a:pPr>
            <a:r>
              <a:rPr sz="1200" b="1">
                <a:solidFill>
                  <a:srgbClr val="FFFFFF"/>
                </a:solidFill>
                <a:latin typeface="Calibri"/>
              </a:rPr>
              <a:t>• CTP Iași (Transport Public): </a:t>
            </a:r>
            <a:r>
              <a:rPr sz="1200" b="0">
                <a:solidFill>
                  <a:srgbClr val="E2E8F0"/>
                </a:solidFill>
                <a:latin typeface="Calibri"/>
              </a:rPr>
              <a:t>Interes direct de a reduce timpii de parcurs pe liniile cheie de autobuz și tramvai.</a:t>
            </a:r>
          </a:p>
          <a:p>
            <a:pPr algn="l">
              <a:spcAft>
                <a:spcPts val="0"/>
              </a:spcAft>
            </a:pPr>
            <a:r>
              <a:rPr sz="1200" b="1">
                <a:solidFill>
                  <a:srgbClr val="FFFFFF"/>
                </a:solidFill>
                <a:latin typeface="Calibri"/>
              </a:rPr>
              <a:t>• Justificare Bugetară: </a:t>
            </a:r>
            <a:r>
              <a:rPr sz="1200" b="0">
                <a:solidFill>
                  <a:srgbClr val="E2E8F0"/>
                </a:solidFill>
                <a:latin typeface="Calibri"/>
              </a:rPr>
              <a:t>Fonduri dedicate de mobilitate urbană inteligentă (PNRR / POR), unde se cer justificări matematice clare.</a:t>
            </a:r>
          </a:p>
        </p:txBody>
      </p:sp>
      <p:sp>
        <p:nvSpPr>
          <p:cNvPr id="9" name="Rounded Rectangle 8"/>
          <p:cNvSpPr/>
          <p:nvPr/>
        </p:nvSpPr>
        <p:spPr>
          <a:xfrm>
            <a:off x="4407408" y="1691640"/>
            <a:ext cx="3364992" cy="4663440"/>
          </a:xfrm>
          <a:prstGeom prst="roundRect">
            <a:avLst/>
          </a:prstGeom>
          <a:solidFill>
            <a:srgbClr val="1E2D4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07408" y="1691640"/>
            <a:ext cx="3364992" cy="4663440"/>
          </a:xfrm>
          <a:prstGeom prst="rect">
            <a:avLst/>
          </a:prstGeom>
          <a:noFill/>
        </p:spPr>
        <p:txBody>
          <a:bodyPr wrap="square" lIns="201168" tIns="201168" rIns="201168" bIns="201168">
            <a:spAutoFit/>
          </a:bodyPr>
          <a:lstStyle/>
          <a:p>
            <a:pPr algn="l">
              <a:spcAft>
                <a:spcPts val="600"/>
              </a:spcAft>
              <a:defRPr sz="1100" b="1" i="0">
                <a:solidFill>
                  <a:srgbClr val="34D399"/>
                </a:solidFill>
                <a:latin typeface="Calibri"/>
              </a:defRPr>
            </a:pPr>
            <a:r>
              <a:t>STRUCTURA DE PREȚ (B2G SAAS)</a:t>
            </a:r>
          </a:p>
          <a:p>
            <a:pPr algn="l">
              <a:spcAft>
                <a:spcPts val="0"/>
              </a:spcAft>
              <a:defRPr sz="3400" b="1" i="0">
                <a:solidFill>
                  <a:srgbClr val="34D399"/>
                </a:solidFill>
                <a:latin typeface="Calibri"/>
              </a:defRPr>
            </a:pPr>
            <a:r>
              <a:t>1.500€ / lună</a:t>
            </a:r>
          </a:p>
          <a:p>
            <a:pPr algn="l">
              <a:spcAft>
                <a:spcPts val="1400"/>
              </a:spcAft>
              <a:defRPr sz="1200" b="1" i="0">
                <a:solidFill>
                  <a:srgbClr val="FFFFFF"/>
                </a:solidFill>
                <a:latin typeface="Calibri"/>
              </a:defRPr>
            </a:pPr>
            <a:r>
              <a:t>18.000€ pe an per municipiu</a:t>
            </a:r>
          </a:p>
          <a:p>
            <a:pPr algn="l">
              <a:spcAft>
                <a:spcPts val="1000"/>
              </a:spcAft>
            </a:pPr>
            <a:r>
              <a:rPr sz="1200" b="1">
                <a:solidFill>
                  <a:srgbClr val="FFFFFF"/>
                </a:solidFill>
                <a:latin typeface="Calibri"/>
              </a:rPr>
              <a:t>• Sub Pragul de Achiziție Directă: </a:t>
            </a:r>
            <a:r>
              <a:rPr sz="1200" b="0">
                <a:solidFill>
                  <a:srgbClr val="BAE6FD"/>
                </a:solidFill>
                <a:latin typeface="Calibri"/>
              </a:rPr>
              <a:t>În România, pragul de achiziție directă este de 270.120 lei (~54.000€). Contractul se semnează direct, fără licitații de 18 luni.</a:t>
            </a:r>
          </a:p>
          <a:p>
            <a:pPr algn="l">
              <a:spcAft>
                <a:spcPts val="0"/>
              </a:spcAft>
            </a:pPr>
            <a:r>
              <a:rPr sz="1200" b="1">
                <a:solidFill>
                  <a:srgbClr val="FFFFFF"/>
                </a:solidFill>
                <a:latin typeface="Calibri"/>
              </a:rPr>
              <a:t>• Pachetul Include: </a:t>
            </a:r>
            <a:r>
              <a:rPr sz="1200" b="0">
                <a:solidFill>
                  <a:srgbClr val="E2E8F0"/>
                </a:solidFill>
                <a:latin typeface="Calibri"/>
              </a:rPr>
              <a:t>Simulare cloud nelimitată, actualizări săptămânale de geometrie OSMnx, suport dedicat și export rapoarte oficiale PMUD.</a:t>
            </a:r>
          </a:p>
        </p:txBody>
      </p:sp>
      <p:sp>
        <p:nvSpPr>
          <p:cNvPr id="11" name="Rounded Rectangle 10"/>
          <p:cNvSpPr/>
          <p:nvPr/>
        </p:nvSpPr>
        <p:spPr>
          <a:xfrm>
            <a:off x="8083296" y="1691640"/>
            <a:ext cx="3364992" cy="46634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83296" y="1691640"/>
            <a:ext cx="3364992" cy="4663440"/>
          </a:xfrm>
          <a:prstGeom prst="rect">
            <a:avLst/>
          </a:prstGeom>
          <a:noFill/>
        </p:spPr>
        <p:txBody>
          <a:bodyPr wrap="square" lIns="201168" tIns="201168" rIns="201168" bIns="201168">
            <a:spAutoFit/>
          </a:bodyPr>
          <a:lstStyle/>
          <a:p>
            <a:pPr algn="l">
              <a:spcAft>
                <a:spcPts val="600"/>
              </a:spcAft>
              <a:defRPr sz="1100" b="1" i="0">
                <a:solidFill>
                  <a:srgbClr val="38BDF8"/>
                </a:solidFill>
                <a:latin typeface="Calibri"/>
              </a:defRPr>
            </a:pPr>
            <a:r>
              <a:t>UNIT ECONOMICS &amp; MARJĂ</a:t>
            </a:r>
          </a:p>
          <a:p>
            <a:pPr algn="l">
              <a:spcAft>
                <a:spcPts val="0"/>
              </a:spcAft>
              <a:defRPr sz="3400" b="1" i="0">
                <a:solidFill>
                  <a:srgbClr val="FFFFFF"/>
                </a:solidFill>
                <a:latin typeface="Calibri"/>
              </a:defRPr>
            </a:pPr>
            <a:r>
              <a:t>&gt; 95%</a:t>
            </a:r>
          </a:p>
          <a:p>
            <a:pPr algn="l">
              <a:spcAft>
                <a:spcPts val="1400"/>
              </a:spcAft>
              <a:defRPr sz="1100" b="0" i="0">
                <a:solidFill>
                  <a:srgbClr val="94A3B8"/>
                </a:solidFill>
                <a:latin typeface="Calibri"/>
              </a:defRPr>
            </a:pPr>
            <a:r>
              <a:t>marjă brută per contract anual</a:t>
            </a:r>
          </a:p>
          <a:p>
            <a:pPr algn="l">
              <a:spcAft>
                <a:spcPts val="1000"/>
              </a:spcAft>
            </a:pPr>
            <a:r>
              <a:rPr sz="1200" b="1">
                <a:solidFill>
                  <a:srgbClr val="FFFFFF"/>
                </a:solidFill>
                <a:latin typeface="Calibri"/>
              </a:rPr>
              <a:t>• Cost Cloud Redus: </a:t>
            </a:r>
            <a:r>
              <a:rPr sz="1200" b="0">
                <a:solidFill>
                  <a:srgbClr val="E2E8F0"/>
                </a:solidFill>
                <a:latin typeface="Calibri"/>
              </a:rPr>
              <a:t>~45€ / lună per oraș (instanțe CPU la cerere pentru FastAPI + SUMO TraCI) = ~540€ / an.</a:t>
            </a:r>
          </a:p>
          <a:p>
            <a:pPr algn="l">
              <a:spcAft>
                <a:spcPts val="0"/>
              </a:spcAft>
            </a:pPr>
            <a:r>
              <a:rPr sz="1200" b="1">
                <a:solidFill>
                  <a:srgbClr val="FFFFFF"/>
                </a:solidFill>
                <a:latin typeface="Calibri"/>
              </a:rPr>
              <a:t>• ROI Masiv pentru Oraș: </a:t>
            </a:r>
            <a:r>
              <a:rPr sz="1200" b="0">
                <a:solidFill>
                  <a:srgbClr val="34D399"/>
                </a:solidFill>
                <a:latin typeface="Calibri"/>
              </a:rPr>
              <a:t>Un singur studiu clasic de trafic costă 50.000€. Cu ARTERIA, primăria economisește 32.000€ din start și are simulare continuă.</a:t>
            </a:r>
          </a:p>
        </p:txBody>
      </p:sp>
    </p:spTree>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DIMENSIUNEA PIEȚEI</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08 / 10 · PIAȚA</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Piața: Calculată de Jos în Sus (Bottom-Up)</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De la validarea pe coridorul Podu Roșu din Iași la cele 40 de municipii reședință de județ și regiunea CEE.</a:t>
            </a:r>
          </a:p>
        </p:txBody>
      </p:sp>
      <p:sp>
        <p:nvSpPr>
          <p:cNvPr id="7" name="Rounded Rectangle 6"/>
          <p:cNvSpPr/>
          <p:nvPr/>
        </p:nvSpPr>
        <p:spPr>
          <a:xfrm>
            <a:off x="731520" y="1691640"/>
            <a:ext cx="3364992" cy="205740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3364992" cy="2057400"/>
          </a:xfrm>
          <a:prstGeom prst="rect">
            <a:avLst/>
          </a:prstGeom>
          <a:noFill/>
        </p:spPr>
        <p:txBody>
          <a:bodyPr wrap="square" lIns="182880" tIns="182880" rIns="182880" bIns="182880">
            <a:spAutoFit/>
          </a:bodyPr>
          <a:lstStyle/>
          <a:p>
            <a:pPr algn="l">
              <a:spcAft>
                <a:spcPts val="400"/>
              </a:spcAft>
              <a:defRPr sz="1100" b="1" i="0">
                <a:solidFill>
                  <a:srgbClr val="38BDF8"/>
                </a:solidFill>
                <a:latin typeface="Calibri"/>
              </a:defRPr>
            </a:pPr>
            <a:r>
              <a:t>SOM — PIAȚA OBȚINABILĂ IMEDIAT</a:t>
            </a:r>
          </a:p>
          <a:p>
            <a:pPr algn="l">
              <a:spcAft>
                <a:spcPts val="200"/>
              </a:spcAft>
              <a:defRPr sz="2800" b="1" i="0">
                <a:solidFill>
                  <a:srgbClr val="FFFFFF"/>
                </a:solidFill>
                <a:latin typeface="Calibri"/>
              </a:defRPr>
            </a:pPr>
            <a:r>
              <a:t>18.000€ ARR</a:t>
            </a:r>
          </a:p>
          <a:p>
            <a:pPr algn="l">
              <a:spcAft>
                <a:spcPts val="400"/>
              </a:spcAft>
              <a:defRPr sz="1200" b="1" i="0">
                <a:solidFill>
                  <a:srgbClr val="BAE6FD"/>
                </a:solidFill>
                <a:latin typeface="Calibri"/>
              </a:defRPr>
            </a:pPr>
            <a:r>
              <a:t>Municipiul Iași (Primărie + CTP)</a:t>
            </a:r>
          </a:p>
          <a:p>
            <a:pPr algn="l">
              <a:spcAft>
                <a:spcPts val="0"/>
              </a:spcAft>
              <a:defRPr sz="1100" b="0" i="0">
                <a:solidFill>
                  <a:srgbClr val="E2E8F0"/>
                </a:solidFill>
                <a:latin typeface="Calibri"/>
              </a:defRPr>
            </a:pPr>
            <a:r>
              <a:t>Validare operațională pe coridorul pilot Podu Roșu – Socola ca primă referință B2G.</a:t>
            </a:r>
          </a:p>
        </p:txBody>
      </p:sp>
      <p:sp>
        <p:nvSpPr>
          <p:cNvPr id="9" name="Rounded Rectangle 8"/>
          <p:cNvSpPr/>
          <p:nvPr/>
        </p:nvSpPr>
        <p:spPr>
          <a:xfrm>
            <a:off x="4407408" y="1691640"/>
            <a:ext cx="3364992" cy="2057400"/>
          </a:xfrm>
          <a:prstGeom prst="roundRect">
            <a:avLst/>
          </a:prstGeom>
          <a:solidFill>
            <a:srgbClr val="1E2D4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07408" y="1691640"/>
            <a:ext cx="3364992" cy="2057400"/>
          </a:xfrm>
          <a:prstGeom prst="rect">
            <a:avLst/>
          </a:prstGeom>
          <a:noFill/>
        </p:spPr>
        <p:txBody>
          <a:bodyPr wrap="square" lIns="182880" tIns="182880" rIns="182880" bIns="182880">
            <a:spAutoFit/>
          </a:bodyPr>
          <a:lstStyle/>
          <a:p>
            <a:pPr algn="l">
              <a:spcAft>
                <a:spcPts val="400"/>
              </a:spcAft>
              <a:defRPr sz="1100" b="1" i="0">
                <a:solidFill>
                  <a:srgbClr val="34D399"/>
                </a:solidFill>
                <a:latin typeface="Calibri"/>
              </a:defRPr>
            </a:pPr>
            <a:r>
              <a:t>SAM — PIAȚA ADRESABILĂ ROMÂNIA</a:t>
            </a:r>
          </a:p>
          <a:p>
            <a:pPr algn="l">
              <a:spcAft>
                <a:spcPts val="200"/>
              </a:spcAft>
              <a:defRPr sz="2800" b="1" i="0">
                <a:solidFill>
                  <a:srgbClr val="34D399"/>
                </a:solidFill>
                <a:latin typeface="Calibri"/>
              </a:defRPr>
            </a:pPr>
            <a:r>
              <a:t>720.000€ ARR</a:t>
            </a:r>
          </a:p>
          <a:p>
            <a:pPr algn="l">
              <a:spcAft>
                <a:spcPts val="400"/>
              </a:spcAft>
              <a:defRPr sz="1200" b="1" i="0">
                <a:solidFill>
                  <a:srgbClr val="FFFFFF"/>
                </a:solidFill>
                <a:latin typeface="Calibri"/>
              </a:defRPr>
            </a:pPr>
            <a:r>
              <a:t>40 de Municipii Reședință de Județ</a:t>
            </a:r>
          </a:p>
          <a:p>
            <a:pPr algn="l">
              <a:spcAft>
                <a:spcPts val="0"/>
              </a:spcAft>
              <a:defRPr sz="1100" b="0" i="0">
                <a:solidFill>
                  <a:srgbClr val="E2E8F0"/>
                </a:solidFill>
                <a:latin typeface="Calibri"/>
              </a:defRPr>
            </a:pPr>
            <a:r>
              <a:t>40 orașe × 18.000€/an. Toate au obligația legală de a deține și actualiza planurile de mobilitate PMUD.</a:t>
            </a:r>
          </a:p>
        </p:txBody>
      </p:sp>
      <p:sp>
        <p:nvSpPr>
          <p:cNvPr id="11" name="Rounded Rectangle 10"/>
          <p:cNvSpPr/>
          <p:nvPr/>
        </p:nvSpPr>
        <p:spPr>
          <a:xfrm>
            <a:off x="8083296" y="1691640"/>
            <a:ext cx="3364992" cy="205740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83296" y="1691640"/>
            <a:ext cx="3364992" cy="2057400"/>
          </a:xfrm>
          <a:prstGeom prst="rect">
            <a:avLst/>
          </a:prstGeom>
          <a:noFill/>
        </p:spPr>
        <p:txBody>
          <a:bodyPr wrap="square" lIns="182880" tIns="182880" rIns="182880" bIns="182880">
            <a:spAutoFit/>
          </a:bodyPr>
          <a:lstStyle/>
          <a:p>
            <a:pPr algn="l">
              <a:spcAft>
                <a:spcPts val="400"/>
              </a:spcAft>
              <a:defRPr sz="1100" b="1" i="0">
                <a:solidFill>
                  <a:srgbClr val="38BDF8"/>
                </a:solidFill>
                <a:latin typeface="Calibri"/>
              </a:defRPr>
            </a:pPr>
            <a:r>
              <a:t>TAM — EUROPA CENTRALĂ ȘI DE EST</a:t>
            </a:r>
          </a:p>
          <a:p>
            <a:pPr algn="l">
              <a:spcAft>
                <a:spcPts val="200"/>
              </a:spcAft>
              <a:defRPr sz="2800" b="1" i="0">
                <a:solidFill>
                  <a:srgbClr val="FFFFFF"/>
                </a:solidFill>
                <a:latin typeface="Calibri"/>
              </a:defRPr>
            </a:pPr>
            <a:r>
              <a:t>14.4M€ ARR</a:t>
            </a:r>
          </a:p>
          <a:p>
            <a:pPr algn="l">
              <a:spcAft>
                <a:spcPts val="400"/>
              </a:spcAft>
              <a:defRPr sz="1200" b="1" i="0">
                <a:solidFill>
                  <a:srgbClr val="BAE6FD"/>
                </a:solidFill>
                <a:latin typeface="Calibri"/>
              </a:defRPr>
            </a:pPr>
            <a:r>
              <a:t>800+ Municipii Medii în CEE</a:t>
            </a:r>
          </a:p>
          <a:p>
            <a:pPr algn="l">
              <a:spcAft>
                <a:spcPts val="0"/>
              </a:spcAft>
              <a:defRPr sz="1100" b="0" i="0">
                <a:solidFill>
                  <a:srgbClr val="E2E8F0"/>
                </a:solidFill>
                <a:latin typeface="Calibri"/>
              </a:defRPr>
            </a:pPr>
            <a:r>
              <a:t>Orașe între 50k și 500k locuitori din Polonia, Cehia, Ungaria, Bulgaria și România cu probleme similare.</a:t>
            </a:r>
          </a:p>
        </p:txBody>
      </p:sp>
      <p:sp>
        <p:nvSpPr>
          <p:cNvPr id="13" name="Rounded Rectangle 12"/>
          <p:cNvSpPr/>
          <p:nvPr/>
        </p:nvSpPr>
        <p:spPr>
          <a:xfrm>
            <a:off x="731520" y="3931920"/>
            <a:ext cx="3364992" cy="242316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931920"/>
            <a:ext cx="3364992" cy="2423160"/>
          </a:xfrm>
          <a:prstGeom prst="rect">
            <a:avLst/>
          </a:prstGeom>
          <a:noFill/>
        </p:spPr>
        <p:txBody>
          <a:bodyPr wrap="square" lIns="182880" tIns="182880" rIns="182880" bIns="182880">
            <a:spAutoFit/>
          </a:bodyPr>
          <a:lstStyle/>
          <a:p>
            <a:pPr algn="l">
              <a:spcAft>
                <a:spcPts val="600"/>
              </a:spcAft>
              <a:defRPr sz="1100" b="1" i="0">
                <a:solidFill>
                  <a:srgbClr val="38BDF8"/>
                </a:solidFill>
                <a:latin typeface="Calibri"/>
              </a:defRPr>
            </a:pPr>
            <a:r>
              <a:t>FAZA 1 (Q1–Q2 2026): PILOTUL IAȘI</a:t>
            </a:r>
          </a:p>
          <a:p>
            <a:pPr algn="l">
              <a:spcAft>
                <a:spcPts val="600"/>
              </a:spcAft>
            </a:pPr>
            <a:r>
              <a:rPr sz="1200" b="1">
                <a:solidFill>
                  <a:srgbClr val="FFFFFF"/>
                </a:solidFill>
                <a:latin typeface="Calibri"/>
              </a:rPr>
              <a:t>• Acord de Pilot: </a:t>
            </a:r>
            <a:r>
              <a:rPr sz="1200" b="0">
                <a:solidFill>
                  <a:srgbClr val="E2E8F0"/>
                </a:solidFill>
                <a:latin typeface="Calibri"/>
              </a:rPr>
              <a:t>Semnare parteneriat formal cu Primăria Iași.</a:t>
            </a:r>
          </a:p>
          <a:p>
            <a:pPr algn="l">
              <a:spcAft>
                <a:spcPts val="600"/>
              </a:spcAft>
            </a:pPr>
            <a:r>
              <a:rPr sz="1200" b="1">
                <a:solidFill>
                  <a:srgbClr val="FFFFFF"/>
                </a:solidFill>
                <a:latin typeface="Calibri"/>
              </a:rPr>
              <a:t>• Testare Linia 28: </a:t>
            </a:r>
            <a:r>
              <a:rPr sz="1200" b="0">
                <a:solidFill>
                  <a:srgbClr val="E2E8F0"/>
                </a:solidFill>
                <a:latin typeface="Calibri"/>
              </a:rPr>
              <a:t>Validare scădere întârzieri pe transportul public.</a:t>
            </a:r>
          </a:p>
          <a:p>
            <a:pPr algn="l">
              <a:spcAft>
                <a:spcPts val="0"/>
              </a:spcAft>
            </a:pPr>
            <a:r>
              <a:rPr sz="1200" b="1">
                <a:solidFill>
                  <a:srgbClr val="FFFFFF"/>
                </a:solidFill>
                <a:latin typeface="Calibri"/>
              </a:rPr>
              <a:t>• Studiu de Caz: </a:t>
            </a:r>
            <a:r>
              <a:rPr sz="1200" b="0">
                <a:solidFill>
                  <a:srgbClr val="E2E8F0"/>
                </a:solidFill>
                <a:latin typeface="Calibri"/>
              </a:rPr>
              <a:t>Publicarea primelor date verificate de teren.</a:t>
            </a:r>
          </a:p>
        </p:txBody>
      </p:sp>
      <p:sp>
        <p:nvSpPr>
          <p:cNvPr id="15" name="Rounded Rectangle 14"/>
          <p:cNvSpPr/>
          <p:nvPr/>
        </p:nvSpPr>
        <p:spPr>
          <a:xfrm>
            <a:off x="4407408" y="3931920"/>
            <a:ext cx="3364992" cy="242316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07408" y="3931920"/>
            <a:ext cx="3364992" cy="2423160"/>
          </a:xfrm>
          <a:prstGeom prst="rect">
            <a:avLst/>
          </a:prstGeom>
          <a:noFill/>
        </p:spPr>
        <p:txBody>
          <a:bodyPr wrap="square" lIns="182880" tIns="182880" rIns="182880" bIns="182880">
            <a:spAutoFit/>
          </a:bodyPr>
          <a:lstStyle/>
          <a:p>
            <a:pPr algn="l">
              <a:spcAft>
                <a:spcPts val="600"/>
              </a:spcAft>
              <a:defRPr sz="1100" b="1" i="0">
                <a:solidFill>
                  <a:srgbClr val="34D399"/>
                </a:solidFill>
                <a:latin typeface="Calibri"/>
              </a:defRPr>
            </a:pPr>
            <a:r>
              <a:t>FAZA 2 (Q3–Q4 2026): POLII REGIONALI</a:t>
            </a:r>
          </a:p>
          <a:p>
            <a:pPr algn="l">
              <a:spcAft>
                <a:spcPts val="600"/>
              </a:spcAft>
            </a:pPr>
            <a:r>
              <a:rPr sz="1200" b="1">
                <a:solidFill>
                  <a:srgbClr val="FFFFFF"/>
                </a:solidFill>
                <a:latin typeface="Calibri"/>
              </a:rPr>
              <a:t>• Extindere Națională: </a:t>
            </a:r>
            <a:r>
              <a:rPr sz="1200" b="0">
                <a:solidFill>
                  <a:srgbClr val="E2E8F0"/>
                </a:solidFill>
                <a:latin typeface="Calibri"/>
              </a:rPr>
              <a:t>Cluj-Napoca, Timișoara, Brașov, Oradea.</a:t>
            </a:r>
          </a:p>
          <a:p>
            <a:pPr algn="l">
              <a:spcAft>
                <a:spcPts val="600"/>
              </a:spcAft>
            </a:pPr>
            <a:r>
              <a:rPr sz="1200" b="1">
                <a:solidFill>
                  <a:srgbClr val="FFFFFF"/>
                </a:solidFill>
                <a:latin typeface="Calibri"/>
              </a:rPr>
              <a:t>• Target Financiar: </a:t>
            </a:r>
            <a:r>
              <a:rPr sz="1200" b="0">
                <a:solidFill>
                  <a:srgbClr val="E2E8F0"/>
                </a:solidFill>
                <a:latin typeface="Calibri"/>
              </a:rPr>
              <a:t>5 contracte B2G active (90.000€ ARR).</a:t>
            </a:r>
          </a:p>
          <a:p>
            <a:pPr algn="l">
              <a:spcAft>
                <a:spcPts val="0"/>
              </a:spcAft>
            </a:pPr>
            <a:r>
              <a:rPr sz="1200" b="1">
                <a:solidFill>
                  <a:srgbClr val="FFFFFF"/>
                </a:solidFill>
                <a:latin typeface="Calibri"/>
              </a:rPr>
              <a:t>• Vânzare Directă: </a:t>
            </a:r>
            <a:r>
              <a:rPr sz="1200" b="0">
                <a:solidFill>
                  <a:srgbClr val="E2E8F0"/>
                </a:solidFill>
                <a:latin typeface="Calibri"/>
              </a:rPr>
              <a:t>Contractare directă sub pragul legal de achiziție.</a:t>
            </a:r>
          </a:p>
        </p:txBody>
      </p:sp>
      <p:sp>
        <p:nvSpPr>
          <p:cNvPr id="17" name="Rounded Rectangle 16"/>
          <p:cNvSpPr/>
          <p:nvPr/>
        </p:nvSpPr>
        <p:spPr>
          <a:xfrm>
            <a:off x="8083296" y="3931920"/>
            <a:ext cx="3364992" cy="242316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83296" y="3931920"/>
            <a:ext cx="3364992" cy="2423160"/>
          </a:xfrm>
          <a:prstGeom prst="rect">
            <a:avLst/>
          </a:prstGeom>
          <a:noFill/>
        </p:spPr>
        <p:txBody>
          <a:bodyPr wrap="square" lIns="182880" tIns="182880" rIns="182880" bIns="182880">
            <a:spAutoFit/>
          </a:bodyPr>
          <a:lstStyle/>
          <a:p>
            <a:pPr algn="l">
              <a:spcAft>
                <a:spcPts val="600"/>
              </a:spcAft>
              <a:defRPr sz="1100" b="1" i="0">
                <a:solidFill>
                  <a:srgbClr val="38BDF8"/>
                </a:solidFill>
                <a:latin typeface="Calibri"/>
              </a:defRPr>
            </a:pPr>
            <a:r>
              <a:t>FAZA 3 (2027): SCALARE REGIONALĂ CEE</a:t>
            </a:r>
          </a:p>
          <a:p>
            <a:pPr algn="l">
              <a:spcAft>
                <a:spcPts val="600"/>
              </a:spcAft>
            </a:pPr>
            <a:r>
              <a:rPr sz="1200" b="1">
                <a:solidFill>
                  <a:srgbClr val="FFFFFF"/>
                </a:solidFill>
                <a:latin typeface="Calibri"/>
              </a:rPr>
              <a:t>• Import Automat: </a:t>
            </a:r>
            <a:r>
              <a:rPr sz="1200" b="0">
                <a:solidFill>
                  <a:srgbClr val="E2E8F0"/>
                </a:solidFill>
                <a:latin typeface="Calibri"/>
              </a:rPr>
              <a:t>Localizare instantă a oricărui oraș din CEE via OSMnx.</a:t>
            </a:r>
          </a:p>
          <a:p>
            <a:pPr algn="l">
              <a:spcAft>
                <a:spcPts val="600"/>
              </a:spcAft>
            </a:pPr>
            <a:r>
              <a:rPr sz="1200" b="1">
                <a:solidFill>
                  <a:srgbClr val="FFFFFF"/>
                </a:solidFill>
                <a:latin typeface="Calibri"/>
              </a:rPr>
              <a:t>• Parteneriate ITS: </a:t>
            </a:r>
            <a:r>
              <a:rPr sz="1200" b="0">
                <a:solidFill>
                  <a:srgbClr val="E2E8F0"/>
                </a:solidFill>
                <a:latin typeface="Calibri"/>
              </a:rPr>
              <a:t>Integrare cu marii distribuitori de echipamente de semaforizare.</a:t>
            </a:r>
          </a:p>
          <a:p>
            <a:pPr algn="l">
              <a:spcAft>
                <a:spcPts val="0"/>
              </a:spcAft>
            </a:pPr>
            <a:r>
              <a:rPr sz="1200" b="1">
                <a:solidFill>
                  <a:srgbClr val="FFFFFF"/>
                </a:solidFill>
                <a:latin typeface="Calibri"/>
              </a:rPr>
              <a:t>• Obiectiv: </a:t>
            </a:r>
            <a:r>
              <a:rPr sz="1200" b="0">
                <a:solidFill>
                  <a:srgbClr val="E2E8F0"/>
                </a:solidFill>
                <a:latin typeface="Calibri"/>
              </a:rPr>
              <a:t>25 de orașe active în rețea.</a:t>
            </a:r>
          </a:p>
        </p:txBody>
      </p:sp>
    </p:spTree>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ECHIPA FONDATOARE</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09 / 10 · ECHIPA</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Echipa ARION: Cine a Deținut Ce &amp; De Ce Noi</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O echipă tehnică locală, complementară, dedicată rezolvării blocajului în care stăm în fiecare zi.</a:t>
            </a:r>
          </a:p>
        </p:txBody>
      </p:sp>
      <p:sp>
        <p:nvSpPr>
          <p:cNvPr id="7" name="Rounded Rectangle 6"/>
          <p:cNvSpPr/>
          <p:nvPr/>
        </p:nvSpPr>
        <p:spPr>
          <a:xfrm>
            <a:off x="731520" y="1691640"/>
            <a:ext cx="2450592" cy="3017520"/>
          </a:xfrm>
          <a:prstGeom prst="roundRect">
            <a:avLst/>
          </a:prstGeom>
          <a:solidFill>
            <a:srgbClr val="1E2D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2450592" cy="3017520"/>
          </a:xfrm>
          <a:prstGeom prst="rect">
            <a:avLst/>
          </a:prstGeom>
          <a:noFill/>
        </p:spPr>
        <p:txBody>
          <a:bodyPr wrap="square" lIns="164592" tIns="164592" rIns="164592" bIns="164592">
            <a:spAutoFit/>
          </a:bodyPr>
          <a:lstStyle/>
          <a:p>
            <a:pPr algn="l">
              <a:spcAft>
                <a:spcPts val="200"/>
              </a:spcAft>
              <a:defRPr sz="1400" b="1" i="0">
                <a:solidFill>
                  <a:srgbClr val="FFFFFF"/>
                </a:solidFill>
                <a:latin typeface="Calibri"/>
              </a:defRPr>
            </a:pPr>
            <a:r>
              <a:t>IUSTIN FAGATEANU</a:t>
            </a:r>
          </a:p>
          <a:p>
            <a:pPr algn="l">
              <a:spcAft>
                <a:spcPts val="600"/>
              </a:spcAft>
              <a:defRPr sz="1100" b="1" i="0">
                <a:solidFill>
                  <a:srgbClr val="38BDF8"/>
                </a:solidFill>
                <a:latin typeface="Calibri"/>
              </a:defRPr>
            </a:pPr>
            <a:r>
              <a:t>Product &amp; Frontend Lead</a:t>
            </a:r>
          </a:p>
          <a:p>
            <a:pPr algn="l">
              <a:spcAft>
                <a:spcPts val="500"/>
              </a:spcAft>
            </a:pPr>
            <a:r>
              <a:rPr sz="1100" b="1">
                <a:solidFill>
                  <a:srgbClr val="FFFFFF"/>
                </a:solidFill>
                <a:latin typeface="Calibri"/>
              </a:rPr>
              <a:t>• A conceput arhitectura Web: </a:t>
            </a:r>
            <a:r>
              <a:rPr sz="1100" b="0">
                <a:solidFill>
                  <a:srgbClr val="E2E8F0"/>
                </a:solidFill>
                <a:latin typeface="Calibri"/>
              </a:rPr>
              <a:t>Next.js 14 cu hartă interactivă MapLibre GL 3D.</a:t>
            </a:r>
          </a:p>
          <a:p>
            <a:pPr algn="l">
              <a:spcAft>
                <a:spcPts val="500"/>
              </a:spcAft>
            </a:pPr>
            <a:r>
              <a:rPr sz="1100" b="1">
                <a:solidFill>
                  <a:srgbClr val="FFFFFF"/>
                </a:solidFill>
                <a:latin typeface="Calibri"/>
              </a:rPr>
              <a:t>• A dezvoltat clientul mobil: </a:t>
            </a:r>
            <a:r>
              <a:rPr sz="1100" b="0">
                <a:solidFill>
                  <a:srgbClr val="E2E8F0"/>
                </a:solidFill>
                <a:latin typeface="Calibri"/>
              </a:rPr>
              <a:t>Aplicație Expo Android pentru echipele de teren.</a:t>
            </a:r>
          </a:p>
          <a:p>
            <a:pPr algn="l">
              <a:spcAft>
                <a:spcPts val="0"/>
              </a:spcAft>
            </a:pPr>
            <a:r>
              <a:rPr sz="1100" b="1">
                <a:solidFill>
                  <a:srgbClr val="FFFFFF"/>
                </a:solidFill>
                <a:latin typeface="Calibri"/>
              </a:rPr>
              <a:t>• A proiectat sistemul UX: </a:t>
            </a:r>
            <a:r>
              <a:rPr sz="1100" b="0">
                <a:solidFill>
                  <a:srgbClr val="E2E8F0"/>
                </a:solidFill>
                <a:latin typeface="Calibri"/>
              </a:rPr>
              <a:t>Interfață intuitivă pentru compararea scenariilor A/B de trafic.</a:t>
            </a:r>
          </a:p>
        </p:txBody>
      </p:sp>
      <p:sp>
        <p:nvSpPr>
          <p:cNvPr id="9" name="Rounded Rectangle 8"/>
          <p:cNvSpPr/>
          <p:nvPr/>
        </p:nvSpPr>
        <p:spPr>
          <a:xfrm>
            <a:off x="3483864" y="1691640"/>
            <a:ext cx="2450592" cy="3017520"/>
          </a:xfrm>
          <a:prstGeom prst="roundRect">
            <a:avLst/>
          </a:prstGeom>
          <a:solidFill>
            <a:srgbClr val="1E2D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3864" y="1691640"/>
            <a:ext cx="2450592" cy="3017520"/>
          </a:xfrm>
          <a:prstGeom prst="rect">
            <a:avLst/>
          </a:prstGeom>
          <a:noFill/>
        </p:spPr>
        <p:txBody>
          <a:bodyPr wrap="square" lIns="164592" tIns="164592" rIns="164592" bIns="164592">
            <a:spAutoFit/>
          </a:bodyPr>
          <a:lstStyle/>
          <a:p>
            <a:pPr algn="l">
              <a:spcAft>
                <a:spcPts val="200"/>
              </a:spcAft>
              <a:defRPr sz="1400" b="1" i="0">
                <a:solidFill>
                  <a:srgbClr val="FFFFFF"/>
                </a:solidFill>
                <a:latin typeface="Calibri"/>
              </a:defRPr>
            </a:pPr>
            <a:r>
              <a:t>ALEX PINTILIE</a:t>
            </a:r>
          </a:p>
          <a:p>
            <a:pPr algn="l">
              <a:spcAft>
                <a:spcPts val="600"/>
              </a:spcAft>
              <a:defRPr sz="1100" b="1" i="0">
                <a:solidFill>
                  <a:srgbClr val="38BDF8"/>
                </a:solidFill>
                <a:latin typeface="Calibri"/>
              </a:defRPr>
            </a:pPr>
            <a:r>
              <a:t>Backend &amp; Simulation Lead</a:t>
            </a:r>
          </a:p>
          <a:p>
            <a:pPr algn="l">
              <a:spcAft>
                <a:spcPts val="500"/>
              </a:spcAft>
            </a:pPr>
            <a:r>
              <a:rPr sz="1100" b="1">
                <a:solidFill>
                  <a:srgbClr val="FFFFFF"/>
                </a:solidFill>
                <a:latin typeface="Calibri"/>
              </a:rPr>
              <a:t>• A construit serverul FastAPI: </a:t>
            </a:r>
            <a:r>
              <a:rPr sz="1100" b="0">
                <a:solidFill>
                  <a:srgbClr val="E2E8F0"/>
                </a:solidFill>
                <a:latin typeface="Calibri"/>
              </a:rPr>
              <a:t>Arhitectură asincronă de procesare a fluxurilor de simulare.</a:t>
            </a:r>
          </a:p>
          <a:p>
            <a:pPr algn="l">
              <a:spcAft>
                <a:spcPts val="500"/>
              </a:spcAft>
            </a:pPr>
            <a:r>
              <a:rPr sz="1100" b="1">
                <a:solidFill>
                  <a:srgbClr val="FFFFFF"/>
                </a:solidFill>
                <a:latin typeface="Calibri"/>
              </a:rPr>
              <a:t>• A integrat motorul SUMO: </a:t>
            </a:r>
            <a:r>
              <a:rPr sz="1100" b="0">
                <a:solidFill>
                  <a:srgbClr val="E2E8F0"/>
                </a:solidFill>
                <a:latin typeface="Calibri"/>
              </a:rPr>
              <a:t>Conexiune TraCI pentru rularea microscopică fizică.</a:t>
            </a:r>
          </a:p>
          <a:p>
            <a:pPr algn="l">
              <a:spcAft>
                <a:spcPts val="0"/>
              </a:spcAft>
            </a:pPr>
            <a:r>
              <a:rPr sz="1100" b="1">
                <a:solidFill>
                  <a:srgbClr val="FFFFFF"/>
                </a:solidFill>
                <a:latin typeface="Calibri"/>
              </a:rPr>
              <a:t>• A implementat modelul Webster: </a:t>
            </a:r>
            <a:r>
              <a:rPr sz="1100" b="0">
                <a:solidFill>
                  <a:srgbClr val="E2E8F0"/>
                </a:solidFill>
                <a:latin typeface="Calibri"/>
              </a:rPr>
              <a:t>Algoritm de calcul analitic al timpilor optimi de verde.</a:t>
            </a:r>
          </a:p>
        </p:txBody>
      </p:sp>
      <p:sp>
        <p:nvSpPr>
          <p:cNvPr id="11" name="Rounded Rectangle 10"/>
          <p:cNvSpPr/>
          <p:nvPr/>
        </p:nvSpPr>
        <p:spPr>
          <a:xfrm>
            <a:off x="6236208" y="1691640"/>
            <a:ext cx="2450592" cy="301752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36208" y="1691640"/>
            <a:ext cx="2450592" cy="3017520"/>
          </a:xfrm>
          <a:prstGeom prst="rect">
            <a:avLst/>
          </a:prstGeom>
          <a:noFill/>
        </p:spPr>
        <p:txBody>
          <a:bodyPr wrap="square" lIns="164592" tIns="164592" rIns="164592" bIns="164592">
            <a:spAutoFit/>
          </a:bodyPr>
          <a:lstStyle/>
          <a:p>
            <a:pPr algn="l">
              <a:spcAft>
                <a:spcPts val="200"/>
              </a:spcAft>
              <a:defRPr sz="1400" b="1" i="0">
                <a:solidFill>
                  <a:srgbClr val="FFFFFF"/>
                </a:solidFill>
                <a:latin typeface="Calibri"/>
              </a:defRPr>
            </a:pPr>
            <a:r>
              <a:t>ECHIPA ARION</a:t>
            </a:r>
          </a:p>
          <a:p>
            <a:pPr algn="l">
              <a:spcAft>
                <a:spcPts val="600"/>
              </a:spcAft>
              <a:defRPr sz="1100" b="1" i="0">
                <a:solidFill>
                  <a:srgbClr val="34D399"/>
                </a:solidFill>
                <a:latin typeface="Calibri"/>
              </a:defRPr>
            </a:pPr>
            <a:r>
              <a:t>Modelare Urbană &amp; Trafic</a:t>
            </a:r>
          </a:p>
          <a:p>
            <a:pPr algn="l">
              <a:spcAft>
                <a:spcPts val="500"/>
              </a:spcAft>
            </a:pPr>
            <a:r>
              <a:rPr sz="1100" b="1">
                <a:solidFill>
                  <a:srgbClr val="FFFFFF"/>
                </a:solidFill>
                <a:latin typeface="Calibri"/>
              </a:rPr>
              <a:t>• Calibrare date reale: </a:t>
            </a:r>
            <a:r>
              <a:rPr sz="1100" b="0">
                <a:solidFill>
                  <a:srgbClr val="E2E8F0"/>
                </a:solidFill>
                <a:latin typeface="Calibri"/>
              </a:rPr>
              <a:t>Integrare volume PMUD Iași și măsurători senzori la Podu Roșu.</a:t>
            </a:r>
          </a:p>
          <a:p>
            <a:pPr algn="l">
              <a:spcAft>
                <a:spcPts val="500"/>
              </a:spcAft>
            </a:pPr>
            <a:r>
              <a:rPr sz="1100" b="1">
                <a:solidFill>
                  <a:srgbClr val="FFFFFF"/>
                </a:solidFill>
                <a:latin typeface="Calibri"/>
              </a:rPr>
              <a:t>• Topologie rețea: </a:t>
            </a:r>
            <a:r>
              <a:rPr sz="1100" b="0">
                <a:solidFill>
                  <a:srgbClr val="E2E8F0"/>
                </a:solidFill>
                <a:latin typeface="Calibri"/>
              </a:rPr>
              <a:t>Configurarea nodului Podu Roșu cu 6 intrări rutiere în OSMnx.</a:t>
            </a:r>
          </a:p>
          <a:p>
            <a:pPr algn="l">
              <a:spcAft>
                <a:spcPts val="0"/>
              </a:spcAft>
            </a:pPr>
            <a:r>
              <a:rPr sz="1100" b="1">
                <a:solidFill>
                  <a:srgbClr val="FFFFFF"/>
                </a:solidFill>
                <a:latin typeface="Calibri"/>
              </a:rPr>
              <a:t>• Evaluare Before / After: </a:t>
            </a:r>
            <a:r>
              <a:rPr sz="1100" b="0">
                <a:solidFill>
                  <a:srgbClr val="E2E8F0"/>
                </a:solidFill>
                <a:latin typeface="Calibri"/>
              </a:rPr>
              <a:t>Măsurarea reducerii cozilor și timpilor de întârziere.</a:t>
            </a:r>
          </a:p>
        </p:txBody>
      </p:sp>
      <p:sp>
        <p:nvSpPr>
          <p:cNvPr id="13" name="Rounded Rectangle 12"/>
          <p:cNvSpPr/>
          <p:nvPr/>
        </p:nvSpPr>
        <p:spPr>
          <a:xfrm>
            <a:off x="8988552" y="1691640"/>
            <a:ext cx="2450592" cy="301752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88552" y="1691640"/>
            <a:ext cx="2450592" cy="3017520"/>
          </a:xfrm>
          <a:prstGeom prst="rect">
            <a:avLst/>
          </a:prstGeom>
          <a:noFill/>
        </p:spPr>
        <p:txBody>
          <a:bodyPr wrap="square" lIns="164592" tIns="164592" rIns="164592" bIns="164592">
            <a:spAutoFit/>
          </a:bodyPr>
          <a:lstStyle/>
          <a:p>
            <a:pPr algn="l">
              <a:spcAft>
                <a:spcPts val="200"/>
              </a:spcAft>
              <a:defRPr sz="1400" b="1" i="0">
                <a:solidFill>
                  <a:srgbClr val="FFFFFF"/>
                </a:solidFill>
                <a:latin typeface="Calibri"/>
              </a:defRPr>
            </a:pPr>
            <a:r>
              <a:t>ADVISORY MOBILITATE</a:t>
            </a:r>
          </a:p>
          <a:p>
            <a:pPr algn="l">
              <a:spcAft>
                <a:spcPts val="600"/>
              </a:spcAft>
              <a:defRPr sz="1100" b="1" i="0">
                <a:solidFill>
                  <a:srgbClr val="FBBF24"/>
                </a:solidFill>
                <a:latin typeface="Calibri"/>
              </a:defRPr>
            </a:pPr>
            <a:r>
              <a:t>Domeniu &amp; Administrație</a:t>
            </a:r>
          </a:p>
          <a:p>
            <a:pPr algn="l">
              <a:spcAft>
                <a:spcPts val="500"/>
              </a:spcAft>
            </a:pPr>
            <a:r>
              <a:rPr sz="1100" b="1">
                <a:solidFill>
                  <a:srgbClr val="FFFFFF"/>
                </a:solidFill>
                <a:latin typeface="Calibri"/>
              </a:rPr>
              <a:t>• Consultare transport public: </a:t>
            </a:r>
            <a:r>
              <a:rPr sz="1100" b="0">
                <a:solidFill>
                  <a:srgbClr val="E2E8F0"/>
                </a:solidFill>
                <a:latin typeface="Calibri"/>
              </a:rPr>
              <a:t>Validarea cerințelor operaționale ale CTP Iași pentru tramvaie/autobuze.</a:t>
            </a:r>
          </a:p>
          <a:p>
            <a:pPr algn="l">
              <a:spcAft>
                <a:spcPts val="500"/>
              </a:spcAft>
            </a:pPr>
            <a:r>
              <a:rPr sz="1100" b="1">
                <a:solidFill>
                  <a:srgbClr val="FFFFFF"/>
                </a:solidFill>
                <a:latin typeface="Calibri"/>
              </a:rPr>
              <a:t>• Cerințe tehnice primărie: </a:t>
            </a:r>
            <a:r>
              <a:rPr sz="1100" b="0">
                <a:solidFill>
                  <a:srgbClr val="E2E8F0"/>
                </a:solidFill>
                <a:latin typeface="Calibri"/>
              </a:rPr>
              <a:t>Aliniere cu atribuțiile direcțiilor de administrare a circulației.</a:t>
            </a:r>
          </a:p>
          <a:p>
            <a:pPr algn="l">
              <a:spcAft>
                <a:spcPts val="0"/>
              </a:spcAft>
            </a:pPr>
            <a:r>
              <a:rPr sz="1100" b="1">
                <a:solidFill>
                  <a:srgbClr val="FFFFFF"/>
                </a:solidFill>
                <a:latin typeface="Calibri"/>
              </a:rPr>
              <a:t>• Conformitate B2G: </a:t>
            </a:r>
            <a:r>
              <a:rPr sz="1100" b="0">
                <a:solidFill>
                  <a:srgbClr val="E2E8F0"/>
                </a:solidFill>
                <a:latin typeface="Calibri"/>
              </a:rPr>
              <a:t>Verificarea încadrării în cerințele legale de achiziție directă.</a:t>
            </a:r>
          </a:p>
        </p:txBody>
      </p:sp>
      <p:sp>
        <p:nvSpPr>
          <p:cNvPr id="15" name="Rounded Rectangle 14"/>
          <p:cNvSpPr/>
          <p:nvPr/>
        </p:nvSpPr>
        <p:spPr>
          <a:xfrm>
            <a:off x="731520" y="4846320"/>
            <a:ext cx="5193792" cy="150876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846320"/>
            <a:ext cx="5193792" cy="1508760"/>
          </a:xfrm>
          <a:prstGeom prst="rect">
            <a:avLst/>
          </a:prstGeom>
          <a:noFill/>
        </p:spPr>
        <p:txBody>
          <a:bodyPr wrap="square" lIns="164592" tIns="164592" rIns="164592" bIns="164592">
            <a:spAutoFit/>
          </a:bodyPr>
          <a:lstStyle/>
          <a:p>
            <a:pPr algn="l">
              <a:spcAft>
                <a:spcPts val="400"/>
              </a:spcAft>
              <a:defRPr sz="1100" b="1" i="0">
                <a:solidFill>
                  <a:srgbClr val="38BDF8"/>
                </a:solidFill>
                <a:latin typeface="Calibri"/>
              </a:defRPr>
            </a:pPr>
            <a:r>
              <a:t>DE CE NOI PENTRU ACEASTĂ PROBLEMĂ</a:t>
            </a:r>
          </a:p>
          <a:p>
            <a:pPr algn="l">
              <a:spcAft>
                <a:spcPts val="0"/>
              </a:spcAft>
              <a:defRPr sz="1100" b="0" i="0">
                <a:solidFill>
                  <a:srgbClr val="E2E8F0"/>
                </a:solidFill>
                <a:latin typeface="Calibri"/>
              </a:defRPr>
            </a:pPr>
            <a:r>
              <a:t>Locuim în Iași, ne confruntăm zilnic cu blocajul de la Podu Roșu și am demonstrat în 48 de ore că putem uni tehnologii moderne (FastAPI, SUMO, Next.js, GIS) pe care firmele clasice de consultanță nu le stăpânesc.</a:t>
            </a:r>
          </a:p>
        </p:txBody>
      </p:sp>
      <p:sp>
        <p:nvSpPr>
          <p:cNvPr id="17" name="Rounded Rectangle 16"/>
          <p:cNvSpPr/>
          <p:nvPr/>
        </p:nvSpPr>
        <p:spPr>
          <a:xfrm>
            <a:off x="6263640" y="4846320"/>
            <a:ext cx="5193792" cy="1508760"/>
          </a:xfrm>
          <a:prstGeom prst="roundRect">
            <a:avLst/>
          </a:prstGeom>
          <a:solidFill>
            <a:srgbClr val="152E4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4846320"/>
            <a:ext cx="5193792" cy="1508760"/>
          </a:xfrm>
          <a:prstGeom prst="rect">
            <a:avLst/>
          </a:prstGeom>
          <a:noFill/>
        </p:spPr>
        <p:txBody>
          <a:bodyPr wrap="square" lIns="164592" tIns="164592" rIns="164592" bIns="164592">
            <a:spAutoFit/>
          </a:bodyPr>
          <a:lstStyle/>
          <a:p>
            <a:pPr algn="l">
              <a:spcAft>
                <a:spcPts val="400"/>
              </a:spcAft>
              <a:defRPr sz="1100" b="1" i="0">
                <a:solidFill>
                  <a:srgbClr val="34D399"/>
                </a:solidFill>
                <a:latin typeface="Calibri"/>
              </a:defRPr>
            </a:pPr>
            <a:r>
              <a:t>CINE CONTINUĂ DUPĂ HACKATHON</a:t>
            </a:r>
          </a:p>
          <a:p>
            <a:pPr algn="l">
              <a:spcAft>
                <a:spcPts val="0"/>
              </a:spcAft>
              <a:defRPr sz="1100" b="1" i="0">
                <a:solidFill>
                  <a:srgbClr val="FFFFFF"/>
                </a:solidFill>
                <a:latin typeface="Calibri"/>
              </a:defRPr>
            </a:pPr>
            <a:r>
              <a:t>Ambii fondatori tehnici (Iustin Fagateanu &amp; Alex Pintilie) sunt 100% dedicați pentru continuarea proiectului și livrarea primului pilot operațional în parteneriat cu Primăria Municipiului Iași și CTP.</a:t>
            </a:r>
          </a:p>
        </p:txBody>
      </p:sp>
    </p:spTree>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PASUL URMĂTOR &amp; CEREREA NOASTRĂ</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10 / 10 · CE URMEAZĂ</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Ce Urmează: Pilotul Operațional și Cererea Noastră</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Planul clar de după scenă: ce livrăm în 30 de zile, ce măsurăm în teren și de ce avem nevoie din partea juriului.</a:t>
            </a:r>
          </a:p>
        </p:txBody>
      </p:sp>
      <p:sp>
        <p:nvSpPr>
          <p:cNvPr id="7" name="Rounded Rectangle 6"/>
          <p:cNvSpPr/>
          <p:nvPr/>
        </p:nvSpPr>
        <p:spPr>
          <a:xfrm>
            <a:off x="731520" y="1691640"/>
            <a:ext cx="3364992" cy="32918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3364992" cy="3291840"/>
          </a:xfrm>
          <a:prstGeom prst="rect">
            <a:avLst/>
          </a:prstGeom>
          <a:noFill/>
        </p:spPr>
        <p:txBody>
          <a:bodyPr wrap="square" lIns="182880" tIns="182880" rIns="182880" bIns="182880">
            <a:spAutoFit/>
          </a:bodyPr>
          <a:lstStyle/>
          <a:p>
            <a:pPr algn="l">
              <a:spcAft>
                <a:spcPts val="600"/>
              </a:spcAft>
              <a:defRPr sz="1100" b="1" i="0">
                <a:solidFill>
                  <a:srgbClr val="38BDF8"/>
                </a:solidFill>
                <a:latin typeface="Calibri"/>
              </a:defRPr>
            </a:pPr>
            <a:r>
              <a:t>1. AM TĂIAT ȘI ADĂUGĂM ÎN Q2</a:t>
            </a:r>
          </a:p>
          <a:p>
            <a:pPr algn="l">
              <a:spcAft>
                <a:spcPts val="1000"/>
              </a:spcAft>
              <a:defRPr sz="1600" b="1" i="0">
                <a:solidFill>
                  <a:srgbClr val="FFFFFF"/>
                </a:solidFill>
                <a:latin typeface="Calibri"/>
              </a:defRPr>
            </a:pPr>
            <a:r>
              <a:t>Dezvoltare Tehnică</a:t>
            </a:r>
          </a:p>
          <a:p>
            <a:pPr algn="l">
              <a:spcAft>
                <a:spcPts val="800"/>
              </a:spcAft>
            </a:pPr>
            <a:r>
              <a:rPr sz="1200" b="1">
                <a:solidFill>
                  <a:srgbClr val="FFFFFF"/>
                </a:solidFill>
                <a:latin typeface="Calibri"/>
              </a:rPr>
              <a:t>• Analiză Video Automată: </a:t>
            </a:r>
            <a:r>
              <a:rPr sz="1200" b="0">
                <a:solidFill>
                  <a:srgbClr val="E2E8F0"/>
                </a:solidFill>
                <a:latin typeface="Calibri"/>
              </a:rPr>
              <a:t>Detecție automată a fluxurilor de vehicule din camerele de supraveghere existente în intersecții.</a:t>
            </a:r>
          </a:p>
          <a:p>
            <a:pPr algn="l">
              <a:spcAft>
                <a:spcPts val="800"/>
              </a:spcAft>
            </a:pPr>
            <a:r>
              <a:rPr sz="1200" b="1">
                <a:solidFill>
                  <a:srgbClr val="FFFFFF"/>
                </a:solidFill>
                <a:latin typeface="Calibri"/>
              </a:rPr>
              <a:t>• Export Direct GIS/CAD: </a:t>
            </a:r>
            <a:r>
              <a:rPr sz="1200" b="0">
                <a:solidFill>
                  <a:srgbClr val="E2E8F0"/>
                </a:solidFill>
                <a:latin typeface="Calibri"/>
              </a:rPr>
              <a:t>Compatibilitate nativă cu formatele utilizate în birourile de urbanism.</a:t>
            </a:r>
          </a:p>
          <a:p>
            <a:pPr algn="l">
              <a:spcAft>
                <a:spcPts val="0"/>
              </a:spcAft>
            </a:pPr>
            <a:r>
              <a:rPr sz="1200" b="1">
                <a:solidFill>
                  <a:srgbClr val="FFFFFF"/>
                </a:solidFill>
                <a:latin typeface="Calibri"/>
              </a:rPr>
              <a:t>• Prioritizare Dinamică CTP: </a:t>
            </a:r>
            <a:r>
              <a:rPr sz="1200" b="0">
                <a:solidFill>
                  <a:srgbClr val="E2E8F0"/>
                </a:solidFill>
                <a:latin typeface="Calibri"/>
              </a:rPr>
              <a:t>Extensie automată de verde la apropierea tramvaielor întârziate.</a:t>
            </a:r>
          </a:p>
        </p:txBody>
      </p:sp>
      <p:sp>
        <p:nvSpPr>
          <p:cNvPr id="9" name="Rounded Rectangle 8"/>
          <p:cNvSpPr/>
          <p:nvPr/>
        </p:nvSpPr>
        <p:spPr>
          <a:xfrm>
            <a:off x="4407408" y="1691640"/>
            <a:ext cx="3364992" cy="3291840"/>
          </a:xfrm>
          <a:prstGeom prst="roundRect">
            <a:avLst/>
          </a:prstGeom>
          <a:solidFill>
            <a:srgbClr val="1E2D4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07408" y="1691640"/>
            <a:ext cx="3364992" cy="3291840"/>
          </a:xfrm>
          <a:prstGeom prst="rect">
            <a:avLst/>
          </a:prstGeom>
          <a:noFill/>
        </p:spPr>
        <p:txBody>
          <a:bodyPr wrap="square" lIns="182880" tIns="182880" rIns="182880" bIns="182880">
            <a:spAutoFit/>
          </a:bodyPr>
          <a:lstStyle/>
          <a:p>
            <a:pPr algn="l">
              <a:spcAft>
                <a:spcPts val="600"/>
              </a:spcAft>
              <a:defRPr sz="1100" b="1" i="0">
                <a:solidFill>
                  <a:srgbClr val="34D399"/>
                </a:solidFill>
                <a:latin typeface="Calibri"/>
              </a:defRPr>
            </a:pPr>
            <a:r>
              <a:t>2. CE MĂSURĂM PRIMUL ÎN TEREN</a:t>
            </a:r>
          </a:p>
          <a:p>
            <a:pPr algn="l">
              <a:spcAft>
                <a:spcPts val="1000"/>
              </a:spcAft>
              <a:defRPr sz="1600" b="1" i="0">
                <a:solidFill>
                  <a:srgbClr val="FFFFFF"/>
                </a:solidFill>
                <a:latin typeface="Calibri"/>
              </a:defRPr>
            </a:pPr>
            <a:r>
              <a:t>Validare Metrică în 30 Zile</a:t>
            </a:r>
          </a:p>
          <a:p>
            <a:pPr algn="l">
              <a:spcAft>
                <a:spcPts val="800"/>
              </a:spcAft>
            </a:pPr>
            <a:r>
              <a:rPr sz="1200" b="1">
                <a:solidFill>
                  <a:srgbClr val="FFFFFF"/>
                </a:solidFill>
                <a:latin typeface="Calibri"/>
              </a:rPr>
              <a:t>• Linia 28 CTP Iași: </a:t>
            </a:r>
            <a:r>
              <a:rPr sz="1200" b="0">
                <a:solidFill>
                  <a:srgbClr val="E2E8F0"/>
                </a:solidFill>
                <a:latin typeface="Calibri"/>
              </a:rPr>
              <a:t>Măsurăm timpii de parcurs pe tronsonul Socola – Podu Roșu – Centru.</a:t>
            </a:r>
          </a:p>
          <a:p>
            <a:pPr algn="l">
              <a:spcAft>
                <a:spcPts val="800"/>
              </a:spcAft>
            </a:pPr>
            <a:r>
              <a:rPr sz="1200" b="1">
                <a:solidFill>
                  <a:srgbClr val="FFFFFF"/>
                </a:solidFill>
                <a:latin typeface="Calibri"/>
              </a:rPr>
              <a:t>• Validare Matematică: </a:t>
            </a:r>
            <a:r>
              <a:rPr sz="1200" b="0">
                <a:solidFill>
                  <a:srgbClr val="34D399"/>
                </a:solidFill>
                <a:latin typeface="Calibri"/>
              </a:rPr>
              <a:t>Verificăm dacă reducerea simulată de 34% generează cel puțin 20% reducere pe stradă.</a:t>
            </a:r>
          </a:p>
          <a:p>
            <a:pPr algn="l">
              <a:spcAft>
                <a:spcPts val="0"/>
              </a:spcAft>
            </a:pPr>
            <a:r>
              <a:rPr sz="1200" b="1">
                <a:solidFill>
                  <a:srgbClr val="FFFFFF"/>
                </a:solidFill>
                <a:latin typeface="Calibri"/>
              </a:rPr>
              <a:t>• Raport Public B2G: </a:t>
            </a:r>
            <a:r>
              <a:rPr sz="1200" b="0">
                <a:solidFill>
                  <a:srgbClr val="E2E8F0"/>
                </a:solidFill>
                <a:latin typeface="Calibri"/>
              </a:rPr>
              <a:t>Predarea către primărie a primului dosar tehnic bazat pe date verificate.</a:t>
            </a:r>
          </a:p>
        </p:txBody>
      </p:sp>
      <p:sp>
        <p:nvSpPr>
          <p:cNvPr id="11" name="Rounded Rectangle 10"/>
          <p:cNvSpPr/>
          <p:nvPr/>
        </p:nvSpPr>
        <p:spPr>
          <a:xfrm>
            <a:off x="8083296" y="1691640"/>
            <a:ext cx="3364992" cy="3291840"/>
          </a:xfrm>
          <a:prstGeom prst="roundRect">
            <a:avLst/>
          </a:prstGeom>
          <a:solidFill>
            <a:srgbClr val="152E4D"/>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83296" y="1691640"/>
            <a:ext cx="3364992" cy="3291840"/>
          </a:xfrm>
          <a:prstGeom prst="rect">
            <a:avLst/>
          </a:prstGeom>
          <a:noFill/>
        </p:spPr>
        <p:txBody>
          <a:bodyPr wrap="square" lIns="182880" tIns="182880" rIns="182880" bIns="182880">
            <a:spAutoFit/>
          </a:bodyPr>
          <a:lstStyle/>
          <a:p>
            <a:pPr algn="l">
              <a:spcAft>
                <a:spcPts val="600"/>
              </a:spcAft>
              <a:defRPr sz="1100" b="1" i="0">
                <a:solidFill>
                  <a:srgbClr val="38BDF8"/>
                </a:solidFill>
                <a:latin typeface="Calibri"/>
              </a:defRPr>
            </a:pPr>
            <a:r>
              <a:t>3. CEREREA NOASTRĂ CONCRETĂ</a:t>
            </a:r>
          </a:p>
          <a:p>
            <a:pPr algn="l">
              <a:spcAft>
                <a:spcPts val="1000"/>
              </a:spcAft>
              <a:defRPr sz="1600" b="1" i="0">
                <a:solidFill>
                  <a:srgbClr val="FFFFFF"/>
                </a:solidFill>
                <a:latin typeface="Calibri"/>
              </a:defRPr>
            </a:pPr>
            <a:r>
              <a:t>Ce Solicităm Juriului</a:t>
            </a:r>
          </a:p>
          <a:p>
            <a:pPr algn="l">
              <a:spcAft>
                <a:spcPts val="800"/>
              </a:spcAft>
            </a:pPr>
            <a:r>
              <a:rPr sz="1200" b="1">
                <a:solidFill>
                  <a:srgbClr val="FFFFFF"/>
                </a:solidFill>
                <a:latin typeface="Calibri"/>
              </a:rPr>
              <a:t>• Acord de Pilot B2G: </a:t>
            </a:r>
            <a:r>
              <a:rPr sz="1200" b="0">
                <a:solidFill>
                  <a:srgbClr val="E2E8F0"/>
                </a:solidFill>
                <a:latin typeface="Calibri"/>
              </a:rPr>
              <a:t>Deschiderea dialogului instituțional cu Primăria Iași și Direcția Tehnică.</a:t>
            </a:r>
          </a:p>
          <a:p>
            <a:pPr algn="l">
              <a:spcAft>
                <a:spcPts val="800"/>
              </a:spcAft>
            </a:pPr>
            <a:r>
              <a:rPr sz="1200" b="1">
                <a:solidFill>
                  <a:srgbClr val="FFFFFF"/>
                </a:solidFill>
                <a:latin typeface="Calibri"/>
              </a:rPr>
              <a:t>• Diagrame Semaforizare: </a:t>
            </a:r>
            <a:r>
              <a:rPr sz="1200" b="0">
                <a:solidFill>
                  <a:srgbClr val="E2E8F0"/>
                </a:solidFill>
                <a:latin typeface="Calibri"/>
              </a:rPr>
              <a:t>Acces la planurile reale de semaforizare din intersecția Podu Roșu.</a:t>
            </a:r>
          </a:p>
          <a:p>
            <a:pPr algn="l">
              <a:spcAft>
                <a:spcPts val="0"/>
              </a:spcAft>
            </a:pPr>
            <a:r>
              <a:rPr sz="1200" b="1">
                <a:solidFill>
                  <a:srgbClr val="FFFFFF"/>
                </a:solidFill>
                <a:latin typeface="Calibri"/>
              </a:rPr>
              <a:t>• Mentorat Achiziții Publice: </a:t>
            </a:r>
            <a:r>
              <a:rPr sz="1200" b="0">
                <a:solidFill>
                  <a:srgbClr val="E2E8F0"/>
                </a:solidFill>
                <a:latin typeface="Calibri"/>
              </a:rPr>
              <a:t>Îndrumare juridică pentru structurarea contractului de achiziție directă.</a:t>
            </a:r>
          </a:p>
        </p:txBody>
      </p:sp>
      <p:sp>
        <p:nvSpPr>
          <p:cNvPr id="13" name="Rounded Rectangle 12"/>
          <p:cNvSpPr/>
          <p:nvPr/>
        </p:nvSpPr>
        <p:spPr>
          <a:xfrm>
            <a:off x="731520" y="5120640"/>
            <a:ext cx="10725912" cy="1234440"/>
          </a:xfrm>
          <a:prstGeom prst="roundRect">
            <a:avLst/>
          </a:prstGeom>
          <a:solidFill>
            <a:srgbClr val="1E2D4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5120640"/>
            <a:ext cx="10725912" cy="1234440"/>
          </a:xfrm>
          <a:prstGeom prst="rect">
            <a:avLst/>
          </a:prstGeom>
          <a:noFill/>
        </p:spPr>
        <p:txBody>
          <a:bodyPr wrap="square" lIns="164592" tIns="164592" rIns="164592" bIns="164592">
            <a:spAutoFit/>
          </a:bodyPr>
          <a:lstStyle/>
          <a:p>
            <a:pPr algn="ctr">
              <a:spcAft>
                <a:spcPts val="800"/>
              </a:spcAft>
              <a:defRPr sz="1500" b="1" i="1">
                <a:solidFill>
                  <a:srgbClr val="FFFFFF"/>
                </a:solidFill>
                <a:latin typeface="Calibri"/>
              </a:defRPr>
            </a:pPr>
            <a:r>
              <a:t>„Nu putem lărgi străzile Iașului cu încă o bandă, dar putem transforma fiecare secundă de verde într-o decizie calculată matematic.”</a:t>
            </a:r>
          </a:p>
          <a:p>
            <a:pPr algn="ctr">
              <a:spcAft>
                <a:spcPts val="0"/>
              </a:spcAft>
              <a:defRPr sz="1200" b="1" i="0">
                <a:solidFill>
                  <a:srgbClr val="38BDF8"/>
                </a:solidFill>
                <a:latin typeface="Calibri"/>
              </a:defRPr>
            </a:pPr>
            <a:r>
              <a:t>contact@arteria.ro   ·   arteria.ai-iasi.ro   ·   Echipa ARION (Iustin Fagateanu &amp; Alex Pintilie)</a:t>
            </a:r>
          </a:p>
        </p:txBody>
      </p:sp>
    </p:spTree>
  </p:cSld>
  <p:clrMapOvr>
    <a:masterClrMapping/>
  </p:clrMapOvr>
  <p:transition>
    <p:dissolv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ANEXE TEHNICE &amp; DOCUMENTAȚIE</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ANEXE · SUPORT</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Slide-uri de Suport pentru Sesiunea de Q&amp;A</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Detalii concrete care răspund dinainte la întrebările tehnice, metodologice și de business ale juriului.</a:t>
            </a:r>
          </a:p>
        </p:txBody>
      </p:sp>
      <p:sp>
        <p:nvSpPr>
          <p:cNvPr id="7" name="Rounded Rectangle 6"/>
          <p:cNvSpPr/>
          <p:nvPr/>
        </p:nvSpPr>
        <p:spPr>
          <a:xfrm>
            <a:off x="731520" y="1691640"/>
            <a:ext cx="2450592" cy="46634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2450592" cy="4663440"/>
          </a:xfrm>
          <a:prstGeom prst="rect">
            <a:avLst/>
          </a:prstGeom>
          <a:noFill/>
        </p:spPr>
        <p:txBody>
          <a:bodyPr wrap="square" lIns="164592" tIns="164592" rIns="164592" bIns="164592">
            <a:spAutoFit/>
          </a:bodyPr>
          <a:lstStyle/>
          <a:p>
            <a:pPr algn="l">
              <a:spcAft>
                <a:spcPts val="400"/>
              </a:spcAft>
              <a:defRPr sz="1100" b="1" i="0">
                <a:solidFill>
                  <a:srgbClr val="F87171"/>
                </a:solidFill>
                <a:latin typeface="Calibri"/>
              </a:defRPr>
            </a:pPr>
            <a:r>
              <a:t>ANEXA A</a:t>
            </a:r>
          </a:p>
          <a:p>
            <a:pPr algn="l">
              <a:spcAft>
                <a:spcPts val="1000"/>
              </a:spcAft>
              <a:defRPr sz="1500" b="1" i="0">
                <a:solidFill>
                  <a:srgbClr val="FFFFFF"/>
                </a:solidFill>
                <a:latin typeface="Calibri"/>
              </a:defRPr>
            </a:pPr>
            <a:r>
              <a:t>Ce Nu Merge Încă</a:t>
            </a:r>
          </a:p>
          <a:p>
            <a:pPr algn="l">
              <a:spcAft>
                <a:spcPts val="800"/>
              </a:spcAft>
            </a:pPr>
            <a:r>
              <a:rPr sz="1100" b="1">
                <a:solidFill>
                  <a:srgbClr val="FFFFFF"/>
                </a:solidFill>
                <a:latin typeface="Calibri"/>
              </a:rPr>
              <a:t>• Rulare SUMO Asincronă: </a:t>
            </a:r>
            <a:r>
              <a:rPr sz="1100" b="0">
                <a:solidFill>
                  <a:srgbClr val="E2E8F0"/>
                </a:solidFill>
                <a:latin typeface="Calibri"/>
              </a:rPr>
              <a:t>Simularea completă a întregului oraș durează 40-60s pe server; de aceea pe Web folosim modelul instant Webster.</a:t>
            </a:r>
          </a:p>
          <a:p>
            <a:pPr algn="l">
              <a:spcAft>
                <a:spcPts val="800"/>
              </a:spcAft>
            </a:pPr>
            <a:r>
              <a:rPr sz="1100" b="1">
                <a:solidFill>
                  <a:srgbClr val="FFFFFF"/>
                </a:solidFill>
                <a:latin typeface="Calibri"/>
              </a:rPr>
              <a:t>• Date Pietonale OSM: </a:t>
            </a:r>
            <a:r>
              <a:rPr sz="1100" b="0">
                <a:solidFill>
                  <a:srgbClr val="E2E8F0"/>
                </a:solidFill>
                <a:latin typeface="Calibri"/>
              </a:rPr>
              <a:t>OpenStreetMap nu conține lățimea exactă a tuturor trotuarelor pe străzile secundare din Iași.</a:t>
            </a:r>
          </a:p>
          <a:p>
            <a:pPr algn="l">
              <a:spcAft>
                <a:spcPts val="0"/>
              </a:spcAft>
            </a:pPr>
            <a:r>
              <a:rPr sz="1100" b="1">
                <a:solidFill>
                  <a:srgbClr val="FFFFFF"/>
                </a:solidFill>
                <a:latin typeface="Calibri"/>
              </a:rPr>
              <a:t>• Roadmap: </a:t>
            </a:r>
            <a:r>
              <a:rPr sz="1100" b="0">
                <a:solidFill>
                  <a:srgbClr val="E2E8F0"/>
                </a:solidFill>
                <a:latin typeface="Calibri"/>
              </a:rPr>
              <a:t>Cluster distribuit de simulare și cartografiere crowdsourced Mapillary în faza a doua.</a:t>
            </a:r>
          </a:p>
        </p:txBody>
      </p:sp>
      <p:sp>
        <p:nvSpPr>
          <p:cNvPr id="9" name="Rounded Rectangle 8"/>
          <p:cNvSpPr/>
          <p:nvPr/>
        </p:nvSpPr>
        <p:spPr>
          <a:xfrm>
            <a:off x="3483864" y="1691640"/>
            <a:ext cx="2450592" cy="46634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3864" y="1691640"/>
            <a:ext cx="2450592" cy="4663440"/>
          </a:xfrm>
          <a:prstGeom prst="rect">
            <a:avLst/>
          </a:prstGeom>
          <a:noFill/>
        </p:spPr>
        <p:txBody>
          <a:bodyPr wrap="square" lIns="164592" tIns="164592" rIns="164592" bIns="164592">
            <a:spAutoFit/>
          </a:bodyPr>
          <a:lstStyle/>
          <a:p>
            <a:pPr algn="l">
              <a:spcAft>
                <a:spcPts val="400"/>
              </a:spcAft>
              <a:defRPr sz="1100" b="1" i="0">
                <a:solidFill>
                  <a:srgbClr val="38BDF8"/>
                </a:solidFill>
                <a:latin typeface="Calibri"/>
              </a:defRPr>
            </a:pPr>
            <a:r>
              <a:t>ANEXA B</a:t>
            </a:r>
          </a:p>
          <a:p>
            <a:pPr algn="l">
              <a:spcAft>
                <a:spcPts val="1000"/>
              </a:spcAft>
              <a:defRPr sz="1500" b="1" i="0">
                <a:solidFill>
                  <a:srgbClr val="FFFFFF"/>
                </a:solidFill>
                <a:latin typeface="Calibri"/>
              </a:defRPr>
            </a:pPr>
            <a:r>
              <a:t>Detalii Tehnice Stack</a:t>
            </a:r>
          </a:p>
          <a:p>
            <a:pPr algn="l">
              <a:spcAft>
                <a:spcPts val="800"/>
              </a:spcAft>
            </a:pPr>
            <a:r>
              <a:rPr sz="1100" b="1">
                <a:solidFill>
                  <a:srgbClr val="FFFFFF"/>
                </a:solidFill>
                <a:latin typeface="Calibri"/>
              </a:rPr>
              <a:t>• Frontend Web: </a:t>
            </a:r>
            <a:r>
              <a:rPr sz="1100" b="0">
                <a:solidFill>
                  <a:srgbClr val="E2E8F0"/>
                </a:solidFill>
                <a:latin typeface="Calibri"/>
              </a:rPr>
              <a:t>Next.js 14 + MapLibre GL 3D + Tailwind CSS + shadcn/ui.</a:t>
            </a:r>
          </a:p>
          <a:p>
            <a:pPr algn="l">
              <a:spcAft>
                <a:spcPts val="800"/>
              </a:spcAft>
            </a:pPr>
            <a:r>
              <a:rPr sz="1100" b="1">
                <a:solidFill>
                  <a:srgbClr val="FFFFFF"/>
                </a:solidFill>
                <a:latin typeface="Calibri"/>
              </a:rPr>
              <a:t>• Mobile Client: </a:t>
            </a:r>
            <a:r>
              <a:rPr sz="1100" b="0">
                <a:solidFill>
                  <a:srgbClr val="E2E8F0"/>
                </a:solidFill>
                <a:latin typeface="Calibri"/>
              </a:rPr>
              <a:t>Expo / React Native pentru Android.</a:t>
            </a:r>
          </a:p>
          <a:p>
            <a:pPr algn="l">
              <a:spcAft>
                <a:spcPts val="800"/>
              </a:spcAft>
            </a:pPr>
            <a:r>
              <a:rPr sz="1100" b="1">
                <a:solidFill>
                  <a:srgbClr val="FFFFFF"/>
                </a:solidFill>
                <a:latin typeface="Calibri"/>
              </a:rPr>
              <a:t>• Backend API: </a:t>
            </a:r>
            <a:r>
              <a:rPr sz="1100" b="0">
                <a:solidFill>
                  <a:srgbClr val="E2E8F0"/>
                </a:solidFill>
                <a:latin typeface="Calibri"/>
              </a:rPr>
              <a:t>FastAPI + Python 3.13 + Pydantic v2 strict.</a:t>
            </a:r>
          </a:p>
          <a:p>
            <a:pPr algn="l">
              <a:spcAft>
                <a:spcPts val="0"/>
              </a:spcAft>
            </a:pPr>
            <a:r>
              <a:rPr sz="1100" b="1">
                <a:solidFill>
                  <a:srgbClr val="FFFFFF"/>
                </a:solidFill>
                <a:latin typeface="Calibri"/>
              </a:rPr>
              <a:t>• Micro-Simulare: </a:t>
            </a:r>
            <a:r>
              <a:rPr sz="1100" b="0">
                <a:solidFill>
                  <a:srgbClr val="E2E8F0"/>
                </a:solidFill>
                <a:latin typeface="Calibri"/>
              </a:rPr>
              <a:t>Eclipse SUMO 1.28.0 TraCI + OSMnx 1.9.</a:t>
            </a:r>
          </a:p>
        </p:txBody>
      </p:sp>
      <p:sp>
        <p:nvSpPr>
          <p:cNvPr id="11" name="Rounded Rectangle 10"/>
          <p:cNvSpPr/>
          <p:nvPr/>
        </p:nvSpPr>
        <p:spPr>
          <a:xfrm>
            <a:off x="6236208" y="1691640"/>
            <a:ext cx="2450592" cy="46634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36208" y="1691640"/>
            <a:ext cx="2450592" cy="4663440"/>
          </a:xfrm>
          <a:prstGeom prst="rect">
            <a:avLst/>
          </a:prstGeom>
          <a:noFill/>
        </p:spPr>
        <p:txBody>
          <a:bodyPr wrap="square" lIns="164592" tIns="164592" rIns="164592" bIns="164592">
            <a:spAutoFit/>
          </a:bodyPr>
          <a:lstStyle/>
          <a:p>
            <a:pPr algn="l">
              <a:spcAft>
                <a:spcPts val="400"/>
              </a:spcAft>
              <a:defRPr sz="1100" b="1" i="0">
                <a:solidFill>
                  <a:srgbClr val="FBBF24"/>
                </a:solidFill>
                <a:latin typeface="Calibri"/>
              </a:defRPr>
            </a:pPr>
            <a:r>
              <a:t>ANEXA C</a:t>
            </a:r>
          </a:p>
          <a:p>
            <a:pPr algn="l">
              <a:spcAft>
                <a:spcPts val="1000"/>
              </a:spcAft>
              <a:defRPr sz="1500" b="1" i="0">
                <a:solidFill>
                  <a:srgbClr val="FFFFFF"/>
                </a:solidFill>
                <a:latin typeface="Calibri"/>
              </a:defRPr>
            </a:pPr>
            <a:r>
              <a:t>Dovezile Complete</a:t>
            </a:r>
          </a:p>
          <a:p>
            <a:pPr algn="l">
              <a:spcAft>
                <a:spcPts val="800"/>
              </a:spcAft>
            </a:pPr>
            <a:r>
              <a:rPr sz="1100" b="1">
                <a:solidFill>
                  <a:srgbClr val="FFFFFF"/>
                </a:solidFill>
                <a:latin typeface="Calibri"/>
              </a:rPr>
              <a:t>• Rapoarte Oficiale: </a:t>
            </a:r>
            <a:r>
              <a:rPr sz="1100" b="0">
                <a:solidFill>
                  <a:srgbClr val="E2E8F0"/>
                </a:solidFill>
                <a:latin typeface="Calibri"/>
              </a:rPr>
              <a:t>PMUD Iași (2023) · TomTom Traffic Index Report (2024) · Planul Integrat de Calitate a Aerului Iași (2024).</a:t>
            </a:r>
          </a:p>
          <a:p>
            <a:pPr algn="l">
              <a:spcAft>
                <a:spcPts val="0"/>
              </a:spcAft>
            </a:pPr>
            <a:r>
              <a:rPr sz="1100" b="1">
                <a:solidFill>
                  <a:srgbClr val="FFFFFF"/>
                </a:solidFill>
                <a:latin typeface="Calibri"/>
              </a:rPr>
              <a:t>• Comparație Costuri: </a:t>
            </a:r>
            <a:r>
              <a:rPr sz="1100" b="0">
                <a:solidFill>
                  <a:srgbClr val="E2E8F0"/>
                </a:solidFill>
                <a:latin typeface="Calibri"/>
              </a:rPr>
              <a:t>Consultanță clasică (50k€, 18 luni) vs. SCADA rigid (1M€+, fără model GIS) vs. ARTERIA (18k€/an SaaS, 5 secunde).</a:t>
            </a:r>
          </a:p>
        </p:txBody>
      </p:sp>
      <p:sp>
        <p:nvSpPr>
          <p:cNvPr id="13" name="Rounded Rectangle 12"/>
          <p:cNvSpPr/>
          <p:nvPr/>
        </p:nvSpPr>
        <p:spPr>
          <a:xfrm>
            <a:off x="8988552" y="1691640"/>
            <a:ext cx="2450592" cy="4663440"/>
          </a:xfrm>
          <a:prstGeom prst="roundRect">
            <a:avLst/>
          </a:prstGeom>
          <a:solidFill>
            <a:srgbClr val="152E4D"/>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88552" y="1691640"/>
            <a:ext cx="2450592" cy="4663440"/>
          </a:xfrm>
          <a:prstGeom prst="rect">
            <a:avLst/>
          </a:prstGeom>
          <a:noFill/>
        </p:spPr>
        <p:txBody>
          <a:bodyPr wrap="square" lIns="164592" tIns="164592" rIns="164592" bIns="164592">
            <a:spAutoFit/>
          </a:bodyPr>
          <a:lstStyle/>
          <a:p>
            <a:pPr algn="l">
              <a:spcAft>
                <a:spcPts val="400"/>
              </a:spcAft>
              <a:defRPr sz="1100" b="1" i="0">
                <a:solidFill>
                  <a:srgbClr val="34D399"/>
                </a:solidFill>
                <a:latin typeface="Calibri"/>
              </a:defRPr>
            </a:pPr>
            <a:r>
              <a:t>ANEXA D</a:t>
            </a:r>
          </a:p>
          <a:p>
            <a:pPr algn="l">
              <a:spcAft>
                <a:spcPts val="1000"/>
              </a:spcAft>
              <a:defRPr sz="1500" b="1" i="0">
                <a:solidFill>
                  <a:srgbClr val="FFFFFF"/>
                </a:solidFill>
                <a:latin typeface="Calibri"/>
              </a:defRPr>
            </a:pPr>
            <a:r>
              <a:t>Calculele Financiare</a:t>
            </a:r>
          </a:p>
          <a:p>
            <a:pPr algn="l">
              <a:spcAft>
                <a:spcPts val="800"/>
              </a:spcAft>
            </a:pPr>
            <a:r>
              <a:rPr sz="1100" b="1">
                <a:solidFill>
                  <a:srgbClr val="FFFFFF"/>
                </a:solidFill>
                <a:latin typeface="Calibri"/>
              </a:rPr>
              <a:t>• Calcul SAM: </a:t>
            </a:r>
            <a:r>
              <a:rPr sz="1100" b="0">
                <a:solidFill>
                  <a:srgbClr val="E2E8F0"/>
                </a:solidFill>
                <a:latin typeface="Calibri"/>
              </a:rPr>
              <a:t>40 orașe reședință × 1.500€/lună × 12 luni = 720.000€ ARR în România.</a:t>
            </a:r>
          </a:p>
          <a:p>
            <a:pPr algn="l">
              <a:spcAft>
                <a:spcPts val="800"/>
              </a:spcAft>
            </a:pPr>
            <a:r>
              <a:rPr sz="1100" b="1">
                <a:solidFill>
                  <a:srgbClr val="FFFFFF"/>
                </a:solidFill>
                <a:latin typeface="Calibri"/>
              </a:rPr>
              <a:t>• Achiziție Directă: </a:t>
            </a:r>
            <a:r>
              <a:rPr sz="1100" b="0">
                <a:solidFill>
                  <a:srgbClr val="E2E8F0"/>
                </a:solidFill>
                <a:latin typeface="Calibri"/>
              </a:rPr>
              <a:t>18.000€/an este mult sub pragul legal din România (270.120 RON = ~54.000€).</a:t>
            </a:r>
          </a:p>
          <a:p>
            <a:pPr algn="l">
              <a:spcAft>
                <a:spcPts val="0"/>
              </a:spcAft>
            </a:pPr>
            <a:r>
              <a:rPr sz="1100" b="1">
                <a:solidFill>
                  <a:srgbClr val="FFFFFF"/>
                </a:solidFill>
                <a:latin typeface="Calibri"/>
              </a:rPr>
              <a:t>• Cost Server: </a:t>
            </a:r>
            <a:r>
              <a:rPr sz="1100" b="0">
                <a:solidFill>
                  <a:srgbClr val="34D399"/>
                </a:solidFill>
                <a:latin typeface="Calibri"/>
              </a:rPr>
              <a:t>~540€/an per oraș -&gt; Marjă brută &gt; 95%.</a:t>
            </a:r>
          </a:p>
        </p:txBody>
      </p:sp>
    </p:spTree>
  </p:cSld>
  <p:clrMapOvr>
    <a:masterClrMapping/>
  </p:clrMapOvr>
  <p:transition>
    <p:dissolv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SESIUNEA DE Q&amp;A</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Q&amp;A · PREGĂTIRE</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Șapte Întrebări Cheie &amp; Răspunsurile Noastre Clare</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Suntem pregătiți să apărăm fiecare decizie tehnică, arhitecturală și economică din fața juriului.</a:t>
            </a:r>
          </a:p>
        </p:txBody>
      </p:sp>
      <p:sp>
        <p:nvSpPr>
          <p:cNvPr id="7" name="Rounded Rectangle 6"/>
          <p:cNvSpPr/>
          <p:nvPr/>
        </p:nvSpPr>
        <p:spPr>
          <a:xfrm>
            <a:off x="731520" y="1691640"/>
            <a:ext cx="10725912" cy="603504"/>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10725912" cy="603504"/>
          </a:xfrm>
          <a:prstGeom prst="rect">
            <a:avLst/>
          </a:prstGeom>
          <a:noFill/>
        </p:spPr>
        <p:txBody>
          <a:bodyPr wrap="square" lIns="109728" tIns="109728" rIns="109728" bIns="109728">
            <a:spAutoFit/>
          </a:bodyPr>
          <a:lstStyle/>
          <a:p>
            <a:pPr>
              <a:spcAft>
                <a:spcPts val="0"/>
              </a:spcAft>
            </a:pPr>
            <a:r>
              <a:rPr sz="1200" b="1">
                <a:solidFill>
                  <a:srgbClr val="38BDF8"/>
                </a:solidFill>
                <a:latin typeface="Calibri"/>
              </a:rPr>
              <a:t>„Cine e utilizatorul real?”  ➔  </a:t>
            </a:r>
            <a:r>
              <a:rPr sz="1200">
                <a:solidFill>
                  <a:srgbClr val="E2E8F0"/>
                </a:solidFill>
                <a:latin typeface="Calibri"/>
              </a:rPr>
              <a:t>Inginerul din Direcția Tehnică a Primăriei Iași și dispeceratul CTP Iași (operatorul de transport).   </a:t>
            </a:r>
            <a:r>
              <a:rPr sz="1100" b="1">
                <a:solidFill>
                  <a:srgbClr val="64748B"/>
                </a:solidFill>
                <a:latin typeface="Calibri"/>
              </a:rPr>
              <a:t>[Slide 02 &amp; 07]</a:t>
            </a:r>
          </a:p>
        </p:txBody>
      </p:sp>
      <p:sp>
        <p:nvSpPr>
          <p:cNvPr id="9" name="Rounded Rectangle 8"/>
          <p:cNvSpPr/>
          <p:nvPr/>
        </p:nvSpPr>
        <p:spPr>
          <a:xfrm>
            <a:off x="731520" y="2368296"/>
            <a:ext cx="10725912" cy="603504"/>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68296"/>
            <a:ext cx="10725912" cy="603504"/>
          </a:xfrm>
          <a:prstGeom prst="rect">
            <a:avLst/>
          </a:prstGeom>
          <a:noFill/>
        </p:spPr>
        <p:txBody>
          <a:bodyPr wrap="square" lIns="109728" tIns="109728" rIns="109728" bIns="109728">
            <a:spAutoFit/>
          </a:bodyPr>
          <a:lstStyle/>
          <a:p>
            <a:pPr>
              <a:spcAft>
                <a:spcPts val="0"/>
              </a:spcAft>
            </a:pPr>
            <a:r>
              <a:rPr sz="1200" b="1">
                <a:solidFill>
                  <a:srgbClr val="FFFFFF"/>
                </a:solidFill>
                <a:latin typeface="Calibri"/>
              </a:rPr>
              <a:t>„Există deja alternative?”  ➔  </a:t>
            </a:r>
            <a:r>
              <a:rPr sz="1200">
                <a:solidFill>
                  <a:srgbClr val="E2E8F0"/>
                </a:solidFill>
                <a:latin typeface="Calibri"/>
              </a:rPr>
              <a:t>Da: studii statice lente (50k€, 18 luni) și sisteme SCADA de 1M€. Noi oferim simulare instant la 18k€/an.   </a:t>
            </a:r>
            <a:r>
              <a:rPr sz="1100" b="1">
                <a:solidFill>
                  <a:srgbClr val="64748B"/>
                </a:solidFill>
                <a:latin typeface="Calibri"/>
              </a:rPr>
              <a:t>[Slide 03]</a:t>
            </a:r>
          </a:p>
        </p:txBody>
      </p:sp>
      <p:sp>
        <p:nvSpPr>
          <p:cNvPr id="11" name="Rounded Rectangle 10"/>
          <p:cNvSpPr/>
          <p:nvPr/>
        </p:nvSpPr>
        <p:spPr>
          <a:xfrm>
            <a:off x="731520" y="3044952"/>
            <a:ext cx="10725912" cy="603504"/>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044952"/>
            <a:ext cx="10725912" cy="603504"/>
          </a:xfrm>
          <a:prstGeom prst="rect">
            <a:avLst/>
          </a:prstGeom>
          <a:noFill/>
        </p:spPr>
        <p:txBody>
          <a:bodyPr wrap="square" lIns="109728" tIns="109728" rIns="109728" bIns="109728">
            <a:spAutoFit/>
          </a:bodyPr>
          <a:lstStyle/>
          <a:p>
            <a:pPr>
              <a:spcAft>
                <a:spcPts val="0"/>
              </a:spcAft>
            </a:pPr>
            <a:r>
              <a:rPr sz="1200" b="1">
                <a:solidFill>
                  <a:srgbClr val="FBBF24"/>
                </a:solidFill>
                <a:latin typeface="Calibri"/>
              </a:rPr>
              <a:t>„Cât din cod este scris de AI?”  ➔  </a:t>
            </a:r>
            <a:r>
              <a:rPr sz="1200">
                <a:solidFill>
                  <a:srgbClr val="E2E8F0"/>
                </a:solidFill>
                <a:latin typeface="Calibri"/>
              </a:rPr>
              <a:t>Boilerplate-ul și mock-urile; arhitectura hibridă, modelul Webster și integrarea SUMO sunt 100% ale noastre.   </a:t>
            </a:r>
            <a:r>
              <a:rPr sz="1100" b="1">
                <a:solidFill>
                  <a:srgbClr val="64748B"/>
                </a:solidFill>
                <a:latin typeface="Calibri"/>
              </a:rPr>
              <a:t>[Slide 06]</a:t>
            </a:r>
          </a:p>
        </p:txBody>
      </p:sp>
      <p:sp>
        <p:nvSpPr>
          <p:cNvPr id="13" name="Rounded Rectangle 12"/>
          <p:cNvSpPr/>
          <p:nvPr/>
        </p:nvSpPr>
        <p:spPr>
          <a:xfrm>
            <a:off x="731520" y="3721608"/>
            <a:ext cx="10725912" cy="603504"/>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721608"/>
            <a:ext cx="10725912" cy="603504"/>
          </a:xfrm>
          <a:prstGeom prst="rect">
            <a:avLst/>
          </a:prstGeom>
          <a:noFill/>
        </p:spPr>
        <p:txBody>
          <a:bodyPr wrap="square" lIns="109728" tIns="109728" rIns="109728" bIns="109728">
            <a:spAutoFit/>
          </a:bodyPr>
          <a:lstStyle/>
          <a:p>
            <a:pPr>
              <a:spcAft>
                <a:spcPts val="0"/>
              </a:spcAft>
            </a:pPr>
            <a:r>
              <a:rPr sz="1200" b="1">
                <a:solidFill>
                  <a:srgbClr val="F87171"/>
                </a:solidFill>
                <a:latin typeface="Calibri"/>
              </a:rPr>
              <a:t>„Ce nu merge încă în produs?”  ➔  </a:t>
            </a:r>
            <a:r>
              <a:rPr sz="1200">
                <a:solidFill>
                  <a:srgbClr val="E2E8F0"/>
                </a:solidFill>
                <a:latin typeface="Calibri"/>
              </a:rPr>
              <a:t>Simularea pe tot municipiul durează 40-60s în SUMO; datele pietonale OSM pe străzi secundare sunt incomplete.   </a:t>
            </a:r>
            <a:r>
              <a:rPr sz="1100" b="1">
                <a:solidFill>
                  <a:srgbClr val="64748B"/>
                </a:solidFill>
                <a:latin typeface="Calibri"/>
              </a:rPr>
              <a:t>[Anexa A]</a:t>
            </a:r>
          </a:p>
        </p:txBody>
      </p:sp>
      <p:sp>
        <p:nvSpPr>
          <p:cNvPr id="15" name="Rounded Rectangle 14"/>
          <p:cNvSpPr/>
          <p:nvPr/>
        </p:nvSpPr>
        <p:spPr>
          <a:xfrm>
            <a:off x="731520" y="4398264"/>
            <a:ext cx="10725912" cy="603504"/>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398264"/>
            <a:ext cx="10725912" cy="603504"/>
          </a:xfrm>
          <a:prstGeom prst="rect">
            <a:avLst/>
          </a:prstGeom>
          <a:noFill/>
        </p:spPr>
        <p:txBody>
          <a:bodyPr wrap="square" lIns="109728" tIns="109728" rIns="109728" bIns="109728">
            <a:spAutoFit/>
          </a:bodyPr>
          <a:lstStyle/>
          <a:p>
            <a:pPr>
              <a:spcAft>
                <a:spcPts val="0"/>
              </a:spcAft>
            </a:pPr>
            <a:r>
              <a:rPr sz="1200" b="1">
                <a:solidFill>
                  <a:srgbClr val="34D399"/>
                </a:solidFill>
                <a:latin typeface="Calibri"/>
              </a:rPr>
              <a:t>„Ce măsurați concret în pilot?”  ➔  </a:t>
            </a:r>
            <a:r>
              <a:rPr sz="1200">
                <a:solidFill>
                  <a:srgbClr val="E2E8F0"/>
                </a:solidFill>
                <a:latin typeface="Calibri"/>
              </a:rPr>
              <a:t>Timpul de parcurs al autobuzului 28 CTP pe tronsonul Socola – Podu Roșu în 30 de zile de pilot.   </a:t>
            </a:r>
            <a:r>
              <a:rPr sz="1100" b="1">
                <a:solidFill>
                  <a:srgbClr val="64748B"/>
                </a:solidFill>
                <a:latin typeface="Calibri"/>
              </a:rPr>
              <a:t>[Slide 10]</a:t>
            </a:r>
          </a:p>
        </p:txBody>
      </p:sp>
      <p:sp>
        <p:nvSpPr>
          <p:cNvPr id="17" name="Rounded Rectangle 16"/>
          <p:cNvSpPr/>
          <p:nvPr/>
        </p:nvSpPr>
        <p:spPr>
          <a:xfrm>
            <a:off x="731520" y="5074920"/>
            <a:ext cx="10725912" cy="603504"/>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074920"/>
            <a:ext cx="10725912" cy="603504"/>
          </a:xfrm>
          <a:prstGeom prst="rect">
            <a:avLst/>
          </a:prstGeom>
          <a:noFill/>
        </p:spPr>
        <p:txBody>
          <a:bodyPr wrap="square" lIns="109728" tIns="109728" rIns="109728" bIns="109728">
            <a:spAutoFit/>
          </a:bodyPr>
          <a:lstStyle/>
          <a:p>
            <a:pPr>
              <a:spcAft>
                <a:spcPts val="0"/>
              </a:spcAft>
            </a:pPr>
            <a:r>
              <a:rPr sz="1200" b="1">
                <a:solidFill>
                  <a:srgbClr val="FFFFFF"/>
                </a:solidFill>
                <a:latin typeface="Calibri"/>
              </a:rPr>
              <a:t>„Cine plătește și din ce fonduri?”  ➔  </a:t>
            </a:r>
            <a:r>
              <a:rPr sz="1200">
                <a:solidFill>
                  <a:srgbClr val="E2E8F0"/>
                </a:solidFill>
                <a:latin typeface="Calibri"/>
              </a:rPr>
              <a:t>Primăria Iași prin achiziție directă (18.000€/an, sub pragul legal de 54.000€), din bugete de mobilitate inteligentă.   </a:t>
            </a:r>
            <a:r>
              <a:rPr sz="1100" b="1">
                <a:solidFill>
                  <a:srgbClr val="64748B"/>
                </a:solidFill>
                <a:latin typeface="Calibri"/>
              </a:rPr>
              <a:t>[Slide 07]</a:t>
            </a:r>
          </a:p>
        </p:txBody>
      </p:sp>
      <p:sp>
        <p:nvSpPr>
          <p:cNvPr id="19" name="Rounded Rectangle 18"/>
          <p:cNvSpPr/>
          <p:nvPr/>
        </p:nvSpPr>
        <p:spPr>
          <a:xfrm>
            <a:off x="731520" y="5751576"/>
            <a:ext cx="10725912" cy="603504"/>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5751576"/>
            <a:ext cx="10725912" cy="603504"/>
          </a:xfrm>
          <a:prstGeom prst="rect">
            <a:avLst/>
          </a:prstGeom>
          <a:noFill/>
        </p:spPr>
        <p:txBody>
          <a:bodyPr wrap="square" lIns="109728" tIns="109728" rIns="109728" bIns="109728">
            <a:spAutoFit/>
          </a:bodyPr>
          <a:lstStyle/>
          <a:p>
            <a:pPr>
              <a:spcAft>
                <a:spcPts val="0"/>
              </a:spcAft>
            </a:pPr>
            <a:r>
              <a:rPr sz="1200" b="1">
                <a:solidFill>
                  <a:srgbClr val="38BDF8"/>
                </a:solidFill>
                <a:latin typeface="Calibri"/>
              </a:rPr>
              <a:t>„De ce voi și ce faceți de luni?”  ➔  </a:t>
            </a:r>
            <a:r>
              <a:rPr sz="1200">
                <a:solidFill>
                  <a:srgbClr val="E2E8F0"/>
                </a:solidFill>
                <a:latin typeface="Calibri"/>
              </a:rPr>
              <a:t>Iustin Fagateanu &amp; Alex Pintilie: echipă tehnică complementară, continuăm full-time pentru pilotul Podu Roșu.   </a:t>
            </a:r>
            <a:r>
              <a:rPr sz="1100" b="1">
                <a:solidFill>
                  <a:srgbClr val="64748B"/>
                </a:solidFill>
                <a:latin typeface="Calibri"/>
              </a:rPr>
              <a:t>[Slide 09]</a:t>
            </a:r>
          </a:p>
        </p:txBody>
      </p:sp>
    </p:spTree>
  </p:cSld>
  <p:clrMapOvr>
    <a:masterClrMapping/>
  </p:clrMapOvr>
  <p:transition>
    <p:dissolv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92B3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9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8229600" cy="256032"/>
          </a:xfrm>
          <a:prstGeom prst="rect">
            <a:avLst/>
          </a:prstGeom>
          <a:noFill/>
        </p:spPr>
        <p:txBody>
          <a:bodyPr wrap="square" lIns="0" tIns="0" rIns="0" bIns="0">
            <a:spAutoFit/>
          </a:bodyPr>
          <a:lstStyle/>
          <a:p>
            <a:pPr>
              <a:defRPr sz="1100" b="1">
                <a:solidFill>
                  <a:srgbClr val="38BDF8"/>
                </a:solidFill>
                <a:latin typeface="Calibri"/>
              </a:defRPr>
            </a:pPr>
            <a:r>
              <a:t>ARTERIA · LISTA DE VERIFICARE</a:t>
            </a:r>
          </a:p>
        </p:txBody>
      </p:sp>
      <p:sp>
        <p:nvSpPr>
          <p:cNvPr id="4" name="TextBox 3"/>
          <p:cNvSpPr txBox="1"/>
          <p:nvPr/>
        </p:nvSpPr>
        <p:spPr>
          <a:xfrm>
            <a:off x="8686800" y="457200"/>
            <a:ext cx="2770632" cy="256032"/>
          </a:xfrm>
          <a:prstGeom prst="rect">
            <a:avLst/>
          </a:prstGeom>
          <a:noFill/>
        </p:spPr>
        <p:txBody>
          <a:bodyPr wrap="square" lIns="0" tIns="0" rIns="0" bIns="0">
            <a:spAutoFit/>
          </a:bodyPr>
          <a:lstStyle/>
          <a:p>
            <a:pPr algn="r">
              <a:defRPr sz="1000" b="1">
                <a:solidFill>
                  <a:srgbClr val="64748B"/>
                </a:solidFill>
                <a:latin typeface="Calibri"/>
              </a:defRPr>
            </a:pPr>
            <a:r>
              <a:t>CHECKLIST FINAL</a:t>
            </a:r>
          </a:p>
        </p:txBody>
      </p:sp>
      <p:sp>
        <p:nvSpPr>
          <p:cNvPr id="5" name="TextBox 4"/>
          <p:cNvSpPr txBox="1"/>
          <p:nvPr/>
        </p:nvSpPr>
        <p:spPr>
          <a:xfrm>
            <a:off x="731520" y="694944"/>
            <a:ext cx="10725912" cy="438912"/>
          </a:xfrm>
          <a:prstGeom prst="rect">
            <a:avLst/>
          </a:prstGeom>
          <a:noFill/>
        </p:spPr>
        <p:txBody>
          <a:bodyPr wrap="square" lIns="0" tIns="0" rIns="0" bIns="0">
            <a:spAutoFit/>
          </a:bodyPr>
          <a:lstStyle/>
          <a:p>
            <a:pPr>
              <a:defRPr sz="2500" b="1">
                <a:solidFill>
                  <a:srgbClr val="FFFFFF"/>
                </a:solidFill>
                <a:latin typeface="Calibri"/>
              </a:defRPr>
            </a:pPr>
            <a:r>
              <a:t>Ultimul Lucru: Pregătirea Înainte de Scenă</a:t>
            </a:r>
          </a:p>
        </p:txBody>
      </p:sp>
      <p:sp>
        <p:nvSpPr>
          <p:cNvPr id="6" name="TextBox 5"/>
          <p:cNvSpPr txBox="1"/>
          <p:nvPr/>
        </p:nvSpPr>
        <p:spPr>
          <a:xfrm>
            <a:off x="731520" y="1152144"/>
            <a:ext cx="10725912" cy="347472"/>
          </a:xfrm>
          <a:prstGeom prst="rect">
            <a:avLst/>
          </a:prstGeom>
          <a:noFill/>
        </p:spPr>
        <p:txBody>
          <a:bodyPr wrap="square" lIns="0" tIns="0" rIns="0" bIns="0">
            <a:spAutoFit/>
          </a:bodyPr>
          <a:lstStyle/>
          <a:p>
            <a:pPr>
              <a:defRPr sz="1300">
                <a:solidFill>
                  <a:srgbClr val="94A3B8"/>
                </a:solidFill>
                <a:latin typeface="Calibri"/>
              </a:defRPr>
            </a:pPr>
            <a:r>
              <a:t>Checklist-ul esențial înainte de pitch: conținut validat, reguli de scenă și ce nu facem niciodată.</a:t>
            </a:r>
          </a:p>
        </p:txBody>
      </p:sp>
      <p:sp>
        <p:nvSpPr>
          <p:cNvPr id="7" name="Rounded Rectangle 6"/>
          <p:cNvSpPr/>
          <p:nvPr/>
        </p:nvSpPr>
        <p:spPr>
          <a:xfrm>
            <a:off x="731520" y="1691640"/>
            <a:ext cx="3364992" cy="46634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691640"/>
            <a:ext cx="3364992" cy="4663440"/>
          </a:xfrm>
          <a:prstGeom prst="rect">
            <a:avLst/>
          </a:prstGeom>
          <a:noFill/>
        </p:spPr>
        <p:txBody>
          <a:bodyPr wrap="square" lIns="201168" tIns="201168" rIns="201168" bIns="201168">
            <a:spAutoFit/>
          </a:bodyPr>
          <a:lstStyle/>
          <a:p>
            <a:pPr algn="l">
              <a:spcAft>
                <a:spcPts val="600"/>
              </a:spcAft>
              <a:defRPr sz="1100" b="1" i="0">
                <a:solidFill>
                  <a:srgbClr val="34D399"/>
                </a:solidFill>
                <a:latin typeface="Calibri"/>
              </a:defRPr>
            </a:pPr>
            <a:r>
              <a:t>CONȚINUT VALIDAT</a:t>
            </a:r>
          </a:p>
          <a:p>
            <a:pPr algn="l">
              <a:spcAft>
                <a:spcPts val="1200"/>
              </a:spcAft>
              <a:defRPr sz="1600" b="1" i="0">
                <a:solidFill>
                  <a:srgbClr val="FFFFFF"/>
                </a:solidFill>
                <a:latin typeface="Calibri"/>
              </a:defRPr>
            </a:pPr>
            <a:r>
              <a:t>Mesaj Clar &amp; Cifre Reale</a:t>
            </a:r>
          </a:p>
          <a:p>
            <a:pPr algn="l">
              <a:spcAft>
                <a:spcPts val="1000"/>
              </a:spcAft>
            </a:pPr>
            <a:r>
              <a:rPr sz="1200" b="1">
                <a:solidFill>
                  <a:srgbClr val="FFFFFF"/>
                </a:solidFill>
                <a:latin typeface="Calibri"/>
              </a:rPr>
              <a:t>✓ Problema într-o frază: </a:t>
            </a:r>
            <a:r>
              <a:rPr sz="1200" b="0">
                <a:solidFill>
                  <a:srgbClr val="E2E8F0"/>
                </a:solidFill>
                <a:latin typeface="Calibri"/>
              </a:rPr>
              <a:t>Om concret (inginerul de trafic), loc (Podu Roșu) și cost (42 min/zi).</a:t>
            </a:r>
          </a:p>
          <a:p>
            <a:pPr algn="l">
              <a:spcAft>
                <a:spcPts val="1000"/>
              </a:spcAft>
            </a:pPr>
            <a:r>
              <a:rPr sz="1200" b="1">
                <a:solidFill>
                  <a:srgbClr val="FFFFFF"/>
                </a:solidFill>
                <a:latin typeface="Calibri"/>
              </a:rPr>
              <a:t>✓ Surse oficiale pe slide: </a:t>
            </a:r>
            <a:r>
              <a:rPr sz="1200" b="0">
                <a:solidFill>
                  <a:srgbClr val="E2E8F0"/>
                </a:solidFill>
                <a:latin typeface="Calibri"/>
              </a:rPr>
              <a:t>PMUD Iași (2023), senzori trafic și TomTom Traffic Index 2024.</a:t>
            </a:r>
          </a:p>
          <a:p>
            <a:pPr algn="l">
              <a:spcAft>
                <a:spcPts val="1000"/>
              </a:spcAft>
            </a:pPr>
            <a:r>
              <a:rPr sz="1200" b="1">
                <a:solidFill>
                  <a:srgbClr val="FFFFFF"/>
                </a:solidFill>
                <a:latin typeface="Calibri"/>
              </a:rPr>
              <a:t>✓ Real vs. Simulat: </a:t>
            </a:r>
            <a:r>
              <a:rPr sz="1200" b="0">
                <a:solidFill>
                  <a:srgbClr val="E2E8F0"/>
                </a:solidFill>
                <a:latin typeface="Calibri"/>
              </a:rPr>
              <a:t>Declarat deschis și transparent, fără exagerări tehnice.</a:t>
            </a:r>
          </a:p>
          <a:p>
            <a:pPr algn="l">
              <a:spcAft>
                <a:spcPts val="0"/>
              </a:spcAft>
            </a:pPr>
            <a:r>
              <a:rPr sz="1200" b="1">
                <a:solidFill>
                  <a:srgbClr val="FFFFFF"/>
                </a:solidFill>
                <a:latin typeface="Calibri"/>
              </a:rPr>
              <a:t>✓ Cererea concretă: </a:t>
            </a:r>
            <a:r>
              <a:rPr sz="1200" b="0">
                <a:solidFill>
                  <a:srgbClr val="E2E8F0"/>
                </a:solidFill>
                <a:latin typeface="Calibri"/>
              </a:rPr>
              <a:t>Acord de pilot pe Podu Roșu din partea Primăriei Iași și acces la senzori.</a:t>
            </a:r>
          </a:p>
        </p:txBody>
      </p:sp>
      <p:sp>
        <p:nvSpPr>
          <p:cNvPr id="9" name="Rounded Rectangle 8"/>
          <p:cNvSpPr/>
          <p:nvPr/>
        </p:nvSpPr>
        <p:spPr>
          <a:xfrm>
            <a:off x="4407408" y="1691640"/>
            <a:ext cx="3364992" cy="4663440"/>
          </a:xfrm>
          <a:prstGeom prst="roundRect">
            <a:avLst/>
          </a:prstGeom>
          <a:solidFill>
            <a:srgbClr val="1E2D4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07408" y="1691640"/>
            <a:ext cx="3364992" cy="4663440"/>
          </a:xfrm>
          <a:prstGeom prst="rect">
            <a:avLst/>
          </a:prstGeom>
          <a:noFill/>
        </p:spPr>
        <p:txBody>
          <a:bodyPr wrap="square" lIns="201168" tIns="201168" rIns="201168" bIns="201168">
            <a:spAutoFit/>
          </a:bodyPr>
          <a:lstStyle/>
          <a:p>
            <a:pPr algn="l">
              <a:spcAft>
                <a:spcPts val="600"/>
              </a:spcAft>
              <a:defRPr sz="1100" b="1" i="0">
                <a:solidFill>
                  <a:srgbClr val="38BDF8"/>
                </a:solidFill>
                <a:latin typeface="Calibri"/>
              </a:defRPr>
            </a:pPr>
            <a:r>
              <a:t>REGULI PENTRU SCENĂ</a:t>
            </a:r>
          </a:p>
          <a:p>
            <a:pPr algn="l">
              <a:spcAft>
                <a:spcPts val="1200"/>
              </a:spcAft>
              <a:defRPr sz="1600" b="1" i="0">
                <a:solidFill>
                  <a:srgbClr val="FFFFFF"/>
                </a:solidFill>
                <a:latin typeface="Calibri"/>
              </a:defRPr>
            </a:pPr>
            <a:r>
              <a:t>Execuție Fără Greșeală</a:t>
            </a:r>
          </a:p>
          <a:p>
            <a:pPr algn="l">
              <a:spcAft>
                <a:spcPts val="1000"/>
              </a:spcAft>
            </a:pPr>
            <a:r>
              <a:rPr sz="1200" b="1">
                <a:solidFill>
                  <a:srgbClr val="FFFFFF"/>
                </a:solidFill>
                <a:latin typeface="Calibri"/>
              </a:rPr>
              <a:t>✓ Demo testat offline: </a:t>
            </a:r>
            <a:r>
              <a:rPr sz="1200" b="0">
                <a:solidFill>
                  <a:srgbClr val="E2E8F0"/>
                </a:solidFill>
                <a:latin typeface="Calibri"/>
              </a:rPr>
              <a:t>Înregistrare video de rezervă pregătită în caz de cădere internet.</a:t>
            </a:r>
          </a:p>
          <a:p>
            <a:pPr algn="l">
              <a:spcAft>
                <a:spcPts val="1000"/>
              </a:spcAft>
            </a:pPr>
            <a:r>
              <a:rPr sz="1200" b="1">
                <a:solidFill>
                  <a:srgbClr val="FFFFFF"/>
                </a:solidFill>
                <a:latin typeface="Calibri"/>
              </a:rPr>
              <a:t>✓ Cronometru strict: </a:t>
            </a:r>
            <a:r>
              <a:rPr sz="1200" b="0">
                <a:solidFill>
                  <a:srgbClr val="E2E8F0"/>
                </a:solidFill>
                <a:latin typeface="Calibri"/>
              </a:rPr>
              <a:t>Pitch repetat în 2:45 min (rezervă de 15 secunde pentru siguranță).</a:t>
            </a:r>
          </a:p>
          <a:p>
            <a:pPr algn="l">
              <a:spcAft>
                <a:spcPts val="1000"/>
              </a:spcAft>
            </a:pPr>
            <a:r>
              <a:rPr sz="1200" b="1">
                <a:solidFill>
                  <a:srgbClr val="FFFFFF"/>
                </a:solidFill>
                <a:latin typeface="Calibri"/>
              </a:rPr>
              <a:t>✓ Roluri clare: </a:t>
            </a:r>
            <a:r>
              <a:rPr sz="1200" b="0">
                <a:solidFill>
                  <a:srgbClr val="E2E8F0"/>
                </a:solidFill>
                <a:latin typeface="Calibri"/>
              </a:rPr>
              <a:t>Iustin Fagateanu prezintă produsul &amp; viziunea; Alex Pintilie răspunde la arhitectură și SUMO.</a:t>
            </a:r>
          </a:p>
          <a:p>
            <a:pPr algn="l">
              <a:spcAft>
                <a:spcPts val="0"/>
              </a:spcAft>
            </a:pPr>
            <a:r>
              <a:rPr sz="1200" b="1">
                <a:solidFill>
                  <a:srgbClr val="FFFFFF"/>
                </a:solidFill>
                <a:latin typeface="Calibri"/>
              </a:rPr>
              <a:t>✓ Păstrare calm: </a:t>
            </a:r>
            <a:r>
              <a:rPr sz="1200" b="0">
                <a:solidFill>
                  <a:srgbClr val="E2E8F0"/>
                </a:solidFill>
                <a:latin typeface="Calibri"/>
              </a:rPr>
              <a:t>La întrebări grele spunem „Iată cum validăm în pilot”, fără defensivitate.</a:t>
            </a:r>
          </a:p>
        </p:txBody>
      </p:sp>
      <p:sp>
        <p:nvSpPr>
          <p:cNvPr id="11" name="Rounded Rectangle 10"/>
          <p:cNvSpPr/>
          <p:nvPr/>
        </p:nvSpPr>
        <p:spPr>
          <a:xfrm>
            <a:off x="8083296" y="1691640"/>
            <a:ext cx="3364992" cy="4663440"/>
          </a:xfrm>
          <a:prstGeom prst="roundRect">
            <a:avLst/>
          </a:prstGeom>
          <a:solidFill>
            <a:srgbClr val="17223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83296" y="1691640"/>
            <a:ext cx="3364992" cy="4663440"/>
          </a:xfrm>
          <a:prstGeom prst="rect">
            <a:avLst/>
          </a:prstGeom>
          <a:noFill/>
        </p:spPr>
        <p:txBody>
          <a:bodyPr wrap="square" lIns="201168" tIns="201168" rIns="201168" bIns="201168">
            <a:spAutoFit/>
          </a:bodyPr>
          <a:lstStyle/>
          <a:p>
            <a:pPr algn="l">
              <a:spcAft>
                <a:spcPts val="600"/>
              </a:spcAft>
              <a:defRPr sz="1100" b="1" i="0">
                <a:solidFill>
                  <a:srgbClr val="F87171"/>
                </a:solidFill>
                <a:latin typeface="Calibri"/>
              </a:defRPr>
            </a:pPr>
            <a:r>
              <a:t>CE NU FACEM NICIODATĂ</a:t>
            </a:r>
          </a:p>
          <a:p>
            <a:pPr algn="l">
              <a:spcAft>
                <a:spcPts val="1200"/>
              </a:spcAft>
              <a:defRPr sz="1600" b="1" i="0">
                <a:solidFill>
                  <a:srgbClr val="FFFFFF"/>
                </a:solidFill>
                <a:latin typeface="Calibri"/>
              </a:defRPr>
            </a:pPr>
            <a:r>
              <a:t>Greșelile Care Costă Puncte</a:t>
            </a:r>
          </a:p>
          <a:p>
            <a:pPr algn="l">
              <a:spcAft>
                <a:spcPts val="1000"/>
              </a:spcAft>
            </a:pPr>
            <a:r>
              <a:rPr sz="1200" b="1">
                <a:solidFill>
                  <a:srgbClr val="F87171"/>
                </a:solidFill>
                <a:latin typeface="Calibri"/>
              </a:rPr>
              <a:t>✗ Nu începe cu echipa: </a:t>
            </a:r>
            <a:r>
              <a:rPr sz="1200" b="0">
                <a:solidFill>
                  <a:srgbClr val="E2E8F0"/>
                </a:solidFill>
                <a:latin typeface="Calibri"/>
              </a:rPr>
              <a:t>Juriul vrea să știe întâi ce problemă rezolvi și pe cine ajuți.</a:t>
            </a:r>
          </a:p>
          <a:p>
            <a:pPr algn="l">
              <a:spcAft>
                <a:spcPts val="1000"/>
              </a:spcAft>
            </a:pPr>
            <a:r>
              <a:rPr sz="1200" b="1">
                <a:solidFill>
                  <a:srgbClr val="F87171"/>
                </a:solidFill>
                <a:latin typeface="Calibri"/>
              </a:rPr>
              <a:t>✗ Nu citi slide-urile: </a:t>
            </a:r>
            <a:r>
              <a:rPr sz="1200" b="0">
                <a:solidFill>
                  <a:srgbClr val="E2E8F0"/>
                </a:solidFill>
                <a:latin typeface="Calibri"/>
              </a:rPr>
              <a:t>Textul e scheletul; tu aduci energia, contextul și povestea.</a:t>
            </a:r>
          </a:p>
          <a:p>
            <a:pPr algn="l">
              <a:spcAft>
                <a:spcPts val="1000"/>
              </a:spcAft>
            </a:pPr>
            <a:r>
              <a:rPr sz="1200" b="1">
                <a:solidFill>
                  <a:srgbClr val="F87171"/>
                </a:solidFill>
                <a:latin typeface="Calibri"/>
              </a:rPr>
              <a:t>✗ Nu spune «totul merge»: </a:t>
            </a:r>
            <a:r>
              <a:rPr sz="1200" b="0">
                <a:solidFill>
                  <a:srgbClr val="E2E8F0"/>
                </a:solidFill>
                <a:latin typeface="Calibri"/>
              </a:rPr>
              <a:t>Arată maturitate numind deschis ce mai e de optimizat în simulator.</a:t>
            </a:r>
          </a:p>
          <a:p>
            <a:pPr algn="l">
              <a:spcAft>
                <a:spcPts val="0"/>
              </a:spcAft>
            </a:pPr>
            <a:r>
              <a:rPr sz="1200" b="1">
                <a:solidFill>
                  <a:srgbClr val="F87171"/>
                </a:solidFill>
                <a:latin typeface="Calibri"/>
              </a:rPr>
              <a:t>✗ Nu încheia cu «Mulțumim»: </a:t>
            </a:r>
            <a:r>
              <a:rPr sz="1200" b="0">
                <a:solidFill>
                  <a:srgbClr val="E2E8F0"/>
                </a:solidFill>
                <a:latin typeface="Calibri"/>
              </a:rPr>
              <a:t>Ultimul cuvânt este cererea de pilot și viziunea matematică.</a:t>
            </a:r>
          </a:p>
        </p:txBody>
      </p:sp>
    </p:spTree>
  </p:cSld>
  <p:clrMapOvr>
    <a:masterClrMapping/>
  </p:clrMapOvr>
  <p:transition>
    <p:dissolv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4119</Words>
  <Application>Microsoft Office PowerPoint</Application>
  <PresentationFormat>Widescreen</PresentationFormat>
  <Paragraphs>423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Fira Code</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Pitch-ul tău, slide cu slide - template de pitch</dc:title>
  <dc:subject/>
  <dc:creator>Andrei Margelatu</dc:creator>
  <cp:keywords/>
  <dc:description>generated using python-pptx</dc:description>
  <cp:lastModifiedBy>Iustin Fagateanu</cp:lastModifiedBy>
  <cp:revision>2</cp:revision>
  <dcterms:created xsi:type="dcterms:W3CDTF">2013-01-27T09:14:16Z</dcterms:created>
  <dcterms:modified xsi:type="dcterms:W3CDTF">2026-10-17T20:49:13Z</dcterms:modified>
  <cp:category/>
  <dc:language>ro-RO</dc:language>
</cp:coreProperties>
</file>