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59000"/>
            <a:ext cx="3016250" cy="254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9850" y="1943100"/>
            <a:ext cx="2272201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50"/>
              </a:lnSpc>
            </a:pPr>
            <a:r>
              <a:rPr sz="800" b="0" i="0" lang="ro-RO" spc="80">
                <a:solidFill>
                  <a:srgbClr val="FF5640"/>
                </a:solidFill>
                <a:latin typeface="Fira Code" pitchFamily="49"/>
              </a:rPr>
              <a:t>HACKATHON · TEMPLATE DE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70574" y="2114550"/>
            <a:ext cx="6050852" cy="596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700"/>
              </a:lnSpc>
            </a:pPr>
            <a:r>
              <a:rPr sz="3600" b="1" i="0" lang="ro-RO">
                <a:solidFill>
                  <a:srgbClr val="FFFFFF"/>
                </a:solidFill>
                <a:latin typeface="IBM Plex Sans" pitchFamily="34"/>
              </a:rPr>
              <a:t>Pitch-ul tău, slide cu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8832" y="2794000"/>
            <a:ext cx="4974336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00"/>
              </a:lnSpc>
            </a:pPr>
            <a:r>
              <a:rPr sz="1200" b="0" i="0" lang="ro-RO">
                <a:solidFill>
                  <a:srgbClr val="D1D4D7"/>
                </a:solidFill>
                <a:latin typeface="IBM Plex Sans" pitchFamily="34"/>
              </a:rPr>
              <a:t>Ce trebuie să conțină prezentarea echipei tale: problema, demo-ul, business-ul și echipa.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0" y="3403600"/>
            <a:ext cx="609600" cy="2540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688530" y="3632200"/>
            <a:ext cx="281484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00"/>
              </a:lnSpc>
            </a:pPr>
            <a:r>
              <a:rPr sz="1200" b="0" i="1" lang="ro-RO">
                <a:solidFill>
                  <a:srgbClr val="FFFFFF"/>
                </a:solidFill>
                <a:latin typeface="IBM Plex Sans" pitchFamily="34"/>
              </a:rPr>
              <a:t>„Juriul nu vede codul. Vede 3 minute.”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8832" y="3911600"/>
            <a:ext cx="4974336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 lang="ro-RO">
                <a:solidFill>
                  <a:srgbClr val="FFFFFF"/>
                </a:solidFill>
                <a:latin typeface="IBM Plex Sans" pitchFamily="34"/>
              </a:rPr>
              <a:t>Fiecare slide-șablon răspunde la o singură întrebare a juriului. Completezi parantezele, ștergi ghidajul — rămâne pitch-ul tău.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2155" y="4432300"/>
            <a:ext cx="103840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50"/>
              </a:lnSpc>
            </a:pPr>
            <a:r>
              <a:rPr sz="900" b="1" i="0" lang="ro-RO">
                <a:solidFill>
                  <a:srgbClr val="BABFC3"/>
                </a:solidFill>
                <a:latin typeface="IBM Plex Sans" pitchFamily="34"/>
              </a:rPr>
              <a:t>Andrei Margelatu</a:t>
            </a:r>
          </a:p>
        </p:txBody>
      </p:sp>
      <p:pic>
        <p:nvPicPr>
          <p:cNvPr id="10" name="Picture 9" descr="slide1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441" y="4445000"/>
            <a:ext cx="101600" cy="1174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5048" y="4813300"/>
            <a:ext cx="310180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00"/>
              </a:lnSpc>
            </a:pPr>
            <a:r>
              <a:rPr sz="700" b="0" i="0" lang="ro-RO">
                <a:solidFill>
                  <a:srgbClr val="757F87"/>
                </a:solidFill>
                <a:latin typeface="Fira Code" pitchFamily="49"/>
              </a:rPr>
              <a:t>P · R · O · B · A — aceeași ordine, acum pe slide-uri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165225"/>
            <a:ext cx="118402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ÎNAINTE SĂ ÎNCEPI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311275"/>
            <a:ext cx="4480155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Trei pași. Apoi e pitch-ul tău.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717675"/>
            <a:ext cx="467603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Slide-urile marcate „Slide N din pitch” le copiezi. Restul te ajută să le umpli.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2041525"/>
            <a:ext cx="3759200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04800" y="2041525"/>
            <a:ext cx="25400" cy="142875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82600" y="2200275"/>
            <a:ext cx="246459" cy="22860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0813" y="2225675"/>
            <a:ext cx="700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259" y="2212975"/>
            <a:ext cx="1410021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Copiază structura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525712"/>
            <a:ext cx="3491103" cy="412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000" b="0" i="0" lang="ro-RO">
                <a:solidFill>
                  <a:srgbClr val="DEE0E2"/>
                </a:solidFill>
                <a:latin typeface="IBM Plex Sans" pitchFamily="34"/>
              </a:rPr>
              <a:t>Câte un slide al tău pentru fiecare slide-șablon, în aceeași ordine. Zece slide-uri, plus anexele.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6400" y="2041525"/>
            <a:ext cx="3759200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16400" y="2041525"/>
            <a:ext cx="25400" cy="142875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394200" y="2200275"/>
            <a:ext cx="246459" cy="22860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2413" y="2225675"/>
            <a:ext cx="700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6859" y="2212975"/>
            <a:ext cx="1871329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Înlocuiește parantezele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4200" y="2525712"/>
            <a:ext cx="3491103" cy="619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000" b="0" i="0" lang="ro-RO">
                <a:solidFill>
                  <a:srgbClr val="DEE0E2"/>
                </a:solidFill>
                <a:latin typeface="IBM Plex Sans" pitchFamily="34"/>
              </a:rPr>
              <a:t>Tot ce e între </a:t>
            </a:r>
            <a:r>
              <a:rPr sz="800" b="0" i="0" lang="ro-RO">
                <a:solidFill>
                  <a:srgbClr val="E15140"/>
                </a:solidFill>
                <a:highlight>
                  <a:srgbClr val="3A3941"/>
                </a:highlight>
                <a:latin typeface="Fira Code" pitchFamily="49"/>
              </a:rPr>
              <a:t>[PARANTEZE]</a:t>
            </a:r>
            <a:r>
              <a:rPr sz="1000" b="0" i="0" lang="ro-RO">
                <a:solidFill>
                  <a:srgbClr val="DEE0E2"/>
                </a:solidFill>
                <a:latin typeface="IBM Plex Sans" pitchFamily="34"/>
              </a:rPr>
              <a:t> devine conținutul tău. O paranteză pe care nu o poți completa nu e o problemă de design: e o întrebare la care nu ai încă răspuns.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041525"/>
            <a:ext cx="3759200" cy="142875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128000" y="2041525"/>
            <a:ext cx="25400" cy="142875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05800" y="2200275"/>
            <a:ext cx="246459" cy="22860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94013" y="2225675"/>
            <a:ext cx="700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8459" y="2212975"/>
            <a:ext cx="1205889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Șterge ghidajul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2525712"/>
            <a:ext cx="3491103" cy="412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000" b="0" i="0" lang="ro-RO">
                <a:solidFill>
                  <a:srgbClr val="DEE0E2"/>
                </a:solidFill>
                <a:latin typeface="IBM Plex Sans" pitchFamily="34"/>
              </a:rPr>
              <a:t>Coloana din dreapta e pentru tine, nu pentru juriu. Pe </a:t>
            </a:r>
            <a:r>
              <a:rPr sz="1000" b="0" i="0" lang="ro-RO">
                <a:solidFill>
                  <a:srgbClr val="DEE0E2"/>
                </a:solidFill>
                <a:latin typeface="IBM Plex Sans" pitchFamily="34"/>
              </a:rPr>
              <a:t>slide-ul</a:t>
            </a:r>
            <a:r>
              <a:rPr sz="1000" b="0" i="0" lang="ro-RO">
                <a:solidFill>
                  <a:srgbClr val="DEE0E2"/>
                </a:solidFill>
                <a:latin typeface="IBM Plex Sans" pitchFamily="34"/>
              </a:rPr>
              <a:t> tău rămâne doar ce e în chenarul punctat.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800" y="3673475"/>
            <a:ext cx="2819400" cy="596900"/>
          </a:xfrm>
          <a:prstGeom prst="roundRect">
            <a:avLst>
              <a:gd name="adj" fmla="val 1276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0155" y="3806825"/>
            <a:ext cx="671822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00" b="0" i="0" lang="ro-RO">
                <a:solidFill>
                  <a:srgbClr val="FF5640"/>
                </a:solidFill>
                <a:highlight>
                  <a:srgbClr val="38373F"/>
                </a:highlight>
                <a:latin typeface="Fira Code" pitchFamily="49"/>
              </a:rPr>
              <a:t>[PARANTEZĂ]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750" y="3997325"/>
            <a:ext cx="948285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DDE0E2"/>
                </a:solidFill>
                <a:latin typeface="IBM Plex Sans" pitchFamily="34"/>
              </a:rPr>
              <a:t>ce completezi tu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5800" y="3673475"/>
            <a:ext cx="2819400" cy="596900"/>
          </a:xfrm>
          <a:prstGeom prst="roundRect">
            <a:avLst>
              <a:gd name="adj" fmla="val 12765"/>
            </a:avLst>
          </a:prstGeom>
          <a:solidFill>
            <a:srgbClr val="2ECC71">
              <a:alpha val="6000"/>
            </a:srgbClr>
          </a:solidFill>
          <a:ln w="6350">
            <a:solidFill>
              <a:srgbClr val="2ECC71">
                <a:alpha val="25000"/>
              </a:srgbClr>
            </a:solidFill>
          </a:ln>
        </p:spPr>
        <p:txBody>
          <a:bodyPr rtlCol="0" anchor="ctr"/>
          <a:lstStyle/>
          <a:p/>
        </p:txBody>
      </p:sp>
      <p:pic>
        <p:nvPicPr>
          <p:cNvPr id="27" name="Picture 26" descr="slide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0" y="3810000"/>
            <a:ext cx="101600" cy="101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486150" y="3794125"/>
            <a:ext cx="772335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2ECC71"/>
                </a:solidFill>
                <a:latin typeface="IBM Plex Sans" pitchFamily="34"/>
              </a:rPr>
              <a:t>Ce menționezi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3750" y="3997325"/>
            <a:ext cx="152885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DCE0E1"/>
                </a:solidFill>
                <a:latin typeface="IBM Plex Sans" pitchFamily="34"/>
              </a:rPr>
              <a:t>semn că slide-ul e complet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6800" y="3673475"/>
            <a:ext cx="2819400" cy="596900"/>
          </a:xfrm>
          <a:prstGeom prst="roundRect">
            <a:avLst>
              <a:gd name="adj" fmla="val 12765"/>
            </a:avLst>
          </a:prstGeom>
          <a:solidFill>
            <a:srgbClr val="FFD700">
              <a:alpha val="6000"/>
            </a:srgbClr>
          </a:solidFill>
          <a:ln w="6350">
            <a:solidFill>
              <a:srgbClr val="FFD700">
                <a:alpha val="25000"/>
              </a:srgbClr>
            </a:solidFill>
          </a:ln>
        </p:spPr>
        <p:txBody>
          <a:bodyPr rtlCol="0" anchor="ctr"/>
          <a:lstStyle/>
          <a:p/>
        </p:txBody>
      </p:sp>
      <p:pic>
        <p:nvPicPr>
          <p:cNvPr id="31" name="Picture 30" descr="slide2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0" y="3810000"/>
            <a:ext cx="101600" cy="10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07150" y="3794125"/>
            <a:ext cx="750796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FFD700"/>
                </a:solidFill>
                <a:latin typeface="IBM Plex Sans" pitchFamily="34"/>
              </a:rPr>
              <a:t>Juriul verifică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750" y="3997325"/>
            <a:ext cx="1650159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DEE0E0"/>
                </a:solidFill>
                <a:latin typeface="IBM Plex Sans" pitchFamily="34"/>
              </a:rPr>
              <a:t>întrebarea pe care o vei primi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7800" y="3673475"/>
            <a:ext cx="2819400" cy="596900"/>
          </a:xfrm>
          <a:prstGeom prst="roundRect">
            <a:avLst>
              <a:gd name="adj" fmla="val 12765"/>
            </a:avLst>
          </a:prstGeom>
          <a:solidFill>
            <a:srgbClr val="E74C3C">
              <a:alpha val="6000"/>
            </a:srgbClr>
          </a:solidFill>
          <a:ln w="6350">
            <a:solidFill>
              <a:srgbClr val="E74C3C">
                <a:alpha val="25000"/>
              </a:srgbClr>
            </a:solidFill>
          </a:ln>
        </p:spPr>
        <p:txBody>
          <a:bodyPr rtlCol="0" anchor="ctr"/>
          <a:lstStyle/>
          <a:p/>
        </p:txBody>
      </p:sp>
      <p:pic>
        <p:nvPicPr>
          <p:cNvPr id="35" name="Picture 34" descr="slide2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5750" y="3816350"/>
            <a:ext cx="101600" cy="889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328150" y="3794125"/>
            <a:ext cx="881741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E74C3C"/>
                </a:solidFill>
                <a:latin typeface="IBM Plex Sans" pitchFamily="34"/>
              </a:rPr>
              <a:t>Greșeala clasică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5750" y="3997325"/>
            <a:ext cx="104879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DEDFE1"/>
                </a:solidFill>
                <a:latin typeface="IBM Plex Sans" pitchFamily="34"/>
              </a:rPr>
              <a:t>ce te costă puncte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4473575"/>
            <a:ext cx="11582400" cy="6350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304800" y="4473575"/>
            <a:ext cx="25400" cy="635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0" name="Picture 39" descr="slide2_ca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10100"/>
            <a:ext cx="127000" cy="101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5000" y="4613275"/>
            <a:ext cx="211811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TREI REGULI PENTRU TOATE SLIDE-URILE</a:t>
            </a:r>
          </a:p>
        </p:txBody>
      </p:sp>
      <p:pic>
        <p:nvPicPr>
          <p:cNvPr id="42" name="Picture 41" descr="slide2_ca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870450"/>
            <a:ext cx="88900" cy="63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2300" y="4791075"/>
            <a:ext cx="146424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 singură idee pe slide.</a:t>
            </a:r>
          </a:p>
        </p:txBody>
      </p:sp>
      <p:pic>
        <p:nvPicPr>
          <p:cNvPr id="44" name="Picture 43" descr="slide2_ca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3550" y="4870450"/>
            <a:ext cx="88900" cy="63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438650" y="4791075"/>
            <a:ext cx="228334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Orice cifră are lângă ea sursa și anul.</a:t>
            </a:r>
          </a:p>
        </p:txBody>
      </p:sp>
      <p:pic>
        <p:nvPicPr>
          <p:cNvPr id="46" name="Picture 45" descr="slide2_ca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00" y="4870450"/>
            <a:ext cx="88900" cy="635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255000" y="4791075"/>
            <a:ext cx="200409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Textul se citește din fundul sălii.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4800" y="5311775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95453" y="5419725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Un template nu scrie pitch-ul în locul tău. Îți arată unde e gol.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946150"/>
            <a:ext cx="64481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92200"/>
            <a:ext cx="5389054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Zece slide-uri, în ordinea deciziilor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98600"/>
            <a:ext cx="577267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Întâi omul, apoi dovada, apoi demo-ul. Banii și echipa vin după ce juriul a înțeles pe cine ajuți.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1822450"/>
            <a:ext cx="2255441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12750" y="19799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75731" y="19989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841" y="1985962"/>
            <a:ext cx="341245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Titlul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6441" y="18224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744391" y="19799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07372" y="19989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482" y="1985962"/>
            <a:ext cx="959537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Omul și durerea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7355" y="2000250"/>
            <a:ext cx="110109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8FA3B0"/>
                </a:solidFill>
                <a:latin typeface="IBM Plex Sans" pitchFamily="34"/>
              </a:rPr>
              <a:t>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68180" y="18224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076130" y="19799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39112" y="19989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1222" y="1985962"/>
            <a:ext cx="112391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De ce nu merge azi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7210" y="2000250"/>
            <a:ext cx="112145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8FA3B0"/>
                </a:solidFill>
                <a:latin typeface="IBM Plex Sans" pitchFamily="34"/>
              </a:rPr>
              <a:t>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9920" y="18224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407870" y="19799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70851" y="19989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962" y="1985962"/>
            <a:ext cx="448616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Soluția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9645" y="2000250"/>
            <a:ext cx="111395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8FA3B0"/>
                </a:solidFill>
                <a:latin typeface="IBM Plex Sans" pitchFamily="34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1660" y="18224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5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739610" y="19799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02591" y="19989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702" y="1985962"/>
            <a:ext cx="373499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9598" y="2000250"/>
            <a:ext cx="113324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FF5640"/>
                </a:solidFill>
                <a:latin typeface="IBM Plex Sans" pitchFamily="34"/>
              </a:rPr>
              <a:t>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4800" y="2381250"/>
            <a:ext cx="2255441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12750" y="25387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5731" y="25577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41" y="2544762"/>
            <a:ext cx="951071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Cum e construit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4425" y="2559050"/>
            <a:ext cx="111395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8FA3B0"/>
                </a:solidFill>
                <a:latin typeface="IBM Plex Sans" pitchFamily="34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36441" y="23812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D700">
              <a:alpha val="6000"/>
            </a:srgbClr>
          </a:solidFill>
          <a:ln w="6350">
            <a:solidFill>
              <a:srgbClr val="FFD700">
                <a:alpha val="4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744391" y="25387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807372" y="25577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192B37"/>
                </a:solidFill>
                <a:latin typeface="IBM Plex Sans" pitchFamily="34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9482" y="2544762"/>
            <a:ext cx="80308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Cine plătește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5802" y="2571750"/>
            <a:ext cx="50058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1" i="0" lang="ro-RO">
                <a:solidFill>
                  <a:srgbClr val="FFD700"/>
                </a:solidFill>
                <a:latin typeface="Fira Code" pitchFamily="49"/>
              </a:rPr>
              <a:t>Business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68180" y="23812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D700">
              <a:alpha val="6000"/>
            </a:srgbClr>
          </a:solidFill>
          <a:ln w="6350">
            <a:solidFill>
              <a:srgbClr val="FFD700">
                <a:alpha val="4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076130" y="25387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39112" y="25577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192B37"/>
                </a:solidFill>
                <a:latin typeface="IBM Plex Sans" pitchFamily="34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1222" y="2544762"/>
            <a:ext cx="123042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Piața și primii clienți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210" y="2559050"/>
            <a:ext cx="112145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FFD700"/>
                </a:solidFill>
                <a:latin typeface="IBM Plex Sans" pitchFamily="34"/>
              </a:rPr>
              <a:t>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9920" y="23812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7407870" y="2538710"/>
            <a:ext cx="178891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470851" y="255776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2962" y="2544762"/>
            <a:ext cx="429863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Echipa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4882" y="2559050"/>
            <a:ext cx="116538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8FA3B0"/>
                </a:solidFill>
                <a:latin typeface="IBM Plex Sans" pitchFamily="34"/>
              </a:rPr>
              <a:t>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31660" y="2381250"/>
            <a:ext cx="2255540" cy="482600"/>
          </a:xfrm>
          <a:prstGeom prst="roundRect">
            <a:avLst>
              <a:gd name="adj" fmla="val 1578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9739610" y="2538710"/>
            <a:ext cx="230684" cy="1675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802073" y="2557760"/>
            <a:ext cx="105757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46494" y="2544762"/>
            <a:ext cx="1320439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Ce urmează și cererea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09598" y="2559050"/>
            <a:ext cx="113324" cy="12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800" b="1" i="0" lang="ro-RO">
                <a:solidFill>
                  <a:srgbClr val="8FA3B0"/>
                </a:solidFill>
                <a:latin typeface="IBM Plex Sans" pitchFamily="34"/>
              </a:rPr>
              <a:t>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4800" y="2952750"/>
            <a:ext cx="310180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>
                <a:solidFill>
                  <a:srgbClr val="8FA3B0"/>
                </a:solidFill>
                <a:latin typeface="Fira Code" pitchFamily="49"/>
              </a:rPr>
              <a:t>+ anexe pentru Q&amp;A, după slide-ul 10 — nu se prezintă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4800" y="3232150"/>
            <a:ext cx="118402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PITCH DE 3 MINUTE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14434" y="3244850"/>
            <a:ext cx="2168688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8C959B"/>
                </a:solidFill>
                <a:latin typeface="Fira Code" pitchFamily="49"/>
              </a:rPr>
              <a:t>180 s · lățimea segmentului = secundele lui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800" y="3397250"/>
            <a:ext cx="1930400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2216150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55600" y="35321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880" y="36210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30 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5600" y="3754438"/>
            <a:ext cx="75476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Omul și durerea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35200" y="3397250"/>
            <a:ext cx="1930400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4146550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2286000" y="35321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28280" y="36210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30 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3754438"/>
            <a:ext cx="8827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De ce nu merge azi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65600" y="3397250"/>
            <a:ext cx="643434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4789984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216400" y="3600450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58680" y="368935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10 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9034" y="3397250"/>
            <a:ext cx="3217267" cy="60960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007251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859834" y="35321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2113" y="36210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FFDDD8"/>
                </a:solidFill>
                <a:latin typeface="Fira Code" pitchFamily="49"/>
              </a:rPr>
              <a:t>50 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9834" y="3754438"/>
            <a:ext cx="29902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Demo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26301" y="3397250"/>
            <a:ext cx="1930400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9937651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077101" y="35321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9380" y="36210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30 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77101" y="3754438"/>
            <a:ext cx="748117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Cum e construit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56701" y="3397250"/>
            <a:ext cx="643434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0581084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007501" y="3600450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192B37"/>
                </a:solidFill>
                <a:latin typeface="IBM Plex Sans" pitchFamily="34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9780" y="368935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474D2C"/>
                </a:solidFill>
                <a:latin typeface="Fira Code" pitchFamily="49"/>
              </a:rPr>
              <a:t>10 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00134" y="3397250"/>
            <a:ext cx="643434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1224518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650934" y="3600450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93214" y="368935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10 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243568" y="3397250"/>
            <a:ext cx="643434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1867952" y="33972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1294368" y="3600450"/>
            <a:ext cx="23569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528127" y="368935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10 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4800" y="40386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0:00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73723" y="40386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1:00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34623" y="40386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2:00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703645" y="40386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3:00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4800" y="4260850"/>
            <a:ext cx="118402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PITCH DE 5 MINUTE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14434" y="4273550"/>
            <a:ext cx="2168688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8C959B"/>
                </a:solidFill>
                <a:latin typeface="Fira Code" pitchFamily="49"/>
              </a:rPr>
              <a:t>300 s · lățimea segmentului = secundele lui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4800" y="4425950"/>
            <a:ext cx="1544241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1829991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355600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7880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40 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5600" y="4783138"/>
            <a:ext cx="75476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Omul și durerea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49041" y="4425950"/>
            <a:ext cx="1544241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374231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899841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42120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40 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99841" y="4783138"/>
            <a:ext cx="8827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De ce nu merge azi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93281" y="4425950"/>
            <a:ext cx="579041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3953272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3444081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86361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15 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44081" y="4783138"/>
            <a:ext cx="35742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Soluția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972322" y="4425950"/>
            <a:ext cx="2895600" cy="60960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6848872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4023122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65402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FFDDD8"/>
                </a:solidFill>
                <a:latin typeface="Fira Code" pitchFamily="49"/>
              </a:rPr>
              <a:t>75 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23122" y="4783138"/>
            <a:ext cx="29902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Demo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867922" y="4425950"/>
            <a:ext cx="1158180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8007052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6918722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61002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30 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18722" y="4783138"/>
            <a:ext cx="748117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Cum e construit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26102" y="4425950"/>
            <a:ext cx="1158180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9165233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8076902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192B37"/>
                </a:solidFill>
                <a:latin typeface="IBM Plex Sans" pitchFamily="34"/>
              </a:rPr>
              <a:t>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19182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474D2C"/>
                </a:solidFill>
                <a:latin typeface="Fira Code" pitchFamily="49"/>
              </a:rPr>
              <a:t>30 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76902" y="4783138"/>
            <a:ext cx="633139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192B37"/>
                </a:solidFill>
                <a:latin typeface="IBM Plex Sans" pitchFamily="34"/>
              </a:rPr>
              <a:t>Cine plătește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184283" y="4425950"/>
            <a:ext cx="772120" cy="609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9937353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9235083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192B37"/>
                </a:solidFill>
                <a:latin typeface="IBM Plex Sans" pitchFamily="34"/>
              </a:rPr>
              <a:t>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77362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474D2C"/>
                </a:solidFill>
                <a:latin typeface="Fira Code" pitchFamily="49"/>
              </a:rPr>
              <a:t>20 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35083" y="4783138"/>
            <a:ext cx="274594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192B37"/>
                </a:solidFill>
                <a:latin typeface="IBM Plex Sans" pitchFamily="34"/>
              </a:rPr>
              <a:t>Piața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956403" y="4425950"/>
            <a:ext cx="772120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10709473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0007203" y="4560888"/>
            <a:ext cx="13689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149483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20 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07203" y="4783138"/>
            <a:ext cx="342852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Echipa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728523" y="4425950"/>
            <a:ext cx="1158180" cy="609600"/>
          </a:xfrm>
          <a:prstGeom prst="rect">
            <a:avLst/>
          </a:prstGeom>
          <a:solidFill>
            <a:srgbClr val="8FA3B0">
              <a:alpha val="2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11867654" y="4425950"/>
            <a:ext cx="19050" cy="609600"/>
          </a:xfrm>
          <a:prstGeom prst="rect">
            <a:avLst/>
          </a:prstGeom>
          <a:solidFill>
            <a:srgbClr val="192B3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0779323" y="4560888"/>
            <a:ext cx="23569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013083" y="4649788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D6D9DC"/>
                </a:solidFill>
                <a:latin typeface="Fira Code" pitchFamily="49"/>
              </a:rPr>
              <a:t>30 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779323" y="4783138"/>
            <a:ext cx="57206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Ce urmează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04800" y="50673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0:00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29483" y="50673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1:00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45943" y="50673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2:00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162403" y="50673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3:00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478863" y="50673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4:00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703645" y="5067300"/>
            <a:ext cx="236339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>
                <a:solidFill>
                  <a:srgbClr val="A3AAAF"/>
                </a:solidFill>
                <a:latin typeface="Fira Code" pitchFamily="49"/>
              </a:rPr>
              <a:t>5:00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04800" y="5289550"/>
            <a:ext cx="836189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Slide-ul 1 stă pe ecran cât începi cu omul. La 3 minute, slide-ul 8 trece în anexe. Timpii sunt prescripții, nu măsurători — pune un cronometru.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04800" y="55308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195453" y="56388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Ordinea nu se negociază. Doar timpul se ajustează.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179064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1 DIN PITCH · TITLUL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3771745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Numele, și pentru cine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43054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„Ce e asta și pentru cine?” — în 5 secunde.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2640" y="1339850"/>
            <a:ext cx="171456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doar pe ecran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2640" y="1492250"/>
            <a:ext cx="171456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doar pe ecran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1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370" y="2298700"/>
            <a:ext cx="282877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[NUMELE ECHIPEI]</a:t>
            </a:r>
            <a:r>
              <a:rPr sz="800" b="0" i="0" lang="ro-RO">
                <a:solidFill>
                  <a:srgbClr val="FFFFFF"/>
                </a:solidFill>
                <a:latin typeface="Fira Code" pitchFamily="49"/>
              </a:rPr>
              <a:t> </a:t>
            </a:r>
            <a:r>
              <a:rPr sz="800" b="0" i="0" lang="ro-RO">
                <a:solidFill>
                  <a:srgbClr val="878F94"/>
                </a:solidFill>
                <a:latin typeface="Fira Code" pitchFamily="49"/>
              </a:rPr>
              <a:t>·</a:t>
            </a:r>
            <a:r>
              <a:rPr sz="800" b="0" i="0" lang="ro-RO">
                <a:solidFill>
                  <a:srgbClr val="FFFFFF"/>
                </a:solidFill>
                <a:latin typeface="Fira Code" pitchFamily="49"/>
              </a:rPr>
              <a:t> </a:t>
            </a:r>
            <a:r>
              <a:rPr sz="8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[NUMELE HACKATHONULUI]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2821781"/>
            <a:ext cx="4728972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</a:pPr>
            <a:r>
              <a:rPr sz="30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[NUMELE PRODUSULUI]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3469481"/>
            <a:ext cx="5130165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0" i="0" lang="ro-RO">
                <a:solidFill>
                  <a:srgbClr val="FFFFFF"/>
                </a:solidFill>
                <a:latin typeface="IBM Plex Sans" pitchFamily="34"/>
              </a:rPr>
              <a:t>Ajutăm </a:t>
            </a:r>
            <a:r>
              <a:rPr sz="15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[CINE]</a:t>
            </a:r>
            <a:r>
              <a:rPr sz="1500" b="0" i="0" lang="ro-RO">
                <a:solidFill>
                  <a:srgbClr val="FFFFFF"/>
                </a:solidFill>
                <a:latin typeface="IBM Plex Sans" pitchFamily="34"/>
              </a:rPr>
              <a:t> să </a:t>
            </a:r>
            <a:r>
              <a:rPr sz="15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[FACĂ CE]</a:t>
            </a:r>
            <a:r>
              <a:rPr sz="1500" b="0" i="0" lang="ro-RO">
                <a:solidFill>
                  <a:srgbClr val="FFFFFF"/>
                </a:solidFill>
                <a:latin typeface="IBM Plex Sans" pitchFamily="34"/>
              </a:rPr>
              <a:t> fără </a:t>
            </a:r>
            <a:r>
              <a:rPr sz="15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[OBSTACOL]</a:t>
            </a:r>
            <a:r>
              <a:rPr sz="1500" b="0" i="0" lang="ro-RO">
                <a:solidFill>
                  <a:srgbClr val="FFFFFF"/>
                </a:solidFill>
                <a:latin typeface="IBM Plex Sans" pitchFamily="34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159250"/>
            <a:ext cx="1016000" cy="1016000"/>
          </a:xfrm>
          <a:prstGeom prst="roundRect">
            <a:avLst>
              <a:gd name="adj" fmla="val 5000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23" name="Picture 22" descr="slide4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0" y="4451350"/>
            <a:ext cx="266700" cy="2667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847159" y="4787900"/>
            <a:ext cx="751681" cy="114300"/>
          </a:xfrm>
          <a:prstGeom prst="roundRect">
            <a:avLst>
              <a:gd name="adj" fmla="val 33333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873323" y="4794250"/>
            <a:ext cx="699354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800"/>
              </a:lnSpc>
            </a:pPr>
            <a:r>
              <a:rPr sz="600" b="0" i="0" lang="ro-RO">
                <a:solidFill>
                  <a:srgbClr val="FF5640"/>
                </a:solidFill>
                <a:latin typeface="Fira Code" pitchFamily="49"/>
              </a:rPr>
              <a:t>[QR CĂTRE DEMO]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9" name="Picture 28" descr="slide2_ca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31" name="Picture 30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67600" y="2292350"/>
            <a:ext cx="280358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Numele produsului: scurt, ușor de pronunțat.</a:t>
            </a:r>
          </a:p>
        </p:txBody>
      </p:sp>
      <p:pic>
        <p:nvPicPr>
          <p:cNvPr id="33" name="Picture 32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67600" y="2584450"/>
            <a:ext cx="167716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One-liner-ul, cu omul în el.</a:t>
            </a:r>
          </a:p>
        </p:txBody>
      </p:sp>
      <p:pic>
        <p:nvPicPr>
          <p:cNvPr id="35" name="Picture 34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67600" y="2876550"/>
            <a:ext cx="103593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Numele echipei.</a:t>
            </a:r>
          </a:p>
        </p:txBody>
      </p:sp>
      <p:pic>
        <p:nvPicPr>
          <p:cNvPr id="37" name="Picture 36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67600" y="3168650"/>
            <a:ext cx="182343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Un QR către demo (opțional).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1" name="Picture 40" descr="slide2_ca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2500" y="4435475"/>
            <a:ext cx="3872686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După 5 secunde, poate spune cineva din juriu pentru cine e produsul?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6" name="Picture 45" descr="slide2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2500" y="5141912"/>
            <a:ext cx="4362605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Titlul e o tehnologie („… cu AI”) sau un slogan care s-ar potrivi oricărui produs.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Nu citi titlul. Lasă-l pe ecran și începe direct cu omul.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2195155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2 DIN PITCH · P —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2495193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Omul și durerea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368891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„Pe cine ajutați și ce îl doare?”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0:00–0:30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0:00–0:40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2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339975"/>
            <a:ext cx="4456176" cy="996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0"/>
              </a:lnSpc>
            </a:pPr>
            <a:r>
              <a:rPr sz="17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[CINE]</a:t>
            </a:r>
            <a:r>
              <a:rPr sz="1700" b="1" i="0" lang="ro-RO">
                <a:solidFill>
                  <a:srgbClr val="FFFFFF"/>
                </a:solidFill>
                <a:latin typeface="IBM Plex Sans" pitchFamily="34"/>
              </a:rPr>
              <a:t> nu poate </a:t>
            </a:r>
            <a:r>
              <a:rPr sz="17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[SĂ FACĂ CE]</a:t>
            </a:r>
            <a:r>
              <a:rPr sz="1700" b="1" i="0" lang="ro-RO">
                <a:solidFill>
                  <a:srgbClr val="FFFFFF"/>
                </a:solidFill>
                <a:latin typeface="IBM Plex Sans" pitchFamily="34"/>
              </a:rPr>
              <a:t> pentru că </a:t>
            </a:r>
            <a:r>
              <a:rPr sz="17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[OBSTACOL]</a:t>
            </a:r>
            <a:r>
              <a:rPr sz="1700" b="1" i="0" lang="ro-RO">
                <a:solidFill>
                  <a:srgbClr val="FFFFFF"/>
                </a:solidFill>
                <a:latin typeface="IBM Plex Sans" pitchFamily="34"/>
              </a:rPr>
              <a:t>, și acum îi costă </a:t>
            </a:r>
            <a:r>
              <a:rPr sz="17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[CE ANUME]</a:t>
            </a:r>
            <a:r>
              <a:rPr sz="1700" b="1" i="0" lang="ro-RO">
                <a:solidFill>
                  <a:srgbClr val="FFFFFF"/>
                </a:solidFill>
                <a:latin typeface="IBM Plex Sans" pitchFamily="34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0" y="2343150"/>
            <a:ext cx="1587500" cy="1333500"/>
          </a:xfrm>
          <a:prstGeom prst="roundRect">
            <a:avLst>
              <a:gd name="adj" fmla="val 3809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21" name="Picture 20" descr="slide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0" y="2733675"/>
            <a:ext cx="228600" cy="203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257800" y="3041650"/>
            <a:ext cx="1358900" cy="266700"/>
          </a:xfrm>
          <a:prstGeom prst="roundRect">
            <a:avLst>
              <a:gd name="adj" fmla="val 14285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82425" y="3048000"/>
            <a:ext cx="1309649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00"/>
              </a:lnSpc>
            </a:pPr>
            <a:r>
              <a:rPr sz="700" b="0" i="0" lang="ro-RO">
                <a:solidFill>
                  <a:srgbClr val="FF5640"/>
                </a:solidFill>
                <a:latin typeface="Fira Code" pitchFamily="49"/>
              </a:rPr>
              <a:t>[FOTO SAU SCHIȚĂ: OMUL, ÎN MOMENTUL ACELA]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4367212"/>
            <a:ext cx="3028950" cy="573088"/>
          </a:xfrm>
          <a:prstGeom prst="roundRect">
            <a:avLst>
              <a:gd name="adj" fmla="val 886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9450" y="4481512"/>
            <a:ext cx="55170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MOMENTUL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785" y="4659312"/>
            <a:ext cx="2778621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[O SITUAȚIE CONCRETĂ DIN ZIUA OMULUI]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2050" y="4367212"/>
            <a:ext cx="3028950" cy="573088"/>
          </a:xfrm>
          <a:prstGeom prst="roundRect">
            <a:avLst>
              <a:gd name="adj" fmla="val 886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10000" y="4481512"/>
            <a:ext cx="61588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VOCEA LUI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0" y="4659312"/>
            <a:ext cx="284784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1" lang="ro-RO">
                <a:solidFill>
                  <a:srgbClr val="FFFFFF"/>
                </a:solidFill>
                <a:latin typeface="IBM Plex Sans" pitchFamily="34"/>
              </a:rPr>
              <a:t>„</a:t>
            </a:r>
            <a:r>
              <a:rPr sz="900" b="0" i="1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[UN CITAT DE LA UN UTILIZATOR REAL]</a:t>
            </a:r>
            <a:r>
              <a:rPr sz="900" b="0" i="1" lang="ro-RO">
                <a:solidFill>
                  <a:srgbClr val="FFFFFF"/>
                </a:solidFill>
                <a:latin typeface="IBM Plex Sans" pitchFamily="34"/>
              </a:rPr>
              <a:t>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5048250"/>
            <a:ext cx="2354068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00" b="0" i="0" lang="ro-RO">
                <a:solidFill>
                  <a:srgbClr val="9FA5A9"/>
                </a:solidFill>
                <a:latin typeface="Fira Code" pitchFamily="49"/>
              </a:rPr>
              <a:t>Sursă pentru orice cifră: </a:t>
            </a:r>
            <a:r>
              <a:rPr sz="700" b="0" i="0" lang="ro-RO">
                <a:solidFill>
                  <a:srgbClr val="A84237"/>
                </a:solidFill>
                <a:highlight>
                  <a:srgbClr val="27242B"/>
                </a:highlight>
                <a:latin typeface="Fira Code" pitchFamily="49"/>
              </a:rPr>
              <a:t>[LINK]</a:t>
            </a:r>
            <a:r>
              <a:rPr sz="700" b="0" i="0" lang="ro-RO">
                <a:solidFill>
                  <a:srgbClr val="9FA5A9"/>
                </a:solidFill>
                <a:latin typeface="Fira Code" pitchFamily="49"/>
              </a:rPr>
              <a:t>, </a:t>
            </a:r>
            <a:r>
              <a:rPr sz="700" b="0" i="0" lang="ro-RO">
                <a:solidFill>
                  <a:srgbClr val="A84237"/>
                </a:solidFill>
                <a:highlight>
                  <a:srgbClr val="27242B"/>
                </a:highlight>
                <a:latin typeface="Fira Code" pitchFamily="49"/>
              </a:rPr>
              <a:t>[AN]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4" name="Picture 33" descr="slide2_ca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36" name="Picture 35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67600" y="2292350"/>
            <a:ext cx="208392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Un om concret, nu „toată lumea”.</a:t>
            </a:r>
          </a:p>
        </p:txBody>
      </p:sp>
      <p:pic>
        <p:nvPicPr>
          <p:cNvPr id="38" name="Picture 37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67600" y="2584450"/>
            <a:ext cx="204181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Momentul în care apare durerea.</a:t>
            </a:r>
          </a:p>
        </p:txBody>
      </p:sp>
      <p:pic>
        <p:nvPicPr>
          <p:cNvPr id="40" name="Picture 39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67600" y="2876550"/>
            <a:ext cx="203056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Costul: timp, bani, risc sau stres.</a:t>
            </a:r>
          </a:p>
        </p:txBody>
      </p:sp>
      <p:pic>
        <p:nvPicPr>
          <p:cNvPr id="42" name="Picture 41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67600" y="3168650"/>
            <a:ext cx="183361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De ce acum: ce s-a schimbat.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6" name="Picture 45" descr="slide2_ca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2500" y="4435475"/>
            <a:ext cx="4606921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„Cine e utilizatorul?” După 30 de secunde, oricine din juriu trebuie să-l poată numi.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1" name="Picture 50" descr="slide2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2500" y="5141912"/>
            <a:ext cx="4766905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„În ziua de azi…” și cuvintele </a:t>
            </a: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platformă</a:t>
            </a: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, </a:t>
            </a: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ecosistem</a:t>
            </a: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, </a:t>
            </a: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soluție</a:t>
            </a: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. Ai sărit direct la răspuns.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Dacă nu poți numi omul, nu ai o problemă. Ai o idee.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307137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3 DIN PITCH · R — DOVEZI ȘI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2933676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De ce nu merge azi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73808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„Există deja asta? Și dacă da, de ce nu ajunge?”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0:30–1:00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0:40–1:20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3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279650"/>
            <a:ext cx="1947732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i="0" lang="ro-RO">
                <a:solidFill>
                  <a:srgbClr val="FFFFFF"/>
                </a:solidFill>
                <a:latin typeface="IBM Plex Sans" pitchFamily="34"/>
              </a:rPr>
              <a:t>Ce face azi </a:t>
            </a:r>
            <a:r>
              <a:rPr sz="15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[CINE]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2654300"/>
            <a:ext cx="6159500" cy="1898650"/>
          </a:xfrm>
          <a:prstGeom prst="roundRect">
            <a:avLst>
              <a:gd name="adj" fmla="val 267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9450" y="2743200"/>
            <a:ext cx="74426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ALTERNATIVA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2050" y="2743200"/>
            <a:ext cx="100100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DE CE NU AJUNGE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850" y="2927350"/>
            <a:ext cx="6146800" cy="539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77850" y="2927350"/>
            <a:ext cx="6146800" cy="635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0250" y="3117850"/>
            <a:ext cx="2013204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[ALTERNATIVA 1, CU NUME]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2850" y="3117850"/>
            <a:ext cx="127254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NU REZOLVĂ]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7850" y="3467100"/>
            <a:ext cx="6146800" cy="539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77850" y="3467100"/>
            <a:ext cx="6146800" cy="635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0250" y="3657600"/>
            <a:ext cx="2013204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[ALTERNATIVA 2, CU NUME]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2850" y="3657600"/>
            <a:ext cx="127254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NU REZOLVĂ]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850" y="4006850"/>
            <a:ext cx="6146800" cy="539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77850" y="4006850"/>
            <a:ext cx="6146800" cy="635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9450" y="4197350"/>
            <a:ext cx="243486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Nimic: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FAC FĂRĂ UN PRODUS]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2850" y="4197350"/>
            <a:ext cx="1190244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[CÂT ÎI COSTĂ]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4826000"/>
            <a:ext cx="164287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DOVEZI CĂ PROBLEMA EXISTĂ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" y="5010150"/>
            <a:ext cx="124202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01828" y="5016500"/>
            <a:ext cx="1181364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[URMA 1: SURSĂ, AN]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89720" y="5010150"/>
            <a:ext cx="124202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920048" y="5016500"/>
            <a:ext cx="1181364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[URMA 2: SURSĂ, AN]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7941" y="5010150"/>
            <a:ext cx="124202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238269" y="5016500"/>
            <a:ext cx="1181364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[URMA 3: SURSĂ, AN]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100" y="1974850"/>
            <a:ext cx="4737100" cy="186848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150100" y="1974850"/>
            <a:ext cx="25400" cy="1868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5" name="Picture 44" descr="slide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47" name="Picture 46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67600" y="2292350"/>
            <a:ext cx="164319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face omul acum, în loc.</a:t>
            </a:r>
          </a:p>
        </p:txBody>
      </p:sp>
      <p:pic>
        <p:nvPicPr>
          <p:cNvPr id="49" name="Picture 48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467600" y="2584450"/>
            <a:ext cx="194891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2–3 alternative reale, cu nume.</a:t>
            </a:r>
          </a:p>
        </p:txBody>
      </p:sp>
      <p:pic>
        <p:nvPicPr>
          <p:cNvPr id="51" name="Picture 50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67600" y="2876550"/>
            <a:ext cx="200891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De ce nu le folosesc oamenii tăi.</a:t>
            </a:r>
          </a:p>
        </p:txBody>
      </p:sp>
      <p:pic>
        <p:nvPicPr>
          <p:cNvPr id="53" name="Picture 52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67600" y="3168650"/>
            <a:ext cx="244868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Trei urme independente, cu sursă și an.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0100" y="3944938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7150100" y="3944938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7" name="Picture 56" descr="slide2_ca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4075112"/>
            <a:ext cx="101600" cy="1016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54900" y="4084638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02500" y="4249738"/>
            <a:ext cx="423262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„Există deja asta?” Răspunsul bun: „Da, X și Y. Noi diferim prin Z, pentru W.”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50100" y="4651375"/>
            <a:ext cx="4737100" cy="79057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150100" y="4651375"/>
            <a:ext cx="25400" cy="79057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2" name="Picture 61" descr="slide2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4794250"/>
            <a:ext cx="101600" cy="889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454900" y="4791075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02500" y="4936331"/>
            <a:ext cx="4540377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„Nu avem concurență.” Aproape întotdeauna e fals, iar juriul găsește alternativa în zece secunde.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„Nu există nimic” e aproape întotdeauna fals. „Există X, uite de ce nu ajunge” e un argument.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212775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4 DIN PITCH · B — SOLUȚIA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3705951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O propoziție, apoi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03727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„Ce face, concret, produsul vostru?”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1:00–1:10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1:20–1:35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4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891" y="2292350"/>
            <a:ext cx="6203752" cy="622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16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[NUMELE PRODUSULUI]</a:t>
            </a:r>
            <a:r>
              <a:rPr sz="1600" b="1" i="0" lang="ro-RO">
                <a:solidFill>
                  <a:srgbClr val="FFFFFF"/>
                </a:solidFill>
                <a:latin typeface="IBM Plex Sans" pitchFamily="34"/>
              </a:rPr>
              <a:t> îl ajută pe </a:t>
            </a:r>
            <a:r>
              <a:rPr sz="16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[CINE]</a:t>
            </a:r>
            <a:r>
              <a:rPr sz="1600" b="1" i="0" lang="ro-RO">
                <a:solidFill>
                  <a:srgbClr val="FFFFFF"/>
                </a:solidFill>
                <a:latin typeface="IBM Plex Sans" pitchFamily="34"/>
              </a:rPr>
              <a:t> să </a:t>
            </a:r>
            <a:r>
              <a:rPr sz="16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[O SINGURĂ ACȚIUNE]</a:t>
            </a:r>
            <a:r>
              <a:rPr sz="1600" b="1" i="0" lang="ro-RO">
                <a:solidFill>
                  <a:srgbClr val="FFFFFF"/>
                </a:solidFill>
                <a:latin typeface="IBM Plex Sans" pitchFamily="34"/>
              </a:rPr>
              <a:t>, ca să </a:t>
            </a:r>
            <a:r>
              <a:rPr sz="16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[REZULTATUL]</a:t>
            </a:r>
            <a:r>
              <a:rPr sz="1600" b="1" i="0" lang="ro-RO">
                <a:solidFill>
                  <a:srgbClr val="FFFFFF"/>
                </a:solidFill>
                <a:latin typeface="IBM Plex Sans" pitchFamily="34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348831"/>
            <a:ext cx="1824534" cy="852488"/>
          </a:xfrm>
          <a:prstGeom prst="roundRect">
            <a:avLst>
              <a:gd name="adj" fmla="val 59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4850" y="3590131"/>
            <a:ext cx="35914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INTRĂ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185" y="3793331"/>
            <a:ext cx="1445383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INTRODUCE OMUL]</a:t>
            </a:r>
          </a:p>
        </p:txBody>
      </p:sp>
      <p:pic>
        <p:nvPicPr>
          <p:cNvPr id="23" name="Picture 22" descr="slide7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284" y="3736975"/>
            <a:ext cx="152400" cy="825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738934" y="3348831"/>
            <a:ext cx="1824633" cy="852488"/>
          </a:xfrm>
          <a:prstGeom prst="roundRect">
            <a:avLst>
              <a:gd name="adj" fmla="val 59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872284" y="3590131"/>
            <a:ext cx="29495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18619" y="3793331"/>
            <a:ext cx="137133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FACE PRODUSUL]</a:t>
            </a:r>
          </a:p>
        </p:txBody>
      </p:sp>
      <p:pic>
        <p:nvPicPr>
          <p:cNvPr id="27" name="Picture 26" descr="slide7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816" y="3736975"/>
            <a:ext cx="155575" cy="8255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906466" y="3348831"/>
            <a:ext cx="1824534" cy="852488"/>
          </a:xfrm>
          <a:prstGeom prst="roundRect">
            <a:avLst>
              <a:gd name="adj" fmla="val 59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39816" y="3590131"/>
            <a:ext cx="29495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IESE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6152" y="3793331"/>
            <a:ext cx="137133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PRIMEȘTE OMUL]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4635500"/>
            <a:ext cx="3028950" cy="539750"/>
          </a:xfrm>
          <a:prstGeom prst="roundRect">
            <a:avLst>
              <a:gd name="adj" fmla="val 9411"/>
            </a:avLst>
          </a:prstGeom>
          <a:solidFill>
            <a:srgbClr val="2ECC71">
              <a:alpha val="8000"/>
            </a:srgbClr>
          </a:solidFill>
          <a:ln w="6350">
            <a:solidFill>
              <a:srgbClr val="2ECC71">
                <a:alpha val="35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9450" y="4749800"/>
            <a:ext cx="326993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REAL: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320" y="4914900"/>
            <a:ext cx="194741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293130"/>
                </a:highlight>
                <a:latin typeface="Fira Code" pitchFamily="49"/>
              </a:rPr>
              <a:t>[CE FUNCȚIONEAZĂ CU ADEVĂRAT]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2050" y="4635500"/>
            <a:ext cx="3028950" cy="539750"/>
          </a:xfrm>
          <a:prstGeom prst="roundRect">
            <a:avLst>
              <a:gd name="adj" fmla="val 9411"/>
            </a:avLst>
          </a:prstGeom>
          <a:solidFill>
            <a:srgbClr val="FFD700">
              <a:alpha val="8000"/>
            </a:srgbClr>
          </a:solidFill>
          <a:ln w="6350">
            <a:solidFill>
              <a:srgbClr val="FFD700">
                <a:alpha val="35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10000" y="4749800"/>
            <a:ext cx="500372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SIMULAT: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1870" y="4914900"/>
            <a:ext cx="1881616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83228"/>
                </a:highlight>
                <a:latin typeface="Fira Code" pitchFamily="49"/>
              </a:rPr>
              <a:t>[DATE FALSE, USER HARDCODAT]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0" name="Picture 39" descr="slide2_ca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42" name="Picture 41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67600" y="2292350"/>
            <a:ext cx="251994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 propoziție, același om ca pe slide-ul 2.</a:t>
            </a:r>
          </a:p>
        </p:txBody>
      </p:sp>
      <p:pic>
        <p:nvPicPr>
          <p:cNvPr id="44" name="Picture 43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67600" y="2584450"/>
            <a:ext cx="318688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Felia: cea mai mică parte care demonstrează ideea.</a:t>
            </a:r>
          </a:p>
        </p:txBody>
      </p:sp>
      <p:pic>
        <p:nvPicPr>
          <p:cNvPr id="46" name="Picture 45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67600" y="2876550"/>
            <a:ext cx="238032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e real și ce e simulat, spus deschis.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0" name="Picture 49" descr="slide2_ca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02500" y="4435475"/>
            <a:ext cx="3465171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Soluția răspunde exact la durerea de pe slide-ul 2, sau la alta?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5" name="Picture 54" descr="slide2_ca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02500" y="5141912"/>
            <a:ext cx="371527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O listă de zece funcții. Juriul reține una — asigură-te că e cea bună.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Juriul evaluează o cale care merge, nu zece care aproape merg.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192555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5 DIN PITCH · A —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1888796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Taci și arată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276094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„Chiar merge?”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1:10–2:00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1:35–2:50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5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292350"/>
            <a:ext cx="6159500" cy="2124770"/>
          </a:xfrm>
          <a:prstGeom prst="roundRect">
            <a:avLst>
              <a:gd name="adj" fmla="val 2390"/>
            </a:avLst>
          </a:prstGeom>
          <a:solidFill>
            <a:srgbClr val="0D161C"/>
          </a:solidFill>
          <a:ln w="6350">
            <a:solidFill>
              <a:srgbClr val="333333"/>
            </a:solidFill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77850" y="2298700"/>
            <a:ext cx="6146800" cy="2349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7850" y="2527300"/>
            <a:ext cx="61468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79450" y="2374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06450" y="2374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933450" y="2374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5" name="Picture 24" descr="slide8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50" y="3132435"/>
            <a:ext cx="381000" cy="381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816225" y="3618210"/>
            <a:ext cx="1670050" cy="190500"/>
          </a:xfrm>
          <a:prstGeom prst="roundRect">
            <a:avLst>
              <a:gd name="adj" fmla="val 20000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846807" y="3624560"/>
            <a:ext cx="1608887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latin typeface="Fira Code" pitchFamily="49"/>
              </a:rPr>
              <a:t>[CAPTURĂ SAU DEMO LIVE]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569520"/>
            <a:ext cx="1824534" cy="345380"/>
          </a:xfrm>
          <a:prstGeom prst="roundRect">
            <a:avLst>
              <a:gd name="adj" fmla="val 147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54050" y="4652070"/>
            <a:ext cx="20429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9731" y="467747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012" y="4675485"/>
            <a:ext cx="959858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[PRIMUL CLICK]</a:t>
            </a:r>
          </a:p>
        </p:txBody>
      </p:sp>
      <p:pic>
        <p:nvPicPr>
          <p:cNvPr id="32" name="Picture 31" descr="slide7_ca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284" y="4700885"/>
            <a:ext cx="152400" cy="825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738934" y="4569520"/>
            <a:ext cx="1824633" cy="345380"/>
          </a:xfrm>
          <a:prstGeom prst="roundRect">
            <a:avLst>
              <a:gd name="adj" fmla="val 147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821484" y="4652070"/>
            <a:ext cx="20429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897165" y="467747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18445" y="4675485"/>
            <a:ext cx="1091553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SE ÎNTÂMPLĂ]</a:t>
            </a:r>
          </a:p>
        </p:txBody>
      </p:sp>
      <p:pic>
        <p:nvPicPr>
          <p:cNvPr id="37" name="Picture 36" descr="slide7_ca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16" y="4700885"/>
            <a:ext cx="155575" cy="82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906466" y="4569520"/>
            <a:ext cx="1824534" cy="345380"/>
          </a:xfrm>
          <a:prstGeom prst="roundRect">
            <a:avLst>
              <a:gd name="adj" fmla="val 147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4989016" y="4652070"/>
            <a:ext cx="20429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064697" y="4677470"/>
            <a:ext cx="52929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5978" y="4675485"/>
            <a:ext cx="1420737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[REZULTATUL PE ECRAN]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5048250"/>
            <a:ext cx="2268986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00" b="0" i="0" lang="ro-RO">
                <a:solidFill>
                  <a:srgbClr val="9FA5A9"/>
                </a:solidFill>
                <a:latin typeface="Fira Code" pitchFamily="49"/>
              </a:rPr>
              <a:t>Date: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 </a:t>
            </a:r>
            <a:r>
              <a:rPr sz="7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[REALE SAU FALSE — SPUS DESCHIS]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2050" y="5048250"/>
            <a:ext cx="1981271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00" b="0" i="0" lang="ro-RO">
                <a:solidFill>
                  <a:srgbClr val="9FA5A9"/>
                </a:solidFill>
                <a:latin typeface="Fira Code" pitchFamily="49"/>
              </a:rPr>
              <a:t>Plan B: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 </a:t>
            </a:r>
            <a:r>
              <a:rPr sz="7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[LINK CĂTRE ÎNREGISTRARE]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7" name="Picture 46" descr="slide2_ca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49" name="Picture 48" descr="slide4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467600" y="2292350"/>
            <a:ext cx="270221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 singură cale, de la primul click la rezultat.</a:t>
            </a:r>
          </a:p>
        </p:txBody>
      </p:sp>
      <p:pic>
        <p:nvPicPr>
          <p:cNvPr id="51" name="Picture 50" descr="slide4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467600" y="2584450"/>
            <a:ext cx="262056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Rezultatul, lăsat pe ecran câteva secunde.</a:t>
            </a:r>
          </a:p>
        </p:txBody>
      </p:sp>
      <p:pic>
        <p:nvPicPr>
          <p:cNvPr id="53" name="Picture 52" descr="slide4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67600" y="2876550"/>
            <a:ext cx="289102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Dacă datele sunt false, o spui într-o propoziție.</a:t>
            </a:r>
          </a:p>
        </p:txBody>
      </p:sp>
      <p:pic>
        <p:nvPicPr>
          <p:cNvPr id="55" name="Picture 54" descr="slide4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467600" y="3168650"/>
            <a:ext cx="235996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Planul B: înregistrarea, gata de pornit.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9" name="Picture 58" descr="slide2_cap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02500" y="4435475"/>
            <a:ext cx="3110270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Merge live, de la zero? Se vede rezultatul fără explicații?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4" name="Picture 63" descr="slide2_cap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2500" y="5141912"/>
            <a:ext cx="385168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Vorbești peste demo ca să acoperi emoțiile. Juriul nu mai vede nimic.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Demo-ul nu e prezentarea muncii. E singura parte din muncă pe care o vede cineva.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266696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6 DIN PITCH · B — CUM E CONSTRUIT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6282095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O propoziție tehnică pe care o poți apăra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33410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„Cum funcționează, și cât e făcut de AI?”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2:00–2:30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2:50–3:20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6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343150"/>
            <a:ext cx="1368425" cy="1079500"/>
          </a:xfrm>
          <a:prstGeom prst="roundRect">
            <a:avLst>
              <a:gd name="adj" fmla="val 470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79450" y="2698750"/>
            <a:ext cx="1152525" cy="368300"/>
          </a:xfrm>
          <a:prstGeom prst="roundRect">
            <a:avLst>
              <a:gd name="adj" fmla="val 10344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9741" y="2705100"/>
            <a:ext cx="107194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[SURSA DATELOR]</a:t>
            </a:r>
          </a:p>
        </p:txBody>
      </p:sp>
      <p:pic>
        <p:nvPicPr>
          <p:cNvPr id="22" name="Picture 21" descr="slide9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25" y="2835275"/>
            <a:ext cx="155575" cy="952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168525" y="2343150"/>
            <a:ext cx="1368425" cy="1079500"/>
          </a:xfrm>
          <a:prstGeom prst="roundRect">
            <a:avLst>
              <a:gd name="adj" fmla="val 470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276475" y="2698750"/>
            <a:ext cx="1152525" cy="368300"/>
          </a:xfrm>
          <a:prstGeom prst="roundRect">
            <a:avLst>
              <a:gd name="adj" fmla="val 10344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16766" y="2705100"/>
            <a:ext cx="107194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[COMPONENTA PRINCIPALĂ]</a:t>
            </a:r>
          </a:p>
        </p:txBody>
      </p:sp>
      <p:pic>
        <p:nvPicPr>
          <p:cNvPr id="26" name="Picture 25" descr="slide9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50" y="2835275"/>
            <a:ext cx="155575" cy="9525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3765550" y="2343150"/>
            <a:ext cx="1368425" cy="1079500"/>
          </a:xfrm>
          <a:prstGeom prst="roundRect">
            <a:avLst>
              <a:gd name="adj" fmla="val 470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873500" y="2609850"/>
            <a:ext cx="1152525" cy="546100"/>
          </a:xfrm>
          <a:prstGeom prst="roundRect">
            <a:avLst>
              <a:gd name="adj" fmla="val 69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913791" y="2616200"/>
            <a:ext cx="1071944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[MODELUL AI: CE FACE EXACT]</a:t>
            </a:r>
          </a:p>
        </p:txBody>
      </p:sp>
      <p:pic>
        <p:nvPicPr>
          <p:cNvPr id="30" name="Picture 29" descr="slide9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2835275"/>
            <a:ext cx="155575" cy="9525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5362575" y="2343150"/>
            <a:ext cx="1368425" cy="1079500"/>
          </a:xfrm>
          <a:prstGeom prst="roundRect">
            <a:avLst>
              <a:gd name="adj" fmla="val 4705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470525" y="2698750"/>
            <a:ext cx="1152525" cy="368300"/>
          </a:xfrm>
          <a:prstGeom prst="roundRect">
            <a:avLst>
              <a:gd name="adj" fmla="val 10344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10816" y="2705100"/>
            <a:ext cx="107194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[CE VEDE OMUL]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638550"/>
            <a:ext cx="297857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FFFF"/>
                </a:solidFill>
                <a:latin typeface="Fira Code" pitchFamily="49"/>
              </a:rPr>
              <a:t>Stack: </a:t>
            </a:r>
            <a:r>
              <a:rPr sz="900" b="0" i="0" lang="ro-RO">
                <a:solidFill>
                  <a:srgbClr val="FF5640"/>
                </a:solidFill>
                <a:highlight>
                  <a:srgbClr val="27242B"/>
                </a:highlight>
                <a:latin typeface="Fira Code" pitchFamily="49"/>
              </a:rPr>
              <a:t>[3–4 TEHNOLOGII, NU 15 LOGO-URI]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" y="4006850"/>
            <a:ext cx="3028950" cy="1168400"/>
          </a:xfrm>
          <a:prstGeom prst="roundRect">
            <a:avLst>
              <a:gd name="adj" fmla="val 434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4850" y="4146550"/>
            <a:ext cx="106519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AI-UL A GENERAT: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650" y="4349750"/>
            <a:ext cx="1519428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PĂRȚI DIN COD]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650" y="4632325"/>
            <a:ext cx="1437132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DATE DE TEST]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2050" y="4006850"/>
            <a:ext cx="3028950" cy="1168400"/>
          </a:xfrm>
          <a:prstGeom prst="roundRect">
            <a:avLst>
              <a:gd name="adj" fmla="val 434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35400" y="4146550"/>
            <a:ext cx="87263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NOI AM DECIS: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349750"/>
            <a:ext cx="1025652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AM ALES]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632325"/>
            <a:ext cx="1848612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[DE CE AȘA, NU ALTFEL]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50100" y="1974850"/>
            <a:ext cx="4737100" cy="168275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150100" y="1974850"/>
            <a:ext cx="25400" cy="1682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6" name="Picture 45" descr="slide2_ca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48" name="Picture 47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467600" y="2292350"/>
            <a:ext cx="120899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Fluxul, în 3–4 cutii.</a:t>
            </a:r>
          </a:p>
        </p:txBody>
      </p:sp>
      <p:pic>
        <p:nvPicPr>
          <p:cNvPr id="50" name="Picture 49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467600" y="2584450"/>
            <a:ext cx="121585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De unde vin datele.</a:t>
            </a:r>
          </a:p>
        </p:txBody>
      </p:sp>
      <p:pic>
        <p:nvPicPr>
          <p:cNvPr id="52" name="Picture 51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67600" y="2876550"/>
            <a:ext cx="289177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Rolul exact al AI-ului: ce generează, ce decide.</a:t>
            </a:r>
          </a:p>
        </p:txBody>
      </p:sp>
      <p:pic>
        <p:nvPicPr>
          <p:cNvPr id="54" name="Picture 53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467600" y="3168650"/>
            <a:ext cx="152221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ați decis voi, și de 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50100" y="3759200"/>
            <a:ext cx="4737100" cy="79057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150100" y="3759200"/>
            <a:ext cx="25400" cy="790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8" name="Picture 57" descr="slide2_ca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3892550"/>
            <a:ext cx="101600" cy="1016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54900" y="3898900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02500" y="4044156"/>
            <a:ext cx="4540377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„Cât e făcut de AI?” Răspunsul bun: „Boilerplate-ul. Deciziile sunt ale noastre, uite care.”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50100" y="4651375"/>
            <a:ext cx="4737100" cy="79057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150100" y="4651375"/>
            <a:ext cx="25400" cy="79057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3" name="Picture 62" descr="slide2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794250"/>
            <a:ext cx="101600" cy="889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454900" y="4791075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2500" y="4936331"/>
            <a:ext cx="4540377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Un perete de logo-uri. Sau cod pe care nu-l poți explica: </a:t>
            </a: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„așa a generat”</a:t>
            </a: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 pierde întrebarea.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Poți livra cod pe care nu l-ai scris. Nu poți apăra cod pe care nu l-ai citit.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3003971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D700"/>
                </a:solidFill>
                <a:latin typeface="Fira Code" pitchFamily="49"/>
              </a:rPr>
              <a:t>SLIDE 7 DIN PITCH · BUSINESS — CINE PLĂTEȘTE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3966341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Cine plătește, cât și de 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50458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„Din ce trăiește produsul după hackathon?”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9783" y="1136650"/>
            <a:ext cx="57741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D700"/>
                </a:solidFill>
                <a:latin typeface="Fira Code" pitchFamily="49"/>
              </a:rPr>
              <a:t>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2:30–2:40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3:20–3:50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985367" cy="1270000"/>
          </a:xfrm>
          <a:prstGeom prst="roundRect">
            <a:avLst>
              <a:gd name="adj" fmla="val 4000"/>
            </a:avLst>
          </a:prstGeom>
          <a:solidFill>
            <a:srgbClr val="FFD700">
              <a:alpha val="5000"/>
            </a:srgbClr>
          </a:solidFill>
          <a:ln w="6350">
            <a:solidFill>
              <a:srgbClr val="FFD700">
                <a:alpha val="25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850" y="2482850"/>
            <a:ext cx="87263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FFD700"/>
                </a:solidFill>
                <a:latin typeface="Fira Code" pitchFamily="49"/>
              </a:rPr>
              <a:t>CINE PLĂTEȘTE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875" y="2698750"/>
            <a:ext cx="127254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500" b="0" i="0" lang="ro-RO">
                <a:solidFill>
                  <a:srgbClr val="FF5640"/>
                </a:solidFill>
                <a:highlight>
                  <a:srgbClr val="322D29"/>
                </a:highlight>
                <a:latin typeface="Fira Code" pitchFamily="49"/>
              </a:rPr>
              <a:t>[CLIENTUL]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8467" y="2343150"/>
            <a:ext cx="1985466" cy="1270000"/>
          </a:xfrm>
          <a:prstGeom prst="roundRect">
            <a:avLst>
              <a:gd name="adj" fmla="val 4000"/>
            </a:avLst>
          </a:prstGeom>
          <a:solidFill>
            <a:srgbClr val="FFD700">
              <a:alpha val="5000"/>
            </a:srgbClr>
          </a:solidFill>
          <a:ln w="6350">
            <a:solidFill>
              <a:srgbClr val="FFD700">
                <a:alpha val="25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791817" y="2508250"/>
            <a:ext cx="68007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FFD700"/>
                </a:solidFill>
                <a:latin typeface="Fira Code" pitchFamily="49"/>
              </a:rPr>
              <a:t>CÂT ȘI CUM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1733" y="2476500"/>
            <a:ext cx="488851" cy="165100"/>
          </a:xfrm>
          <a:prstGeom prst="roundRect">
            <a:avLst>
              <a:gd name="adj" fmla="val 15384"/>
            </a:avLst>
          </a:prstGeom>
          <a:noFill/>
          <a:ln w="6350">
            <a:solidFill>
              <a:srgbClr val="FFD700">
                <a:alpha val="4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75137" y="2508250"/>
            <a:ext cx="382042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IPOTEZĂ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4842" y="2749550"/>
            <a:ext cx="1025652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500" b="0" i="0" lang="ro-RO">
                <a:solidFill>
                  <a:srgbClr val="FF5640"/>
                </a:solidFill>
                <a:highlight>
                  <a:srgbClr val="322D29"/>
                </a:highlight>
                <a:latin typeface="Fira Code" pitchFamily="49"/>
              </a:rPr>
              <a:t>[PREȚUL]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1817" y="3116262"/>
            <a:ext cx="176160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pe </a:t>
            </a:r>
            <a:r>
              <a:rPr sz="1000" b="0" i="0" lang="ro-RO">
                <a:solidFill>
                  <a:srgbClr val="FF5640"/>
                </a:solidFill>
                <a:highlight>
                  <a:srgbClr val="322D29"/>
                </a:highlight>
                <a:latin typeface="Fira Code" pitchFamily="49"/>
              </a:rPr>
              <a:t>[LUNĂ / UTILIZARE]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45534" y="2343150"/>
            <a:ext cx="1985367" cy="1270000"/>
          </a:xfrm>
          <a:prstGeom prst="roundRect">
            <a:avLst>
              <a:gd name="adj" fmla="val 4000"/>
            </a:avLst>
          </a:prstGeom>
          <a:solidFill>
            <a:srgbClr val="FFD700">
              <a:alpha val="5000"/>
            </a:srgbClr>
          </a:solidFill>
          <a:ln w="6350">
            <a:solidFill>
              <a:srgbClr val="FFD700">
                <a:alpha val="25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78884" y="2482850"/>
            <a:ext cx="93681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FFD700"/>
                </a:solidFill>
                <a:latin typeface="Fira Code" pitchFamily="49"/>
              </a:rPr>
              <a:t>DE CE AR PLĂTI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8514" y="2670175"/>
            <a:ext cx="1692217" cy="50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200" b="0" i="0" lang="ro-RO">
                <a:solidFill>
                  <a:srgbClr val="FF5640"/>
                </a:solidFill>
                <a:highlight>
                  <a:srgbClr val="322D29"/>
                </a:highlight>
                <a:latin typeface="Fira Code" pitchFamily="49"/>
              </a:rPr>
              <a:t>[CÂT ÎL COSTĂ PROBLEMA]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" y="4051300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9450" y="4197350"/>
            <a:ext cx="1578685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COSTUL NOSTRU PRINCIPAL: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53853" y="4171950"/>
            <a:ext cx="211200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[CÂT NE COSTĂ UN UTILIZATOR]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4546600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9450" y="4692650"/>
            <a:ext cx="151449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PRIMUL CLIENT PLĂTITOR: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421" y="4667250"/>
            <a:ext cx="1149096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[CINE, CONCRET]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2" name="Picture 31" descr="slide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34" name="Picture 33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67600" y="2292350"/>
            <a:ext cx="283144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Cine plătește: utilizatorul nu e mereu clientul.</a:t>
            </a:r>
          </a:p>
        </p:txBody>
      </p:sp>
      <p:pic>
        <p:nvPicPr>
          <p:cNvPr id="36" name="Picture 35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67600" y="2584450"/>
            <a:ext cx="284334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Modelul: abonament, per utilizare sau licență.</a:t>
            </a:r>
          </a:p>
        </p:txBody>
      </p:sp>
      <p:pic>
        <p:nvPicPr>
          <p:cNvPr id="38" name="Picture 37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67600" y="2876550"/>
            <a:ext cx="186854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Prețul, marcat clar ca ipoteză.</a:t>
            </a:r>
          </a:p>
        </p:txBody>
      </p:sp>
      <p:pic>
        <p:nvPicPr>
          <p:cNvPr id="40" name="Picture 39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67600" y="3168650"/>
            <a:ext cx="225484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Costul vostru principal per utilizator.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4" name="Picture 43" descr="slide2_ca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02500" y="4435475"/>
            <a:ext cx="408603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„Cine plătește?” „Vedem” sau „din reclame”, fără calcul, nu e un răspuns.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9" name="Picture 48" descr="slide2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2500" y="5141912"/>
            <a:ext cx="413125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Venituri pe cinci ani, fără niciun client numit. Juriul vede decor, nu un plan.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Un preț marcat ipoteză e onest. O cifră de venit fără calcul e decor.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1992951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8 DIN PITCH · R — PIAȚA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441404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Piața, calculată de jos în 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503533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„Câți au problema asta și cum ajungi la primii zece?”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5020" y="1339850"/>
            <a:ext cx="125218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anexă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3:50–4:10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8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343150"/>
            <a:ext cx="18669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04850" y="2603500"/>
            <a:ext cx="1600200" cy="368300"/>
          </a:xfrm>
          <a:prstGeom prst="roundRect">
            <a:avLst>
              <a:gd name="adj" fmla="val 10344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" y="2609850"/>
            <a:ext cx="1528572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[CÂȚI CLIENȚI ATINGI]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3314700"/>
            <a:ext cx="1255824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00" b="0" i="0" lang="ro-RO">
                <a:solidFill>
                  <a:srgbClr val="B7BBBE"/>
                </a:solidFill>
                <a:latin typeface="Fira Code" pitchFamily="49"/>
              </a:rPr>
              <a:t>sursă: </a:t>
            </a:r>
            <a:r>
              <a:rPr sz="700" b="0" i="0" lang="ro-RO">
                <a:solidFill>
                  <a:srgbClr val="BE4739"/>
                </a:solidFill>
                <a:highlight>
                  <a:srgbClr val="27242B"/>
                </a:highlight>
                <a:latin typeface="Fira Code" pitchFamily="49"/>
              </a:rPr>
              <a:t>[LINK]</a:t>
            </a:r>
            <a:r>
              <a:rPr sz="700" b="0" i="0" lang="ro-RO">
                <a:solidFill>
                  <a:srgbClr val="B7BBBE"/>
                </a:solidFill>
                <a:latin typeface="Fira Code" pitchFamily="49"/>
              </a:rPr>
              <a:t>, </a:t>
            </a:r>
            <a:r>
              <a:rPr sz="700" b="0" i="0" lang="ro-RO">
                <a:solidFill>
                  <a:srgbClr val="BE4739"/>
                </a:solidFill>
                <a:highlight>
                  <a:srgbClr val="27242B"/>
                </a:highlight>
                <a:latin typeface="Fira Code" pitchFamily="49"/>
              </a:rPr>
              <a:t>[AN]</a:t>
            </a:r>
          </a:p>
        </p:txBody>
      </p:sp>
      <p:pic>
        <p:nvPicPr>
          <p:cNvPr id="23" name="Picture 22" descr="slide11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316" y="2759075"/>
            <a:ext cx="107950" cy="10795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717800" y="2343150"/>
            <a:ext cx="18669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067050" y="2692400"/>
            <a:ext cx="1168400" cy="190500"/>
          </a:xfrm>
          <a:prstGeom prst="roundRect">
            <a:avLst>
              <a:gd name="adj" fmla="val 20000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107182" y="2698750"/>
            <a:ext cx="1088136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[PREȚUL PE AN]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7800" y="3314700"/>
            <a:ext cx="1255824" cy="120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</a:pPr>
            <a:r>
              <a:rPr sz="700" b="0" i="0" lang="ro-RO">
                <a:solidFill>
                  <a:srgbClr val="B7BBBE"/>
                </a:solidFill>
                <a:latin typeface="Fira Code" pitchFamily="49"/>
              </a:rPr>
              <a:t>sursă: </a:t>
            </a:r>
            <a:r>
              <a:rPr sz="700" b="0" i="0" lang="ro-RO">
                <a:solidFill>
                  <a:srgbClr val="BE4739"/>
                </a:solidFill>
                <a:highlight>
                  <a:srgbClr val="27242B"/>
                </a:highlight>
                <a:latin typeface="Fira Code" pitchFamily="49"/>
              </a:rPr>
              <a:t>[LINK]</a:t>
            </a:r>
            <a:r>
              <a:rPr sz="700" b="0" i="0" lang="ro-RO">
                <a:solidFill>
                  <a:srgbClr val="B7BBBE"/>
                </a:solidFill>
                <a:latin typeface="Fira Code" pitchFamily="49"/>
              </a:rPr>
              <a:t>, </a:t>
            </a:r>
            <a:r>
              <a:rPr sz="700" b="0" i="0" lang="ro-RO">
                <a:solidFill>
                  <a:srgbClr val="BE4739"/>
                </a:solidFill>
                <a:highlight>
                  <a:srgbClr val="27242B"/>
                </a:highlight>
                <a:latin typeface="Fira Code" pitchFamily="49"/>
              </a:rPr>
              <a:t>[AN]</a:t>
            </a:r>
          </a:p>
        </p:txBody>
      </p:sp>
      <p:pic>
        <p:nvPicPr>
          <p:cNvPr id="28" name="Picture 27" descr="slide11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616" y="2768600"/>
            <a:ext cx="111125" cy="8572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864100" y="2343150"/>
            <a:ext cx="1866900" cy="88900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175250" y="2692400"/>
            <a:ext cx="1244600" cy="190500"/>
          </a:xfrm>
          <a:prstGeom prst="roundRect">
            <a:avLst>
              <a:gd name="adj" fmla="val 20000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214620" y="2698750"/>
            <a:ext cx="116586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0" i="0" lang="ro-RO">
                <a:solidFill>
                  <a:srgbClr val="FF5640"/>
                </a:solidFill>
                <a:latin typeface="Fira Code" pitchFamily="49"/>
              </a:rPr>
              <a:t>[VENITUL PE AN]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3717925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9450" y="3863975"/>
            <a:ext cx="11935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PRIMII 10 CLIENȚI: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7261" y="3838575"/>
            <a:ext cx="151942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[UNDE SUNT, CONCRET]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" y="4213225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9450" y="4359275"/>
            <a:ext cx="55170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CANALUL: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2941" y="4333875"/>
            <a:ext cx="137133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[CUM AJUNGI LA EI]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" y="4708525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9450" y="4854575"/>
            <a:ext cx="74426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PRIMUL PAS: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237" y="4829175"/>
            <a:ext cx="926961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[CINE, CÂND]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4" name="Picture 43" descr="slide2_ca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46" name="Picture 45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67600" y="2292350"/>
            <a:ext cx="199102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Calculul de jos în sus: câți × cât.</a:t>
            </a:r>
          </a:p>
        </p:txBody>
      </p:sp>
      <p:pic>
        <p:nvPicPr>
          <p:cNvPr id="48" name="Picture 47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467600" y="2584450"/>
            <a:ext cx="197837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Sursa și anul lângă fiecare cifră.</a:t>
            </a:r>
          </a:p>
        </p:txBody>
      </p:sp>
      <p:pic>
        <p:nvPicPr>
          <p:cNvPr id="50" name="Picture 49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467600" y="2876550"/>
            <a:ext cx="214918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Unde îi găsești pe primii 10 clienți.</a:t>
            </a:r>
          </a:p>
        </p:txBody>
      </p:sp>
      <p:pic>
        <p:nvPicPr>
          <p:cNvPr id="52" name="Picture 51" descr="slide4_ca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67600" y="3168650"/>
            <a:ext cx="179889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Canalul prin care ajungi la ei.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6" name="Picture 55" descr="slide2_ca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02500" y="4435475"/>
            <a:ext cx="378181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Cifra pe care nu o poți apăra. Un juriu tehnic o caută exact pe aceea.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1" name="Picture 60" descr="slide2_ca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02500" y="5141912"/>
            <a:ext cx="4452295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„Piața globală are miliarde; dacă luăm doar 1%…” — o cifră fără an și fără calcul.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Orice cifră de pe slide are lângă ea sursa și anul. Dacă nu le ai, scoate cifra.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206035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9 DIN PITCH · O — ECHIPA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4486370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Cine a deținut ce, și de ce voi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96621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„Poate echipa asta să ducă produsul mai departe?”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2:40–2:50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4:10–4:30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309" y="2032000"/>
            <a:ext cx="42332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9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343150"/>
            <a:ext cx="1463675" cy="1746250"/>
          </a:xfrm>
          <a:prstGeom prst="roundRect">
            <a:avLst>
              <a:gd name="adj" fmla="val 347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49338" y="2476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21" name="Picture 20" descr="slide1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994" y="2632075"/>
            <a:ext cx="168275" cy="1936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2045" y="3073400"/>
            <a:ext cx="4825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[NUME]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880" y="3267075"/>
            <a:ext cx="1220914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[ROL: PRODUCT, BUILD SAU STORY]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251" y="3663950"/>
            <a:ext cx="68007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A DEȚINUT: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713" y="3810000"/>
            <a:ext cx="1223248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ANUME, ÎN 48H]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36775" y="2343150"/>
            <a:ext cx="1463675" cy="1746250"/>
          </a:xfrm>
          <a:prstGeom prst="roundRect">
            <a:avLst>
              <a:gd name="adj" fmla="val 347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614612" y="2476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28" name="Picture 27" descr="slide1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69" y="2632075"/>
            <a:ext cx="168275" cy="1936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27320" y="3073400"/>
            <a:ext cx="4825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[NUME]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155" y="3267075"/>
            <a:ext cx="1220914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[ROL: PRODUCT, BUILD SAU STORY]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8526" y="3663950"/>
            <a:ext cx="68007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A DEȚINUT: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6988" y="3810000"/>
            <a:ext cx="1223248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ANUME, ÎN 48H]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2050" y="2343150"/>
            <a:ext cx="1463675" cy="1746250"/>
          </a:xfrm>
          <a:prstGeom prst="roundRect">
            <a:avLst>
              <a:gd name="adj" fmla="val 347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179888" y="2476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35" name="Picture 34" descr="slide1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544" y="2632075"/>
            <a:ext cx="168275" cy="1936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92595" y="3073400"/>
            <a:ext cx="4825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[NUME]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3430" y="3267075"/>
            <a:ext cx="1220914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[ROL: PRODUCT, BUILD SAU STORY]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93801" y="3663950"/>
            <a:ext cx="68007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A DEȚINUT: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263" y="3810000"/>
            <a:ext cx="1223248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ANUME, ÎN 48H]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67325" y="2343150"/>
            <a:ext cx="1463675" cy="1746250"/>
          </a:xfrm>
          <a:prstGeom prst="roundRect">
            <a:avLst>
              <a:gd name="adj" fmla="val 347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745162" y="2476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42" name="Picture 41" descr="slide12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819" y="2632075"/>
            <a:ext cx="168275" cy="1936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757870" y="3073400"/>
            <a:ext cx="4825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[NUME]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8705" y="3267075"/>
            <a:ext cx="1220914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[ROL: PRODUCT, BUILD SAU STORY]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59076" y="3663950"/>
            <a:ext cx="68007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A DEȚINUT: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87538" y="3810000"/>
            <a:ext cx="1223248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[CE ANUME, ÎN 48H]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500" y="4292600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79450" y="4438650"/>
            <a:ext cx="68007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DE CE NOI: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1805" y="4413250"/>
            <a:ext cx="226009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[LEGĂTURA ECHIPEI CU PROBLEMA]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1500" y="4787900"/>
            <a:ext cx="6159500" cy="393700"/>
          </a:xfrm>
          <a:prstGeom prst="roundRect">
            <a:avLst>
              <a:gd name="adj" fmla="val 1290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79450" y="4933950"/>
            <a:ext cx="1578685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88E"/>
                </a:solidFill>
                <a:latin typeface="Fira Code" pitchFamily="49"/>
              </a:rPr>
              <a:t>DUPĂ HACKATHON CONTINUĂ: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53853" y="4908550"/>
            <a:ext cx="48258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[CINE]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50100" y="1974850"/>
            <a:ext cx="4737100" cy="186848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150100" y="1974850"/>
            <a:ext cx="25400" cy="1868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6" name="Picture 55" descr="slide2_ca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58" name="Picture 57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67600" y="2292350"/>
            <a:ext cx="156764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Numele și rolul fiecăruia.</a:t>
            </a:r>
          </a:p>
        </p:txBody>
      </p:sp>
      <p:pic>
        <p:nvPicPr>
          <p:cNvPr id="60" name="Picture 59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467600" y="2584450"/>
            <a:ext cx="246572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a deținut fiecare în aceste 48 de ore.</a:t>
            </a:r>
          </a:p>
        </p:txBody>
      </p:sp>
      <p:pic>
        <p:nvPicPr>
          <p:cNvPr id="62" name="Picture 61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467600" y="2876550"/>
            <a:ext cx="189501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Legătura echipei cu problema.</a:t>
            </a:r>
          </a:p>
        </p:txBody>
      </p:sp>
      <p:pic>
        <p:nvPicPr>
          <p:cNvPr id="64" name="Picture 63" descr="slide4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467600" y="3168650"/>
            <a:ext cx="193562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Cine continuă după hackathon.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50100" y="3944938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150100" y="3944938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8" name="Picture 67" descr="slide2_ca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4075112"/>
            <a:ext cx="101600" cy="1016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454900" y="4084638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02500" y="4249738"/>
            <a:ext cx="2849987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Dacă premiul vine cu un pilot, cine îl duce la capăt?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50100" y="4651375"/>
            <a:ext cx="4737100" cy="79057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7150100" y="4651375"/>
            <a:ext cx="25400" cy="790575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3" name="Picture 72" descr="slide2_cap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4794250"/>
            <a:ext cx="101600" cy="889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454900" y="4791075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02500" y="4936331"/>
            <a:ext cx="4540377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Echipa pe primul slide. Sau titluri goale, </a:t>
            </a: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„CEO, CTO, CMO”</a:t>
            </a: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, pentru patru oameni și un weekend.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Echipa nu deschide pitch-ul. Îl închide — și răspunde la „de ce voi?”.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882650"/>
            <a:ext cx="2397359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SLIDE 10 DIN PITCH · A — CE URMEAZĂ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028700"/>
            <a:ext cx="4203263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Ce măsori primul, și ce ceri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435100"/>
            <a:ext cx="443568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Întrebarea la care răspunde: „Ce faceți mâine, și cu ce vă putem ajuta?”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75129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8437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1745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505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360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1668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4976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8284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 spc="70">
                <a:solidFill>
                  <a:srgbClr val="8FA3B0"/>
                </a:solidFill>
                <a:latin typeface="Fira Code" pitchFamily="49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1592" y="1136650"/>
            <a:ext cx="105608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1" i="0" lang="ro-RO" spc="70">
                <a:solidFill>
                  <a:srgbClr val="FF5640"/>
                </a:solidFill>
                <a:latin typeface="Fira Code" pitchFamily="49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3884" y="13398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3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FF5640"/>
                </a:solidFill>
                <a:latin typeface="Fira Code" pitchFamily="49"/>
              </a:rPr>
              <a:t>2:50–3:00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3884" y="1492250"/>
            <a:ext cx="148331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00"/>
              </a:lnSpc>
            </a:pPr>
            <a:r>
              <a:rPr sz="700" b="0" i="0" lang="ro-RO">
                <a:solidFill>
                  <a:srgbClr val="8C959B"/>
                </a:solidFill>
                <a:latin typeface="Fira Code" pitchFamily="49"/>
              </a:rPr>
              <a:t>pitch de 5 min</a:t>
            </a:r>
            <a:r>
              <a:rPr sz="700" b="0" i="0" lang="ro-RO">
                <a:solidFill>
                  <a:srgbClr val="FFFFFF"/>
                </a:solidFill>
                <a:latin typeface="Fira Code" pitchFamily="49"/>
              </a:rPr>
              <a:t>  </a:t>
            </a:r>
            <a:r>
              <a:rPr sz="700" b="1" i="0" lang="ro-RO">
                <a:solidFill>
                  <a:srgbClr val="D1D4D7"/>
                </a:solidFill>
                <a:latin typeface="Fira Code" pitchFamily="49"/>
              </a:rPr>
              <a:t>4:30–5:00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1758950"/>
            <a:ext cx="6692900" cy="3683000"/>
          </a:xfrm>
          <a:prstGeom prst="roundRect">
            <a:avLst>
              <a:gd name="adj" fmla="val 2413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" y="2032000"/>
            <a:ext cx="1450312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RĂMÂNE PE SLIDE-UL TĂU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4877" y="2032000"/>
            <a:ext cx="48751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10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2292350"/>
            <a:ext cx="6159500" cy="495300"/>
          </a:xfrm>
          <a:prstGeom prst="roundRect">
            <a:avLst>
              <a:gd name="adj" fmla="val 1025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pic>
        <p:nvPicPr>
          <p:cNvPr id="20" name="Picture 19" descr="slide13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441575"/>
            <a:ext cx="190500" cy="1936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50" y="2455862"/>
            <a:ext cx="380282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Am tăiat, și punem înapoi: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[FUNCȚIA 1]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,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[FUNCȚIA 2]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889250"/>
            <a:ext cx="6159500" cy="495300"/>
          </a:xfrm>
          <a:prstGeom prst="roundRect">
            <a:avLst>
              <a:gd name="adj" fmla="val 1025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pic>
        <p:nvPicPr>
          <p:cNvPr id="23" name="Picture 22" descr="slide13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051175"/>
            <a:ext cx="190500" cy="1682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50" y="3052762"/>
            <a:ext cx="389090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Măsurăm primul: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[METRICA]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 la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[CINE]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, în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[CÂT TIMP]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3486150"/>
            <a:ext cx="6159500" cy="495300"/>
          </a:xfrm>
          <a:prstGeom prst="roundRect">
            <a:avLst>
              <a:gd name="adj" fmla="val 1025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pic>
        <p:nvPicPr>
          <p:cNvPr id="26" name="Picture 25" descr="slide13_ca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660775"/>
            <a:ext cx="241300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85850" y="3649662"/>
            <a:ext cx="531715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Cererea noastră:</a:t>
            </a: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 </a:t>
            </a:r>
            <a:r>
              <a:rPr sz="1000" b="0" i="0" lang="ro-RO">
                <a:solidFill>
                  <a:srgbClr val="FF5640"/>
                </a:solidFill>
                <a:highlight>
                  <a:srgbClr val="302D33"/>
                </a:highlight>
                <a:latin typeface="Fira Code" pitchFamily="49"/>
              </a:rPr>
              <a:t>[PILOT, MENTORAT, ACCES LA DATE SAU O INTRODUCERE]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460875"/>
            <a:ext cx="2884091" cy="336550"/>
          </a:xfrm>
          <a:prstGeom prst="roundRect">
            <a:avLst>
              <a:gd name="adj" fmla="val 11320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6212" y="4467225"/>
            <a:ext cx="2774666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50"/>
              </a:lnSpc>
            </a:pPr>
            <a:r>
              <a:rPr sz="1700" b="1" i="0" lang="ro-RO">
                <a:solidFill>
                  <a:srgbClr val="FF5640"/>
                </a:solidFill>
                <a:latin typeface="Fira Code" pitchFamily="49"/>
              </a:rPr>
              <a:t>[PROPOZIȚIA DE FINAL]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1000" y="4152900"/>
            <a:ext cx="1270000" cy="952500"/>
          </a:xfrm>
          <a:prstGeom prst="roundRect">
            <a:avLst>
              <a:gd name="adj" fmla="val 5333"/>
            </a:avLst>
          </a:prstGeom>
          <a:solidFill>
            <a:srgbClr val="FF5640">
              <a:alpha val="5000"/>
            </a:srgbClr>
          </a:solidFill>
          <a:ln w="12700">
            <a:solidFill>
              <a:srgbClr val="FF5640">
                <a:alpha val="4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pic>
        <p:nvPicPr>
          <p:cNvPr id="31" name="Picture 30" descr="slide13_ca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812" y="4429125"/>
            <a:ext cx="203200" cy="2032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685135" y="4711700"/>
            <a:ext cx="821630" cy="139700"/>
          </a:xfrm>
          <a:prstGeom prst="roundRect">
            <a:avLst>
              <a:gd name="adj" fmla="val 27272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15133" y="4718050"/>
            <a:ext cx="761634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950"/>
              </a:lnSpc>
            </a:pPr>
            <a:r>
              <a:rPr sz="700" b="0" i="0" lang="ro-RO">
                <a:solidFill>
                  <a:srgbClr val="FF5640"/>
                </a:solidFill>
                <a:latin typeface="Fira Code" pitchFamily="49"/>
              </a:rPr>
              <a:t>[CONTACT / QR]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100" y="1765300"/>
            <a:ext cx="1707166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808A91"/>
                </a:solidFill>
                <a:latin typeface="Fira Code" pitchFamily="49"/>
              </a:rPr>
              <a:t>GHIDAJ — NU INTRĂ PE SLIDE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100" y="1974850"/>
            <a:ext cx="4737100" cy="205422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150100" y="1974850"/>
            <a:ext cx="25400" cy="2054225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7" name="Picture 36" descr="slide2_cap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500" y="2108200"/>
            <a:ext cx="101600" cy="101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4900" y="2114550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2ECC71"/>
                </a:solidFill>
                <a:latin typeface="Fira Code" pitchFamily="49"/>
              </a:rPr>
              <a:t>CE MENȚIONEZI</a:t>
            </a:r>
          </a:p>
        </p:txBody>
      </p:sp>
      <p:pic>
        <p:nvPicPr>
          <p:cNvPr id="39" name="Picture 38" descr="slide4_ca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2368550"/>
            <a:ext cx="88900" cy="63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67600" y="2292350"/>
            <a:ext cx="228013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ați tăiat ca să încapă în 48 de ore.</a:t>
            </a:r>
          </a:p>
        </p:txBody>
      </p:sp>
      <p:pic>
        <p:nvPicPr>
          <p:cNvPr id="41" name="Picture 40" descr="slide4_ca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2660650"/>
            <a:ext cx="88900" cy="63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67600" y="2584450"/>
            <a:ext cx="247890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ați măsura primul, cu utilizatori reali.</a:t>
            </a:r>
          </a:p>
        </p:txBody>
      </p:sp>
      <p:pic>
        <p:nvPicPr>
          <p:cNvPr id="43" name="Picture 42" descr="slide4_ca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2952750"/>
            <a:ext cx="88900" cy="635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467600" y="2876550"/>
            <a:ext cx="258841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 cerere concretă către juriu sau mentori.</a:t>
            </a:r>
          </a:p>
        </p:txBody>
      </p:sp>
      <p:pic>
        <p:nvPicPr>
          <p:cNvPr id="45" name="Picture 44" descr="slide4_ca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00" y="3244850"/>
            <a:ext cx="88900" cy="635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67600" y="3168650"/>
            <a:ext cx="217865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Propoziția de final, aleasă dinainte.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0100" y="4130675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150100" y="4130675"/>
            <a:ext cx="25400" cy="6048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9" name="Picture 48" descr="slide2_cap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2500" y="4267200"/>
            <a:ext cx="101600" cy="101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454900" y="42703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JURIUL VERIFICĂ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2500" y="4435475"/>
            <a:ext cx="4312991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„Ce faceți mai departe?” Răspunsul bun e o măsurătoare, nu o listă de funcții.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100" y="4837112"/>
            <a:ext cx="4737100" cy="604838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150100" y="4837112"/>
            <a:ext cx="25400" cy="60483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4" name="Picture 53" descr="slide2_cap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2500" y="4976812"/>
            <a:ext cx="101600" cy="889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454900" y="4976812"/>
            <a:ext cx="962537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E74C3C"/>
                </a:solidFill>
                <a:latin typeface="Fira Code" pitchFamily="49"/>
              </a:rPr>
              <a:t>GREȘEALA CLASICĂ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02500" y="5141912"/>
            <a:ext cx="3957340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Ultimul cuvânt e „Mulțumim!” pe un slide gol. Ultimul cuvânt e cererea.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4800" y="55943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95453" y="57023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Ultima propoziție e cea pe care juriul o duce în deliberare. Alege-o dinainte.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060450"/>
            <a:ext cx="1790640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DUPĂ ULTIMUL SLIDE · ANEXE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206500"/>
            <a:ext cx="4702397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Slide-uri pe care nu le prezinți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612900"/>
            <a:ext cx="569327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Stau după slide-ul 10 și se deschid doar când juriul întreabă. Arată că ai întrebat înaintea lor.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1936750"/>
            <a:ext cx="2781300" cy="2730500"/>
          </a:xfrm>
          <a:prstGeom prst="roundRect">
            <a:avLst>
              <a:gd name="adj" fmla="val 3255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69900" y="2114550"/>
            <a:ext cx="48751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ANEXA A</a:t>
            </a:r>
          </a:p>
        </p:txBody>
      </p:sp>
      <p:pic>
        <p:nvPicPr>
          <p:cNvPr id="7" name="Picture 6" descr="slide14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038" y="2120900"/>
            <a:ext cx="79375" cy="88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9900" y="2355850"/>
            <a:ext cx="1360622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Ce nu merge încă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900" y="26860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77850" y="2794000"/>
            <a:ext cx="693341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3665" y="2800350"/>
            <a:ext cx="62171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[LIMITA 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900" y="31432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77850" y="3251200"/>
            <a:ext cx="693341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3665" y="3257550"/>
            <a:ext cx="621711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[LIMITA 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900" y="36004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77850" y="3708400"/>
            <a:ext cx="148590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5739" y="3714750"/>
            <a:ext cx="143012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[CUM AȚI TESTA FIECARE]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900" y="4089400"/>
            <a:ext cx="2451100" cy="412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69900" y="4089400"/>
            <a:ext cx="2451100" cy="6350"/>
          </a:xfrm>
          <a:prstGeom prst="rect">
            <a:avLst/>
          </a:prstGeom>
          <a:solidFill>
            <a:srgbClr val="FFD700">
              <a:alpha val="30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9900" y="4203700"/>
            <a:ext cx="673644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RĂSPUNDE 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900" y="4337050"/>
            <a:ext cx="948500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„Ce nu merge?”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8500" y="1936750"/>
            <a:ext cx="2781300" cy="2730500"/>
          </a:xfrm>
          <a:prstGeom prst="roundRect">
            <a:avLst>
              <a:gd name="adj" fmla="val 3255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03600" y="2114550"/>
            <a:ext cx="48751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ANEXA B</a:t>
            </a:r>
          </a:p>
        </p:txBody>
      </p:sp>
      <p:pic>
        <p:nvPicPr>
          <p:cNvPr id="24" name="Picture 23" descr="slide14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738" y="2120900"/>
            <a:ext cx="79375" cy="88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03600" y="2355850"/>
            <a:ext cx="1159812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Detalii tehnice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3600" y="26860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511550" y="2794000"/>
            <a:ext cx="142488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40049" y="2800350"/>
            <a:ext cx="1367882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[ARHITECTURA COMPLETĂ]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3600" y="31432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511550" y="3251200"/>
            <a:ext cx="105916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43707" y="3257550"/>
            <a:ext cx="994847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[CE E HARDCODAT]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3600" y="36004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511550" y="3708400"/>
            <a:ext cx="1302941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41269" y="3714750"/>
            <a:ext cx="1243503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[CE A GENERAT AI-UL]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3600" y="4089400"/>
            <a:ext cx="2451100" cy="412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403600" y="4089400"/>
            <a:ext cx="2451100" cy="6350"/>
          </a:xfrm>
          <a:prstGeom prst="rect">
            <a:avLst/>
          </a:prstGeom>
          <a:solidFill>
            <a:srgbClr val="FFD700">
              <a:alpha val="30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03600" y="4203700"/>
            <a:ext cx="673644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RĂSPUNDE 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3600" y="4337050"/>
            <a:ext cx="1293221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„De ce ați făcut așa?”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1936750"/>
            <a:ext cx="2781300" cy="2730500"/>
          </a:xfrm>
          <a:prstGeom prst="roundRect">
            <a:avLst>
              <a:gd name="adj" fmla="val 3255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37300" y="2114550"/>
            <a:ext cx="48751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ANEXA C</a:t>
            </a:r>
          </a:p>
        </p:txBody>
      </p:sp>
      <p:pic>
        <p:nvPicPr>
          <p:cNvPr id="41" name="Picture 40" descr="slide14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438" y="2120900"/>
            <a:ext cx="79375" cy="889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37300" y="2355850"/>
            <a:ext cx="145845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Dovezile complete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7300" y="26860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445250" y="2794000"/>
            <a:ext cx="179070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70091" y="2800350"/>
            <a:ext cx="1741018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[CELE 3 URME, CU LINK ȘI AN]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7300" y="31432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6445250" y="3251200"/>
            <a:ext cx="166876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71311" y="3257550"/>
            <a:ext cx="1616639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[TABELUL CU ALTERNATIVELE]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37300" y="4089400"/>
            <a:ext cx="2451100" cy="412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337300" y="4089400"/>
            <a:ext cx="2451100" cy="6350"/>
          </a:xfrm>
          <a:prstGeom prst="rect">
            <a:avLst/>
          </a:prstGeom>
          <a:solidFill>
            <a:srgbClr val="FFD700">
              <a:alpha val="30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337300" y="4203700"/>
            <a:ext cx="673644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RĂSPUNDE LA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7300" y="4337050"/>
            <a:ext cx="2094750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„De unde știți că problema există?”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05900" y="1936750"/>
            <a:ext cx="2781300" cy="2730500"/>
          </a:xfrm>
          <a:prstGeom prst="roundRect">
            <a:avLst>
              <a:gd name="adj" fmla="val 3255"/>
            </a:avLst>
          </a:prstGeom>
          <a:solidFill>
            <a:srgbClr val="0F1F29"/>
          </a:solidFill>
          <a:ln w="12700">
            <a:solidFill>
              <a:srgbClr val="FFFFFF">
                <a:alpha val="22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71000" y="2114550"/>
            <a:ext cx="487513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600" b="0" i="0" lang="ro-RO" spc="108">
                <a:solidFill>
                  <a:srgbClr val="7B8389"/>
                </a:solidFill>
                <a:latin typeface="Fira Code" pitchFamily="49"/>
              </a:rPr>
              <a:t>ANEXA D</a:t>
            </a:r>
          </a:p>
        </p:txBody>
      </p:sp>
      <p:pic>
        <p:nvPicPr>
          <p:cNvPr id="55" name="Picture 54" descr="slide14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138" y="2120900"/>
            <a:ext cx="79375" cy="889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271000" y="2355850"/>
            <a:ext cx="756797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Calculele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71000" y="26860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9378950" y="2794000"/>
            <a:ext cx="185162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403182" y="2800350"/>
            <a:ext cx="1803156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[CALCULUL PIEȚEI, PAS CU PAS]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71000" y="3143250"/>
            <a:ext cx="2451100" cy="381000"/>
          </a:xfrm>
          <a:prstGeom prst="roundRect">
            <a:avLst>
              <a:gd name="adj" fmla="val 133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8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9378950" y="3251200"/>
            <a:ext cx="1729680" cy="165100"/>
          </a:xfrm>
          <a:prstGeom prst="roundRect">
            <a:avLst>
              <a:gd name="adj" fmla="val 23076"/>
            </a:avLst>
          </a:prstGeom>
          <a:solidFill>
            <a:srgbClr val="FF5640">
              <a:alpha val="10000"/>
            </a:srgbClr>
          </a:solidFill>
          <a:ln w="6350">
            <a:solidFill>
              <a:srgbClr val="FF5640">
                <a:alpha val="55000"/>
              </a:srgbClr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404401" y="3257550"/>
            <a:ext cx="1678778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0" i="0" lang="ro-RO">
                <a:solidFill>
                  <a:srgbClr val="FF5640"/>
                </a:solidFill>
                <a:latin typeface="Fira Code" pitchFamily="49"/>
              </a:rPr>
              <a:t>[IPOTEZELE DE PREȚ ȘI COST]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71000" y="4089400"/>
            <a:ext cx="2451100" cy="4127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271000" y="4089400"/>
            <a:ext cx="2451100" cy="6350"/>
          </a:xfrm>
          <a:prstGeom prst="rect">
            <a:avLst/>
          </a:prstGeom>
          <a:solidFill>
            <a:srgbClr val="FFD700">
              <a:alpha val="30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271000" y="4203700"/>
            <a:ext cx="673644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FFD700"/>
                </a:solidFill>
                <a:latin typeface="Fira Code" pitchFamily="49"/>
              </a:rPr>
              <a:t>RĂSPUNDE LA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71000" y="4337050"/>
            <a:ext cx="172516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„Cum ați ajuns la cifra asta?”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4800" y="4819650"/>
            <a:ext cx="11582400" cy="4445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04800" y="4819650"/>
            <a:ext cx="25400" cy="4445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9" name="Picture 68" descr="slide14_ca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75225"/>
            <a:ext cx="127000" cy="127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60400" y="4965700"/>
            <a:ext cx="3120128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0" i="0" lang="ro-RO">
                <a:solidFill>
                  <a:srgbClr val="FFFFFF"/>
                </a:solidFill>
                <a:latin typeface="IBM Plex Sans" pitchFamily="34"/>
              </a:rPr>
              <a:t>La un pitch de 3 minute, slide-ul 8 (piața) trece și el aici.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4800" y="5416550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95453" y="5524500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Anexele nu se prezintă. Se deschid la întrebare — și acolo câștigă puncte.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968375"/>
            <a:ext cx="240411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114425"/>
            <a:ext cx="5670768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Șapte întrebări, fiecare cu slide-ul 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520825"/>
            <a:ext cx="614161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Cele cinci din PROBA, plus două despre bani și echipă. Pentru fiecare știi dinainte unde e răspunsul.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1844675"/>
            <a:ext cx="11582400" cy="351155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04800" y="1844675"/>
            <a:ext cx="25400" cy="3511550"/>
          </a:xfrm>
          <a:prstGeom prst="rect">
            <a:avLst/>
          </a:prstGeom>
          <a:solidFill>
            <a:srgbClr val="8FA3B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30200" y="1851025"/>
            <a:ext cx="11550650" cy="254000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600" y="1933575"/>
            <a:ext cx="615886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969EA3"/>
                </a:solidFill>
                <a:latin typeface="Fira Code" pitchFamily="49"/>
              </a:rPr>
              <a:t>ÎNTREBAREA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462" y="1933575"/>
            <a:ext cx="904780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969EA3"/>
                </a:solidFill>
                <a:latin typeface="Fira Code" pitchFamily="49"/>
              </a:rPr>
              <a:t>RĂSPUNSUL PROST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325" y="1933575"/>
            <a:ext cx="789265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600" b="0" i="0" lang="ro-RO" spc="60">
                <a:solidFill>
                  <a:srgbClr val="969EA3"/>
                </a:solidFill>
                <a:latin typeface="Fira Code" pitchFamily="49"/>
              </a:rPr>
              <a:t>RĂSPUNSUL BUN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43592" y="1933575"/>
            <a:ext cx="384858" cy="8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0"/>
              </a:lnSpc>
            </a:pPr>
            <a:r>
              <a:rPr sz="600" b="0" i="0" lang="ro-RO" spc="60">
                <a:solidFill>
                  <a:srgbClr val="969EA3"/>
                </a:solidFill>
                <a:latin typeface="Fira Code" pitchFamily="49"/>
              </a:rPr>
              <a:t>UNDE 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200" y="210502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0200" y="210502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2600" y="2238375"/>
            <a:ext cx="1660017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„Cine e utilizatorul?”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12" y="2257425"/>
            <a:ext cx="51098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Oricine.</a:t>
            </a:r>
          </a:p>
        </p:txBody>
      </p:sp>
      <p:pic>
        <p:nvPicPr>
          <p:cNvPr id="16" name="Picture 15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2298700"/>
            <a:ext cx="79375" cy="82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18250" y="2257425"/>
            <a:ext cx="19772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Grupul concret de pe slide-ul 2.</a:t>
            </a:r>
          </a:p>
        </p:txBody>
      </p:sp>
      <p:pic>
        <p:nvPicPr>
          <p:cNvPr id="18" name="Picture 17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2298700"/>
            <a:ext cx="111125" cy="825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298039" y="2249785"/>
            <a:ext cx="43041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371459" y="2275185"/>
            <a:ext cx="283571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Slide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0200" y="256857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30200" y="256857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2600" y="2701925"/>
            <a:ext cx="1519321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„Există deja asta?”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12" y="2720975"/>
            <a:ext cx="25037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Nu.</a:t>
            </a:r>
          </a:p>
        </p:txBody>
      </p:sp>
      <p:pic>
        <p:nvPicPr>
          <p:cNvPr id="25" name="Picture 24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2762250"/>
            <a:ext cx="79375" cy="82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18250" y="2720975"/>
            <a:ext cx="252262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„Da, X și Y. Noi diferim prin Z, pentru W.”</a:t>
            </a:r>
          </a:p>
        </p:txBody>
      </p:sp>
      <p:pic>
        <p:nvPicPr>
          <p:cNvPr id="27" name="Picture 26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2762250"/>
            <a:ext cx="111125" cy="8255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1298039" y="2713335"/>
            <a:ext cx="43041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371459" y="2738735"/>
            <a:ext cx="283571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Slide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0200" y="303212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0200" y="303212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2600" y="3165475"/>
            <a:ext cx="1578685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„Cât e făcut de AI?”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12" y="3184525"/>
            <a:ext cx="131797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Un răspuns defensiv.</a:t>
            </a:r>
          </a:p>
        </p:txBody>
      </p:sp>
      <p:pic>
        <p:nvPicPr>
          <p:cNvPr id="34" name="Picture 33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3225800"/>
            <a:ext cx="79375" cy="825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18250" y="3184525"/>
            <a:ext cx="324989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„Boilerplate-ul. Deciziile sunt ale noastre, uite care.”</a:t>
            </a:r>
          </a:p>
        </p:txBody>
      </p:sp>
      <p:pic>
        <p:nvPicPr>
          <p:cNvPr id="36" name="Picture 35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3225800"/>
            <a:ext cx="111125" cy="8255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1298039" y="3176885"/>
            <a:ext cx="43041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1371459" y="3202285"/>
            <a:ext cx="283571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Slide 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200" y="349567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30200" y="349567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82600" y="3629025"/>
            <a:ext cx="125196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„Ce nu merge?”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5512" y="3648075"/>
            <a:ext cx="91345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„Totul merge.”</a:t>
            </a:r>
          </a:p>
        </p:txBody>
      </p:sp>
      <p:pic>
        <p:nvPicPr>
          <p:cNvPr id="43" name="Picture 42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3689350"/>
            <a:ext cx="79375" cy="825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318250" y="3648075"/>
            <a:ext cx="257030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Două limite concrete, numite fără ezitare.</a:t>
            </a:r>
          </a:p>
        </p:txBody>
      </p:sp>
      <p:pic>
        <p:nvPicPr>
          <p:cNvPr id="45" name="Picture 44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3689350"/>
            <a:ext cx="111125" cy="8255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1241187" y="3640435"/>
            <a:ext cx="487263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1314038" y="3665835"/>
            <a:ext cx="341561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Anexa 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0200" y="395922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30200" y="395922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82600" y="4092575"/>
            <a:ext cx="1944624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„Ce faceți mai departe?”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65512" y="4111625"/>
            <a:ext cx="106937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O listă de funcții.</a:t>
            </a:r>
          </a:p>
        </p:txBody>
      </p:sp>
      <p:pic>
        <p:nvPicPr>
          <p:cNvPr id="52" name="Picture 51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4152900"/>
            <a:ext cx="79375" cy="825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318250" y="4111625"/>
            <a:ext cx="247890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Ce ați măsura primul, cu utilizatori reali.</a:t>
            </a:r>
          </a:p>
        </p:txBody>
      </p:sp>
      <p:pic>
        <p:nvPicPr>
          <p:cNvPr id="54" name="Picture 53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4152900"/>
            <a:ext cx="111125" cy="8255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1246148" y="4103985"/>
            <a:ext cx="482302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1319049" y="4129385"/>
            <a:ext cx="336500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Slide 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0200" y="442277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330200" y="442277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82600" y="4556125"/>
            <a:ext cx="1312295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„Cine plătește?”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65512" y="4575175"/>
            <a:ext cx="179106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„Vedem.” sau „Din reclame.”</a:t>
            </a:r>
          </a:p>
        </p:txBody>
      </p:sp>
      <p:pic>
        <p:nvPicPr>
          <p:cNvPr id="61" name="Picture 60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4616450"/>
            <a:ext cx="79375" cy="8255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318250" y="4575175"/>
            <a:ext cx="256613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Clientul numit, prețul ca ipoteză, motivul.</a:t>
            </a:r>
          </a:p>
        </p:txBody>
      </p:sp>
      <p:pic>
        <p:nvPicPr>
          <p:cNvPr id="63" name="Picture 62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4616450"/>
            <a:ext cx="111125" cy="8255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1298039" y="4567535"/>
            <a:ext cx="43041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1371459" y="4592935"/>
            <a:ext cx="283571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Slide 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0200" y="4886325"/>
            <a:ext cx="11550650" cy="463550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330200" y="4886325"/>
            <a:ext cx="11550650" cy="635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82600" y="5019675"/>
            <a:ext cx="987719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„De ce voi?”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65512" y="5038725"/>
            <a:ext cx="127082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E74C3C"/>
                </a:solidFill>
                <a:latin typeface="IBM Plex Sans" pitchFamily="34"/>
              </a:rPr>
              <a:t>„Suntem pasionați.”</a:t>
            </a:r>
          </a:p>
        </p:txBody>
      </p:sp>
      <p:pic>
        <p:nvPicPr>
          <p:cNvPr id="70" name="Picture 69" descr="slide15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12" y="5080000"/>
            <a:ext cx="79375" cy="825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318250" y="5038725"/>
            <a:ext cx="288267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2ECC71"/>
                </a:solidFill>
                <a:latin typeface="IBM Plex Sans" pitchFamily="34"/>
              </a:rPr>
              <a:t>Legătura echipei cu problema și cine continuă.</a:t>
            </a:r>
          </a:p>
        </p:txBody>
      </p:sp>
      <p:pic>
        <p:nvPicPr>
          <p:cNvPr id="72" name="Picture 71" descr="slide15_ca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5080000"/>
            <a:ext cx="111125" cy="8255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1298039" y="5031085"/>
            <a:ext cx="430411" cy="180280"/>
          </a:xfrm>
          <a:prstGeom prst="roundRect">
            <a:avLst>
              <a:gd name="adj" fmla="val 50000"/>
            </a:avLst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1371459" y="5056485"/>
            <a:ext cx="283571" cy="129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900"/>
              </a:lnSpc>
            </a:pPr>
            <a:r>
              <a:rPr sz="700" b="1" i="0" lang="ro-RO">
                <a:solidFill>
                  <a:srgbClr val="FFFFFF"/>
                </a:solidFill>
                <a:latin typeface="IBM Plex Sans" pitchFamily="34"/>
              </a:rPr>
              <a:t>Slide 9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04800" y="5508625"/>
            <a:ext cx="11582400" cy="393700"/>
          </a:xfrm>
          <a:prstGeom prst="roundRect">
            <a:avLst>
              <a:gd name="adj" fmla="val 12903"/>
            </a:avLst>
          </a:prstGeom>
          <a:solidFill>
            <a:srgbClr val="FF5640">
              <a:alpha val="8000"/>
            </a:srgbClr>
          </a:solidFill>
          <a:ln w="6350">
            <a:solidFill>
              <a:srgbClr val="FF5640">
                <a:alpha val="3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95453" y="5616575"/>
            <a:ext cx="11801094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Răspunsul „nu știu, dar uite cum aș afla” este un răspuns bun. „Totul merge” nu este niciodată.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331912"/>
            <a:ext cx="914424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 spc="70">
                <a:solidFill>
                  <a:srgbClr val="FF5640"/>
                </a:solidFill>
                <a:latin typeface="Fira Code" pitchFamily="49"/>
              </a:rPr>
              <a:t>ULTIMUL LUCRU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477962"/>
            <a:ext cx="5493425" cy="393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00"/>
              </a:lnSpc>
            </a:pPr>
            <a:r>
              <a:rPr sz="2400" b="1" i="0" lang="ro-RO">
                <a:solidFill>
                  <a:srgbClr val="FFFFFF"/>
                </a:solidFill>
                <a:latin typeface="IBM Plex Sans" pitchFamily="34"/>
              </a:rPr>
              <a:t>Lista de verificare, înainte de scenă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884362"/>
            <a:ext cx="470154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 bifezi în ultimele 4 ore. Un rând nebifat e singurul lucru la care mai lucrezi.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2208212"/>
            <a:ext cx="3759200" cy="23749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04800" y="2208212"/>
            <a:ext cx="25400" cy="23749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" name="Picture 6" descr="slide16_ca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20938"/>
            <a:ext cx="133350" cy="95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2150" y="2366962"/>
            <a:ext cx="705576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Conținut</a:t>
            </a:r>
          </a:p>
        </p:txBody>
      </p:sp>
      <p:pic>
        <p:nvPicPr>
          <p:cNvPr id="9" name="Picture 8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792412"/>
            <a:ext cx="88900" cy="63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2703512"/>
            <a:ext cx="300097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Problema încape într-o propoziție, cu om și cost.</a:t>
            </a:r>
          </a:p>
        </p:txBody>
      </p:sp>
      <p:pic>
        <p:nvPicPr>
          <p:cNvPr id="11" name="Picture 10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097212"/>
            <a:ext cx="88900" cy="63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700" y="3008312"/>
            <a:ext cx="242104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Trei urme și două alternative, cu nume.</a:t>
            </a:r>
          </a:p>
        </p:txBody>
      </p:sp>
      <p:pic>
        <p:nvPicPr>
          <p:cNvPr id="13" name="Picture 12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402012"/>
            <a:ext cx="88900" cy="63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700" y="3313112"/>
            <a:ext cx="228334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Orice cifră are sursa și anul lângă ea.</a:t>
            </a:r>
          </a:p>
        </p:txBody>
      </p:sp>
      <p:pic>
        <p:nvPicPr>
          <p:cNvPr id="15" name="Picture 14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3706812"/>
            <a:ext cx="88900" cy="63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700" y="3617912"/>
            <a:ext cx="238032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Ce e real și ce e simulat, spus deschis.</a:t>
            </a:r>
          </a:p>
        </p:txBody>
      </p:sp>
      <p:pic>
        <p:nvPicPr>
          <p:cNvPr id="17" name="Picture 16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011612"/>
            <a:ext cx="88900" cy="63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700" y="3922712"/>
            <a:ext cx="277369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Cine plătește: o propoziție, prețul ca ipoteză.</a:t>
            </a:r>
          </a:p>
        </p:txBody>
      </p:sp>
      <p:pic>
        <p:nvPicPr>
          <p:cNvPr id="19" name="Picture 18" descr="slide4_c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316412"/>
            <a:ext cx="88900" cy="63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700" y="4227512"/>
            <a:ext cx="278194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Ultima propoziție e o cerere, nu „mulțumim”.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6400" y="2208212"/>
            <a:ext cx="3759200" cy="23749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16400" y="2208212"/>
            <a:ext cx="25400" cy="2374900"/>
          </a:xfrm>
          <a:prstGeom prst="rect">
            <a:avLst/>
          </a:prstGeom>
          <a:solidFill>
            <a:srgbClr val="FF5640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3" name="Picture 22" descr="slide16_cap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375" y="2392362"/>
            <a:ext cx="1270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3750" y="2366962"/>
            <a:ext cx="744367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Repetiție</a:t>
            </a:r>
          </a:p>
        </p:txBody>
      </p:sp>
      <p:pic>
        <p:nvPicPr>
          <p:cNvPr id="25" name="Picture 24" descr="slide16_cap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2792412"/>
            <a:ext cx="88900" cy="63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59300" y="2703512"/>
            <a:ext cx="2975574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Demo repetat de 3 ori, a treia oară cronometrat.</a:t>
            </a:r>
          </a:p>
        </p:txBody>
      </p:sp>
      <p:pic>
        <p:nvPicPr>
          <p:cNvPr id="27" name="Picture 26" descr="slide16_cap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3097212"/>
            <a:ext cx="88900" cy="63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59300" y="3008312"/>
            <a:ext cx="2300383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Demo pornit de la zero, pe alt laptop.</a:t>
            </a:r>
          </a:p>
        </p:txBody>
      </p:sp>
      <p:pic>
        <p:nvPicPr>
          <p:cNvPr id="29" name="Picture 28" descr="slide16_cap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3402012"/>
            <a:ext cx="88900" cy="63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59300" y="3313112"/>
            <a:ext cx="247194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Înregistrarea de rezervă, gata de pornit.</a:t>
            </a:r>
          </a:p>
        </p:txBody>
      </p:sp>
      <p:pic>
        <p:nvPicPr>
          <p:cNvPr id="31" name="Picture 30" descr="slide16_cap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3706812"/>
            <a:ext cx="88900" cy="63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59300" y="3617912"/>
            <a:ext cx="263856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Pitch cronometrat, cu 10 secunde rezervă.</a:t>
            </a:r>
          </a:p>
        </p:txBody>
      </p:sp>
      <p:pic>
        <p:nvPicPr>
          <p:cNvPr id="33" name="Picture 32" descr="slide16_cap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4011612"/>
            <a:ext cx="88900" cy="63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59300" y="3922712"/>
            <a:ext cx="307115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Fiecare știe ce slide prezintă și ce întrebare preia.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8000" y="2208212"/>
            <a:ext cx="3759200" cy="23749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28000" y="2208212"/>
            <a:ext cx="25400" cy="23749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7" name="Picture 36" descr="slide16_cap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2420938"/>
            <a:ext cx="95250" cy="952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96300" y="2366962"/>
            <a:ext cx="624138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00"/>
              </a:lnSpc>
            </a:pPr>
            <a:r>
              <a:rPr sz="1200" b="1" i="0" lang="ro-RO">
                <a:solidFill>
                  <a:srgbClr val="FFFFFF"/>
                </a:solidFill>
                <a:latin typeface="IBM Plex Sans" pitchFamily="34"/>
              </a:rPr>
              <a:t>Nu face</a:t>
            </a:r>
          </a:p>
        </p:txBody>
      </p:sp>
      <p:pic>
        <p:nvPicPr>
          <p:cNvPr id="39" name="Picture 38" descr="slide16_cap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150" y="2792412"/>
            <a:ext cx="63500" cy="635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58200" y="2703512"/>
            <a:ext cx="249658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 începe cu echipa sau cu tehnologiile.</a:t>
            </a:r>
          </a:p>
        </p:txBody>
      </p:sp>
      <p:pic>
        <p:nvPicPr>
          <p:cNvPr id="41" name="Picture 40" descr="slide16_cap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150" y="3097212"/>
            <a:ext cx="63500" cy="63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58200" y="3008312"/>
            <a:ext cx="112252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 citi slide-urile.</a:t>
            </a:r>
          </a:p>
        </p:txBody>
      </p:sp>
      <p:pic>
        <p:nvPicPr>
          <p:cNvPr id="43" name="Picture 42" descr="slide16_cap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150" y="3402012"/>
            <a:ext cx="63500" cy="635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458200" y="3313112"/>
            <a:ext cx="1347121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 vorbi peste demo.</a:t>
            </a:r>
          </a:p>
        </p:txBody>
      </p:sp>
      <p:pic>
        <p:nvPicPr>
          <p:cNvPr id="45" name="Picture 44" descr="slide16_cap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150" y="3706812"/>
            <a:ext cx="63500" cy="635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58200" y="3617912"/>
            <a:ext cx="1871329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 adăuga nimic după ora 36.</a:t>
            </a:r>
          </a:p>
        </p:txBody>
      </p:sp>
      <p:pic>
        <p:nvPicPr>
          <p:cNvPr id="47" name="Picture 46" descr="slide16_cap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150" y="4011612"/>
            <a:ext cx="63500" cy="63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458200" y="3922712"/>
            <a:ext cx="1516856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i="0" lang="ro-RO">
                <a:solidFill>
                  <a:srgbClr val="FFFFFF"/>
                </a:solidFill>
                <a:latin typeface="IBM Plex Sans" pitchFamily="34"/>
              </a:rPr>
              <a:t>Nu spune „totul merge”.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4800" y="4735512"/>
            <a:ext cx="11582400" cy="473075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</a:ln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04800" y="4735512"/>
            <a:ext cx="25400" cy="4730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0400" y="4887912"/>
            <a:ext cx="5612475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1" i="0" lang="ro-RO">
                <a:solidFill>
                  <a:srgbClr val="FFFFFF"/>
                </a:solidFill>
                <a:latin typeface="IBM Plex Sans" pitchFamily="34"/>
              </a:rPr>
              <a:t>Fotografiază slide-ul ăsta acum. În ora 44, lista decide ce mai repari — nu entuziasmul.</a:t>
            </a:r>
          </a:p>
        </p:txBody>
      </p:sp>
      <p:pic>
        <p:nvPicPr>
          <p:cNvPr id="52" name="Picture 51" descr="slide16_cap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910138"/>
            <a:ext cx="127000" cy="1143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81012" y="5373688"/>
            <a:ext cx="1038404" cy="14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</a:pPr>
            <a:r>
              <a:rPr sz="900" b="1" i="0" lang="ro-RO">
                <a:solidFill>
                  <a:srgbClr val="FFFFFF"/>
                </a:solidFill>
                <a:latin typeface="IBM Plex Sans" pitchFamily="34"/>
              </a:rPr>
              <a:t>Andrei Margelatu</a:t>
            </a:r>
          </a:p>
        </p:txBody>
      </p:sp>
      <p:pic>
        <p:nvPicPr>
          <p:cNvPr id="54" name="Picture 53" descr="slide16_cap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5383212"/>
            <a:ext cx="101600" cy="11747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013851" y="5399088"/>
            <a:ext cx="2061317" cy="10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00"/>
              </a:lnSpc>
            </a:pPr>
            <a:r>
              <a:rPr sz="700" b="0" i="0" lang="ro-RO">
                <a:solidFill>
                  <a:srgbClr val="757F87"/>
                </a:solidFill>
                <a:latin typeface="Fira Code" pitchFamily="49"/>
              </a:rPr>
              <a:t>P · R · O · B · A — succes la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Pitch-ul tău, slide cu slide - template de pitch</dc:title>
  <dc:subject/>
  <dc:creator>Andrei Margelatu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ro-RO</dc:language>
</cp:coreProperties>
</file>